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848A775-260A-42E8-8967-245A8808F451}" type="datetimeFigureOut">
              <a:rPr lang="en-IN" smtClean="0"/>
              <a:t>13-10-2026</a:t>
            </a:fld>
            <a:endParaRPr lang="en-IN"/>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2C780B1-E974-450D-A6FF-127B6FBD06F0}" type="slidenum">
              <a:rPr lang="en-IN" smtClean="0"/>
              <a:t>‹#›</a:t>
            </a:fld>
            <a:endParaRPr lang="en-IN"/>
          </a:p>
        </p:txBody>
      </p:sp>
    </p:spTree>
    <p:extLst>
      <p:ext uri="{BB962C8B-B14F-4D97-AF65-F5344CB8AC3E}">
        <p14:creationId xmlns:p14="http://schemas.microsoft.com/office/powerpoint/2010/main" val="3329052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2345"/>
        </a:solidFill>
        <a:effectLst/>
      </p:bgPr>
    </p:bg>
    <p:spTree>
      <p:nvGrpSpPr>
        <p:cNvPr id="1" name=""/>
        <p:cNvGrpSpPr/>
        <p:nvPr/>
      </p:nvGrpSpPr>
      <p:grpSpPr>
        <a:xfrm>
          <a:off x="0" y="0"/>
          <a:ext cx="0" cy="0"/>
          <a:chOff x="0" y="0"/>
          <a:chExt cx="0" cy="0"/>
        </a:xfrm>
      </p:grpSpPr>
      <p:sp>
        <p:nvSpPr>
          <p:cNvPr id="2" name="Parallelogram 1"/>
          <p:cNvSpPr/>
          <p:nvPr/>
        </p:nvSpPr>
        <p:spPr>
          <a:xfrm>
            <a:off x="7818120" y="0"/>
            <a:ext cx="4370832" cy="6858000"/>
          </a:xfrm>
          <a:prstGeom prst="parallelogram">
            <a:avLst/>
          </a:prstGeom>
          <a:solidFill>
            <a:srgbClr val="0A3158"/>
          </a:solidFill>
          <a:ln>
            <a:solidFill>
              <a:srgbClr val="0A3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9738360" y="0"/>
            <a:ext cx="2450592" cy="6858000"/>
          </a:xfrm>
          <a:prstGeom prst="parallelogram">
            <a:avLst/>
          </a:prstGeom>
          <a:solidFill>
            <a:srgbClr val="0C416F"/>
          </a:solidFill>
          <a:ln>
            <a:solidFill>
              <a:srgbClr val="0C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965960"/>
            <a:ext cx="7223760" cy="1280160"/>
          </a:xfrm>
          <a:prstGeom prst="rect">
            <a:avLst/>
          </a:prstGeom>
          <a:noFill/>
        </p:spPr>
        <p:txBody>
          <a:bodyPr wrap="square" lIns="54864" tIns="54864" rIns="54864" bIns="54864" anchor="t">
            <a:spAutoFit/>
          </a:bodyPr>
          <a:lstStyle/>
          <a:p>
            <a:pPr algn="l">
              <a:spcAft>
                <a:spcPts val="400"/>
              </a:spcAft>
            </a:pPr>
            <a:r>
              <a:rPr sz="3100" b="1" i="0">
                <a:solidFill>
                  <a:srgbClr val="FFFFFF"/>
                </a:solidFill>
                <a:latin typeface="Aptos"/>
              </a:rPr>
              <a:t>MULTIMODAL DEEPFAKE</a:t>
            </a:r>
          </a:p>
          <a:p>
            <a:pPr algn="l">
              <a:spcAft>
                <a:spcPts val="400"/>
              </a:spcAft>
            </a:pPr>
            <a:r>
              <a:rPr sz="3100" b="1" i="0">
                <a:solidFill>
                  <a:srgbClr val="FFFFFF"/>
                </a:solidFill>
                <a:latin typeface="Aptos"/>
              </a:rPr>
              <a:t>AUTHENTICATION</a:t>
            </a:r>
          </a:p>
        </p:txBody>
      </p:sp>
      <p:sp>
        <p:nvSpPr>
          <p:cNvPr id="9" name="TextBox 8"/>
          <p:cNvSpPr txBox="1"/>
          <p:nvPr/>
        </p:nvSpPr>
        <p:spPr>
          <a:xfrm>
            <a:off x="685800" y="3401568"/>
            <a:ext cx="6720840" cy="594360"/>
          </a:xfrm>
          <a:prstGeom prst="rect">
            <a:avLst/>
          </a:prstGeom>
          <a:noFill/>
        </p:spPr>
        <p:txBody>
          <a:bodyPr wrap="square" lIns="54864" tIns="54864" rIns="54864" bIns="54864" anchor="t">
            <a:spAutoFit/>
          </a:bodyPr>
          <a:lstStyle/>
          <a:p>
            <a:pPr algn="l">
              <a:spcAft>
                <a:spcPts val="400"/>
              </a:spcAft>
            </a:pPr>
            <a:r>
              <a:rPr sz="1800" b="0" i="0">
                <a:solidFill>
                  <a:srgbClr val="B9E1F6"/>
                </a:solidFill>
                <a:latin typeface="Aptos"/>
              </a:rPr>
              <a:t>Detecting manipulated videos through visual features and temporal learning</a:t>
            </a:r>
          </a:p>
        </p:txBody>
      </p:sp>
      <p:sp>
        <p:nvSpPr>
          <p:cNvPr id="10" name="Rounded Rectangle 9"/>
          <p:cNvSpPr/>
          <p:nvPr/>
        </p:nvSpPr>
        <p:spPr>
          <a:xfrm>
            <a:off x="658368" y="4663440"/>
            <a:ext cx="6263640" cy="1115568"/>
          </a:xfrm>
          <a:prstGeom prst="roundRect">
            <a:avLst/>
          </a:prstGeom>
          <a:solidFill>
            <a:srgbClr val="0F3960"/>
          </a:solidFill>
          <a:ln>
            <a:solidFill>
              <a:srgbClr val="266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4846320"/>
            <a:ext cx="1051560" cy="201168"/>
          </a:xfrm>
          <a:prstGeom prst="rect">
            <a:avLst/>
          </a:prstGeom>
          <a:noFill/>
        </p:spPr>
        <p:txBody>
          <a:bodyPr wrap="square" lIns="0" tIns="0" rIns="0" bIns="0" anchor="t">
            <a:spAutoFit/>
          </a:bodyPr>
          <a:lstStyle/>
          <a:p>
            <a:pPr algn="l">
              <a:spcAft>
                <a:spcPts val="400"/>
              </a:spcAft>
            </a:pPr>
            <a:r>
              <a:rPr sz="1000" b="1" i="0">
                <a:solidFill>
                  <a:srgbClr val="00AEDC"/>
                </a:solidFill>
                <a:latin typeface="Aptos"/>
              </a:rPr>
              <a:t>NAME</a:t>
            </a:r>
          </a:p>
        </p:txBody>
      </p:sp>
      <p:sp>
        <p:nvSpPr>
          <p:cNvPr id="12" name="TextBox 11"/>
          <p:cNvSpPr txBox="1"/>
          <p:nvPr/>
        </p:nvSpPr>
        <p:spPr>
          <a:xfrm>
            <a:off x="896112" y="5093208"/>
            <a:ext cx="1645920" cy="365760"/>
          </a:xfrm>
          <a:prstGeom prst="rect">
            <a:avLst/>
          </a:prstGeom>
          <a:noFill/>
        </p:spPr>
        <p:txBody>
          <a:bodyPr wrap="square" lIns="0" tIns="0" rIns="0" bIns="0" anchor="t">
            <a:spAutoFit/>
          </a:bodyPr>
          <a:lstStyle/>
          <a:p>
            <a:pPr algn="l">
              <a:spcAft>
                <a:spcPts val="400"/>
              </a:spcAft>
            </a:pPr>
            <a:r>
              <a:rPr sz="2000" b="1" i="0">
                <a:solidFill>
                  <a:srgbClr val="FFFFFF"/>
                </a:solidFill>
                <a:latin typeface="Aptos"/>
              </a:rPr>
              <a:t>SHYAM.K</a:t>
            </a:r>
          </a:p>
        </p:txBody>
      </p:sp>
      <p:sp>
        <p:nvSpPr>
          <p:cNvPr id="13" name="TextBox 12"/>
          <p:cNvSpPr txBox="1"/>
          <p:nvPr/>
        </p:nvSpPr>
        <p:spPr>
          <a:xfrm>
            <a:off x="2788920" y="4846320"/>
            <a:ext cx="1051560" cy="201168"/>
          </a:xfrm>
          <a:prstGeom prst="rect">
            <a:avLst/>
          </a:prstGeom>
          <a:noFill/>
        </p:spPr>
        <p:txBody>
          <a:bodyPr wrap="square" lIns="0" tIns="0" rIns="0" bIns="0" anchor="t">
            <a:spAutoFit/>
          </a:bodyPr>
          <a:lstStyle/>
          <a:p>
            <a:pPr algn="l">
              <a:spcAft>
                <a:spcPts val="400"/>
              </a:spcAft>
            </a:pPr>
            <a:r>
              <a:rPr sz="1000" b="1" i="0">
                <a:solidFill>
                  <a:srgbClr val="00AEDC"/>
                </a:solidFill>
                <a:latin typeface="Aptos"/>
              </a:rPr>
              <a:t>ID</a:t>
            </a:r>
          </a:p>
        </p:txBody>
      </p:sp>
      <p:sp>
        <p:nvSpPr>
          <p:cNvPr id="14" name="TextBox 13"/>
          <p:cNvSpPr txBox="1"/>
          <p:nvPr/>
        </p:nvSpPr>
        <p:spPr>
          <a:xfrm>
            <a:off x="2788920" y="5093208"/>
            <a:ext cx="1645920" cy="365760"/>
          </a:xfrm>
          <a:prstGeom prst="rect">
            <a:avLst/>
          </a:prstGeom>
          <a:noFill/>
        </p:spPr>
        <p:txBody>
          <a:bodyPr wrap="square" lIns="0" tIns="0" rIns="0" bIns="0" anchor="t">
            <a:spAutoFit/>
          </a:bodyPr>
          <a:lstStyle/>
          <a:p>
            <a:pPr algn="l">
              <a:spcAft>
                <a:spcPts val="400"/>
              </a:spcAft>
            </a:pPr>
            <a:r>
              <a:rPr sz="2000" b="1" i="0">
                <a:solidFill>
                  <a:srgbClr val="FFFFFF"/>
                </a:solidFill>
                <a:latin typeface="Aptos"/>
              </a:rPr>
              <a:t>T9935</a:t>
            </a:r>
          </a:p>
        </p:txBody>
      </p:sp>
      <p:sp>
        <p:nvSpPr>
          <p:cNvPr id="15" name="TextBox 14"/>
          <p:cNvSpPr txBox="1"/>
          <p:nvPr/>
        </p:nvSpPr>
        <p:spPr>
          <a:xfrm>
            <a:off x="4343400" y="4846320"/>
            <a:ext cx="1051560" cy="201168"/>
          </a:xfrm>
          <a:prstGeom prst="rect">
            <a:avLst/>
          </a:prstGeom>
          <a:noFill/>
        </p:spPr>
        <p:txBody>
          <a:bodyPr wrap="square" lIns="0" tIns="0" rIns="0" bIns="0" anchor="t">
            <a:spAutoFit/>
          </a:bodyPr>
          <a:lstStyle/>
          <a:p>
            <a:pPr algn="l">
              <a:spcAft>
                <a:spcPts val="400"/>
              </a:spcAft>
            </a:pPr>
            <a:r>
              <a:rPr sz="1000" b="1" i="0">
                <a:solidFill>
                  <a:srgbClr val="00AEDC"/>
                </a:solidFill>
                <a:latin typeface="Aptos"/>
              </a:rPr>
              <a:t>REVIEW</a:t>
            </a:r>
          </a:p>
        </p:txBody>
      </p:sp>
      <p:sp>
        <p:nvSpPr>
          <p:cNvPr id="16" name="TextBox 15"/>
          <p:cNvSpPr txBox="1"/>
          <p:nvPr/>
        </p:nvSpPr>
        <p:spPr>
          <a:xfrm>
            <a:off x="4343400" y="5093208"/>
            <a:ext cx="1645920" cy="365760"/>
          </a:xfrm>
          <a:prstGeom prst="rect">
            <a:avLst/>
          </a:prstGeom>
          <a:noFill/>
        </p:spPr>
        <p:txBody>
          <a:bodyPr wrap="square" lIns="0" tIns="0" rIns="0" bIns="0" anchor="t">
            <a:spAutoFit/>
          </a:bodyPr>
          <a:lstStyle/>
          <a:p>
            <a:pPr algn="l">
              <a:spcAft>
                <a:spcPts val="400"/>
              </a:spcAft>
            </a:pPr>
            <a:r>
              <a:rPr sz="2000" b="1" i="0">
                <a:solidFill>
                  <a:srgbClr val="FFFFFF"/>
                </a:solidFill>
                <a:latin typeface="Aptos"/>
              </a:rPr>
              <a:t>3</a:t>
            </a:r>
          </a:p>
        </p:txBody>
      </p:sp>
      <p:sp>
        <p:nvSpPr>
          <p:cNvPr id="17" name="Oval 16"/>
          <p:cNvSpPr/>
          <p:nvPr/>
        </p:nvSpPr>
        <p:spPr>
          <a:xfrm>
            <a:off x="8549640" y="1417320"/>
            <a:ext cx="2103120" cy="2103120"/>
          </a:xfrm>
          <a:prstGeom prst="ellipse">
            <a:avLst/>
          </a:prstGeom>
          <a:solidFill>
            <a:srgbClr val="0D578B"/>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942832" y="1810512"/>
            <a:ext cx="1316736" cy="1316736"/>
          </a:xfrm>
          <a:prstGeom prst="ellipse">
            <a:avLst/>
          </a:prstGeom>
          <a:solidFill>
            <a:srgbClr val="12395D"/>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71432" y="2103120"/>
            <a:ext cx="868680" cy="640080"/>
          </a:xfrm>
          <a:prstGeom prst="rect">
            <a:avLst/>
          </a:prstGeom>
          <a:noFill/>
        </p:spPr>
        <p:txBody>
          <a:bodyPr wrap="square" lIns="0" tIns="0" rIns="0" bIns="0" anchor="ctr">
            <a:spAutoFit/>
          </a:bodyPr>
          <a:lstStyle/>
          <a:p>
            <a:pPr algn="ctr">
              <a:spcAft>
                <a:spcPts val="400"/>
              </a:spcAft>
            </a:pPr>
            <a:r>
              <a:rPr sz="2800" b="1" i="0">
                <a:solidFill>
                  <a:srgbClr val="FFFFFF"/>
                </a:solidFill>
                <a:latin typeface="Aptos"/>
              </a:rPr>
              <a:t>AI</a:t>
            </a:r>
          </a:p>
        </p:txBody>
      </p:sp>
      <p:sp>
        <p:nvSpPr>
          <p:cNvPr id="20" name="Oval 19"/>
          <p:cNvSpPr/>
          <p:nvPr/>
        </p:nvSpPr>
        <p:spPr>
          <a:xfrm>
            <a:off x="7863840" y="1143000"/>
            <a:ext cx="164592" cy="164592"/>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680192" y="1097280"/>
            <a:ext cx="164592" cy="164592"/>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909560" y="4023360"/>
            <a:ext cx="164592" cy="164592"/>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744200" y="4160520"/>
            <a:ext cx="164592" cy="164592"/>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281160" y="4681728"/>
            <a:ext cx="164592" cy="164592"/>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6199632"/>
            <a:ext cx="3200400" cy="256032"/>
          </a:xfrm>
          <a:prstGeom prst="rect">
            <a:avLst/>
          </a:prstGeom>
          <a:noFill/>
        </p:spPr>
        <p:txBody>
          <a:bodyPr wrap="square" lIns="0" tIns="0" rIns="0" bIns="0" anchor="t">
            <a:spAutoFit/>
          </a:bodyPr>
          <a:lstStyle/>
          <a:p>
            <a:pPr algn="l">
              <a:spcAft>
                <a:spcPts val="400"/>
              </a:spcAft>
            </a:pPr>
            <a:r>
              <a:rPr sz="1000" b="0" i="0">
                <a:solidFill>
                  <a:srgbClr val="9DC4DB"/>
                </a:solidFill>
                <a:latin typeface="Aptos"/>
              </a:rPr>
              <a:t>Review Presentation • 2026</a:t>
            </a:r>
          </a:p>
        </p:txBody>
      </p:sp>
      <p:pic>
        <p:nvPicPr>
          <p:cNvPr id="27" name="Picture 26" descr="LTIMindtree Introduces New Brand Identity and Positioning ...">
            <a:extLst>
              <a:ext uri="{FF2B5EF4-FFF2-40B4-BE49-F238E27FC236}">
                <a16:creationId xmlns:a16="http://schemas.microsoft.com/office/drawing/2014/main" id="{479ABFC4-8CE5-9AF0-8FDA-0DAE008E42F4}"/>
              </a:ext>
            </a:extLst>
          </p:cNvPr>
          <p:cNvPicPr>
            <a:picLocks noChangeAspect="1"/>
          </p:cNvPicPr>
          <p:nvPr/>
        </p:nvPicPr>
        <p:blipFill>
          <a:blip r:embed="rId2"/>
          <a:stretch>
            <a:fillRect/>
          </a:stretch>
        </p:blipFill>
        <p:spPr>
          <a:xfrm>
            <a:off x="499872" y="148378"/>
            <a:ext cx="2438400" cy="1409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082345"/>
          </a:solidFill>
          <a:ln>
            <a:solidFill>
              <a:srgbClr val="0823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iamond 2"/>
          <p:cNvSpPr/>
          <p:nvPr/>
        </p:nvSpPr>
        <p:spPr>
          <a:xfrm>
            <a:off x="274320" y="118872"/>
            <a:ext cx="310896" cy="310896"/>
          </a:xfrm>
          <a:prstGeom prst="diamond">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iamond 3"/>
          <p:cNvSpPr/>
          <p:nvPr/>
        </p:nvSpPr>
        <p:spPr>
          <a:xfrm>
            <a:off x="365760" y="182880"/>
            <a:ext cx="164592" cy="164592"/>
          </a:xfrm>
          <a:prstGeom prst="diamond">
            <a:avLst/>
          </a:prstGeom>
          <a:solidFill>
            <a:srgbClr val="105EAA"/>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92840" y="182880"/>
            <a:ext cx="502920" cy="228600"/>
          </a:xfrm>
          <a:prstGeom prst="rect">
            <a:avLst/>
          </a:prstGeom>
          <a:noFill/>
        </p:spPr>
        <p:txBody>
          <a:bodyPr wrap="square" lIns="0" tIns="0" rIns="0" bIns="0" anchor="t">
            <a:spAutoFit/>
          </a:bodyPr>
          <a:lstStyle/>
          <a:p>
            <a:pPr algn="r">
              <a:spcAft>
                <a:spcPts val="400"/>
              </a:spcAft>
            </a:pPr>
            <a:r>
              <a:rPr sz="1000" b="1" i="0">
                <a:solidFill>
                  <a:srgbClr val="FFFFFF"/>
                </a:solidFill>
                <a:latin typeface="Aptos"/>
              </a:rPr>
              <a:t>2/5</a:t>
            </a:r>
          </a:p>
        </p:txBody>
      </p:sp>
      <p:sp>
        <p:nvSpPr>
          <p:cNvPr id="8" name="TextBox 7"/>
          <p:cNvSpPr txBox="1"/>
          <p:nvPr/>
        </p:nvSpPr>
        <p:spPr>
          <a:xfrm>
            <a:off x="502920" y="841248"/>
            <a:ext cx="5303520" cy="457200"/>
          </a:xfrm>
          <a:prstGeom prst="rect">
            <a:avLst/>
          </a:prstGeom>
          <a:noFill/>
        </p:spPr>
        <p:txBody>
          <a:bodyPr wrap="square" lIns="54864" tIns="54864" rIns="54864" bIns="54864" anchor="t">
            <a:spAutoFit/>
          </a:bodyPr>
          <a:lstStyle/>
          <a:p>
            <a:pPr algn="l">
              <a:spcAft>
                <a:spcPts val="400"/>
              </a:spcAft>
            </a:pPr>
            <a:r>
              <a:rPr sz="2800" b="1" i="0">
                <a:solidFill>
                  <a:srgbClr val="082345"/>
                </a:solidFill>
                <a:latin typeface="Aptos"/>
              </a:rPr>
              <a:t>Introduction</a:t>
            </a:r>
          </a:p>
        </p:txBody>
      </p:sp>
      <p:sp>
        <p:nvSpPr>
          <p:cNvPr id="9" name="TextBox 8"/>
          <p:cNvSpPr txBox="1"/>
          <p:nvPr/>
        </p:nvSpPr>
        <p:spPr>
          <a:xfrm>
            <a:off x="530352" y="1371600"/>
            <a:ext cx="5029200" cy="256032"/>
          </a:xfrm>
          <a:prstGeom prst="rect">
            <a:avLst/>
          </a:prstGeom>
          <a:noFill/>
        </p:spPr>
        <p:txBody>
          <a:bodyPr wrap="square" lIns="54864" tIns="54864" rIns="54864" bIns="54864" anchor="t">
            <a:spAutoFit/>
          </a:bodyPr>
          <a:lstStyle/>
          <a:p>
            <a:pPr algn="l">
              <a:spcAft>
                <a:spcPts val="400"/>
              </a:spcAft>
            </a:pPr>
            <a:r>
              <a:rPr sz="1400" b="1" i="0">
                <a:solidFill>
                  <a:srgbClr val="105EAA"/>
                </a:solidFill>
                <a:latin typeface="Aptos"/>
              </a:rPr>
              <a:t>Why this project matters</a:t>
            </a:r>
          </a:p>
        </p:txBody>
      </p:sp>
      <p:sp>
        <p:nvSpPr>
          <p:cNvPr id="10" name="Oval 9"/>
          <p:cNvSpPr/>
          <p:nvPr/>
        </p:nvSpPr>
        <p:spPr>
          <a:xfrm>
            <a:off x="594360" y="1865376"/>
            <a:ext cx="91440" cy="91440"/>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1755648"/>
            <a:ext cx="6611112" cy="998982"/>
          </a:xfrm>
          <a:prstGeom prst="rect">
            <a:avLst/>
          </a:prstGeom>
          <a:noFill/>
        </p:spPr>
        <p:txBody>
          <a:bodyPr wrap="square" lIns="54864" tIns="54864" rIns="54864" bIns="54864" anchor="t">
            <a:spAutoFit/>
          </a:bodyPr>
          <a:lstStyle/>
          <a:p>
            <a:pPr algn="l">
              <a:spcAft>
                <a:spcPts val="400"/>
              </a:spcAft>
            </a:pPr>
            <a:r>
              <a:rPr sz="1400" b="0" i="0">
                <a:solidFill>
                  <a:srgbClr val="1E3044"/>
                </a:solidFill>
                <a:latin typeface="Aptos"/>
              </a:rPr>
              <a:t>Generative AI can create convincing videos in which a person's face, expression, or movements appear authentic even when the content has been altered.</a:t>
            </a:r>
          </a:p>
        </p:txBody>
      </p:sp>
      <p:sp>
        <p:nvSpPr>
          <p:cNvPr id="12" name="Oval 11"/>
          <p:cNvSpPr/>
          <p:nvPr/>
        </p:nvSpPr>
        <p:spPr>
          <a:xfrm>
            <a:off x="594360" y="2882646"/>
            <a:ext cx="91440" cy="91440"/>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8" y="2772918"/>
            <a:ext cx="6611112" cy="998982"/>
          </a:xfrm>
          <a:prstGeom prst="rect">
            <a:avLst/>
          </a:prstGeom>
          <a:noFill/>
        </p:spPr>
        <p:txBody>
          <a:bodyPr wrap="square" lIns="54864" tIns="54864" rIns="54864" bIns="54864" anchor="t">
            <a:spAutoFit/>
          </a:bodyPr>
          <a:lstStyle/>
          <a:p>
            <a:pPr algn="l">
              <a:spcAft>
                <a:spcPts val="400"/>
              </a:spcAft>
            </a:pPr>
            <a:r>
              <a:rPr sz="1400" b="0" i="0">
                <a:solidFill>
                  <a:srgbClr val="1E3044"/>
                </a:solidFill>
                <a:latin typeface="Aptos"/>
              </a:rPr>
              <a:t>Such videos can enable impersonation, misinformation, reputational harm, and fraud. Visual inspection alone may not reveal subtle manipulation.</a:t>
            </a:r>
          </a:p>
        </p:txBody>
      </p:sp>
      <p:sp>
        <p:nvSpPr>
          <p:cNvPr id="14" name="Oval 13"/>
          <p:cNvSpPr/>
          <p:nvPr/>
        </p:nvSpPr>
        <p:spPr>
          <a:xfrm>
            <a:off x="594360" y="3899915"/>
            <a:ext cx="91440" cy="91440"/>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3790187"/>
            <a:ext cx="6611112" cy="998982"/>
          </a:xfrm>
          <a:prstGeom prst="rect">
            <a:avLst/>
          </a:prstGeom>
          <a:noFill/>
        </p:spPr>
        <p:txBody>
          <a:bodyPr wrap="square" lIns="54864" tIns="54864" rIns="54864" bIns="54864" anchor="t">
            <a:spAutoFit/>
          </a:bodyPr>
          <a:lstStyle/>
          <a:p>
            <a:pPr algn="l">
              <a:spcAft>
                <a:spcPts val="400"/>
              </a:spcAft>
            </a:pPr>
            <a:r>
              <a:rPr sz="1400" b="0" i="0">
                <a:solidFill>
                  <a:srgbClr val="1E3044"/>
                </a:solidFill>
                <a:latin typeface="Aptos"/>
              </a:rPr>
              <a:t>This project builds a deep-learning pipeline that samples frames, extracts face regions, converts them into visual embeddings, and learns how features change over time.</a:t>
            </a:r>
          </a:p>
        </p:txBody>
      </p:sp>
      <p:sp>
        <p:nvSpPr>
          <p:cNvPr id="16" name="Oval 15"/>
          <p:cNvSpPr/>
          <p:nvPr/>
        </p:nvSpPr>
        <p:spPr>
          <a:xfrm>
            <a:off x="594360" y="4917186"/>
            <a:ext cx="91440" cy="91440"/>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8" y="4807458"/>
            <a:ext cx="6611112" cy="998982"/>
          </a:xfrm>
          <a:prstGeom prst="rect">
            <a:avLst/>
          </a:prstGeom>
          <a:noFill/>
        </p:spPr>
        <p:txBody>
          <a:bodyPr wrap="square" lIns="54864" tIns="54864" rIns="54864" bIns="54864" anchor="t">
            <a:spAutoFit/>
          </a:bodyPr>
          <a:lstStyle/>
          <a:p>
            <a:pPr algn="l">
              <a:spcAft>
                <a:spcPts val="400"/>
              </a:spcAft>
            </a:pPr>
            <a:r>
              <a:rPr sz="1400" b="0" i="0">
                <a:solidFill>
                  <a:srgbClr val="1E3044"/>
                </a:solidFill>
                <a:latin typeface="Aptos"/>
              </a:rPr>
              <a:t>The current implementation focuses on video deepfakes and face-focused visual evidence. Whole-frame context and audio analysis are future extensions, not current capabilities.</a:t>
            </a:r>
          </a:p>
        </p:txBody>
      </p:sp>
      <p:sp>
        <p:nvSpPr>
          <p:cNvPr id="18" name="Rounded Rectangle 17"/>
          <p:cNvSpPr/>
          <p:nvPr/>
        </p:nvSpPr>
        <p:spPr>
          <a:xfrm>
            <a:off x="7818120" y="1325880"/>
            <a:ext cx="3794760" cy="4434840"/>
          </a:xfrm>
          <a:prstGeom prst="roundRect">
            <a:avLst/>
          </a:prstGeom>
          <a:solidFill>
            <a:srgbClr val="E8F6FD"/>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74152" y="1572768"/>
            <a:ext cx="3246120" cy="502920"/>
          </a:xfrm>
          <a:prstGeom prst="rect">
            <a:avLst/>
          </a:prstGeom>
          <a:noFill/>
        </p:spPr>
        <p:txBody>
          <a:bodyPr wrap="square" lIns="54864" tIns="54864" rIns="54864" bIns="54864" anchor="t">
            <a:spAutoFit/>
          </a:bodyPr>
          <a:lstStyle/>
          <a:p>
            <a:pPr algn="ctr">
              <a:spcAft>
                <a:spcPts val="400"/>
              </a:spcAft>
            </a:pPr>
            <a:r>
              <a:rPr sz="1700" b="1" i="0">
                <a:solidFill>
                  <a:srgbClr val="082345"/>
                </a:solidFill>
                <a:latin typeface="Aptos"/>
              </a:rPr>
              <a:t>From raw media to an informed decision</a:t>
            </a:r>
          </a:p>
        </p:txBody>
      </p:sp>
      <p:sp>
        <p:nvSpPr>
          <p:cNvPr id="20" name="Rounded Rectangle 19"/>
          <p:cNvSpPr/>
          <p:nvPr/>
        </p:nvSpPr>
        <p:spPr>
          <a:xfrm>
            <a:off x="8549640" y="2331720"/>
            <a:ext cx="2331720" cy="676656"/>
          </a:xfrm>
          <a:prstGeom prst="roundRect">
            <a:avLst/>
          </a:prstGeom>
          <a:solidFill>
            <a:srgbClr val="FFFFFF"/>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68512" y="2487168"/>
            <a:ext cx="2084831" cy="274320"/>
          </a:xfrm>
          <a:prstGeom prst="rect">
            <a:avLst/>
          </a:prstGeom>
          <a:noFill/>
        </p:spPr>
        <p:txBody>
          <a:bodyPr wrap="square" lIns="54864" tIns="54864" rIns="54864" bIns="54864" anchor="ctr">
            <a:spAutoFit/>
          </a:bodyPr>
          <a:lstStyle/>
          <a:p>
            <a:pPr algn="ctr">
              <a:spcAft>
                <a:spcPts val="400"/>
              </a:spcAft>
            </a:pPr>
            <a:r>
              <a:rPr sz="1500" b="1" i="0">
                <a:solidFill>
                  <a:srgbClr val="082345"/>
                </a:solidFill>
                <a:latin typeface="Aptos"/>
              </a:rPr>
              <a:t>Uploaded video</a:t>
            </a:r>
          </a:p>
        </p:txBody>
      </p:sp>
      <p:sp>
        <p:nvSpPr>
          <p:cNvPr id="22" name="Rounded Rectangle 21"/>
          <p:cNvSpPr/>
          <p:nvPr/>
        </p:nvSpPr>
        <p:spPr>
          <a:xfrm>
            <a:off x="8549640" y="3456432"/>
            <a:ext cx="2331720" cy="676656"/>
          </a:xfrm>
          <a:prstGeom prst="roundRect">
            <a:avLst/>
          </a:prstGeom>
          <a:solidFill>
            <a:srgbClr val="FFFFFF"/>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68512" y="3611879"/>
            <a:ext cx="2084831" cy="274320"/>
          </a:xfrm>
          <a:prstGeom prst="rect">
            <a:avLst/>
          </a:prstGeom>
          <a:noFill/>
        </p:spPr>
        <p:txBody>
          <a:bodyPr wrap="square" lIns="54864" tIns="54864" rIns="54864" bIns="54864" anchor="ctr">
            <a:spAutoFit/>
          </a:bodyPr>
          <a:lstStyle/>
          <a:p>
            <a:pPr algn="ctr">
              <a:spcAft>
                <a:spcPts val="400"/>
              </a:spcAft>
            </a:pPr>
            <a:r>
              <a:rPr sz="1500" b="1" i="0">
                <a:solidFill>
                  <a:srgbClr val="082345"/>
                </a:solidFill>
                <a:latin typeface="Aptos"/>
              </a:rPr>
              <a:t>Frames + face cues</a:t>
            </a:r>
          </a:p>
        </p:txBody>
      </p:sp>
      <p:sp>
        <p:nvSpPr>
          <p:cNvPr id="24" name="Rounded Rectangle 23"/>
          <p:cNvSpPr/>
          <p:nvPr/>
        </p:nvSpPr>
        <p:spPr>
          <a:xfrm>
            <a:off x="8549640" y="4572000"/>
            <a:ext cx="2331720" cy="676656"/>
          </a:xfrm>
          <a:prstGeom prst="roundRect">
            <a:avLst/>
          </a:prstGeom>
          <a:solidFill>
            <a:srgbClr val="D8F6EC"/>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68512" y="4727448"/>
            <a:ext cx="2084831" cy="274320"/>
          </a:xfrm>
          <a:prstGeom prst="rect">
            <a:avLst/>
          </a:prstGeom>
          <a:noFill/>
        </p:spPr>
        <p:txBody>
          <a:bodyPr wrap="square" lIns="54864" tIns="54864" rIns="54864" bIns="54864" anchor="ctr">
            <a:spAutoFit/>
          </a:bodyPr>
          <a:lstStyle/>
          <a:p>
            <a:pPr algn="ctr">
              <a:spcAft>
                <a:spcPts val="400"/>
              </a:spcAft>
            </a:pPr>
            <a:r>
              <a:rPr sz="1500" b="1" i="0">
                <a:solidFill>
                  <a:srgbClr val="008791"/>
                </a:solidFill>
                <a:latin typeface="Aptos"/>
              </a:rPr>
              <a:t>Real / Fake estimate</a:t>
            </a:r>
          </a:p>
        </p:txBody>
      </p:sp>
      <p:sp>
        <p:nvSpPr>
          <p:cNvPr id="26" name="TextBox 25"/>
          <p:cNvSpPr txBox="1"/>
          <p:nvPr/>
        </p:nvSpPr>
        <p:spPr>
          <a:xfrm>
            <a:off x="9528048" y="3017520"/>
            <a:ext cx="365760" cy="384048"/>
          </a:xfrm>
          <a:prstGeom prst="rect">
            <a:avLst/>
          </a:prstGeom>
          <a:noFill/>
        </p:spPr>
        <p:txBody>
          <a:bodyPr wrap="square" lIns="0" tIns="0" rIns="0" bIns="0" anchor="t">
            <a:spAutoFit/>
          </a:bodyPr>
          <a:lstStyle/>
          <a:p>
            <a:pPr algn="ctr">
              <a:spcAft>
                <a:spcPts val="400"/>
              </a:spcAft>
            </a:pPr>
            <a:r>
              <a:rPr sz="2400" b="1" i="0">
                <a:solidFill>
                  <a:srgbClr val="00AEDC"/>
                </a:solidFill>
                <a:latin typeface="Aptos"/>
              </a:rPr>
              <a:t>↓</a:t>
            </a:r>
          </a:p>
        </p:txBody>
      </p:sp>
      <p:sp>
        <p:nvSpPr>
          <p:cNvPr id="27" name="TextBox 26"/>
          <p:cNvSpPr txBox="1"/>
          <p:nvPr/>
        </p:nvSpPr>
        <p:spPr>
          <a:xfrm>
            <a:off x="9528048" y="4142232"/>
            <a:ext cx="365760" cy="384048"/>
          </a:xfrm>
          <a:prstGeom prst="rect">
            <a:avLst/>
          </a:prstGeom>
          <a:noFill/>
        </p:spPr>
        <p:txBody>
          <a:bodyPr wrap="square" lIns="0" tIns="0" rIns="0" bIns="0" anchor="t">
            <a:spAutoFit/>
          </a:bodyPr>
          <a:lstStyle/>
          <a:p>
            <a:pPr algn="ctr">
              <a:spcAft>
                <a:spcPts val="400"/>
              </a:spcAft>
            </a:pPr>
            <a:r>
              <a:rPr sz="2400" b="1" i="0">
                <a:solidFill>
                  <a:srgbClr val="00AEDC"/>
                </a:solidFill>
                <a:latin typeface="Aptos"/>
              </a:rPr>
              <a:t>↓</a:t>
            </a:r>
          </a:p>
        </p:txBody>
      </p:sp>
      <p:sp>
        <p:nvSpPr>
          <p:cNvPr id="28" name="TextBox 27"/>
          <p:cNvSpPr txBox="1"/>
          <p:nvPr/>
        </p:nvSpPr>
        <p:spPr>
          <a:xfrm>
            <a:off x="8092440" y="5413248"/>
            <a:ext cx="3246120" cy="384048"/>
          </a:xfrm>
          <a:prstGeom prst="rect">
            <a:avLst/>
          </a:prstGeom>
          <a:noFill/>
        </p:spPr>
        <p:txBody>
          <a:bodyPr wrap="square" lIns="54864" tIns="54864" rIns="54864" bIns="54864" anchor="t">
            <a:spAutoFit/>
          </a:bodyPr>
          <a:lstStyle/>
          <a:p>
            <a:pPr algn="ctr">
              <a:spcAft>
                <a:spcPts val="400"/>
              </a:spcAft>
            </a:pPr>
            <a:r>
              <a:rPr sz="1000" b="0" i="0">
                <a:solidFill>
                  <a:srgbClr val="536980"/>
                </a:solidFill>
                <a:latin typeface="Aptos"/>
              </a:rPr>
              <a:t>The output is a model prediction, not a guarantee of authenticity.</a:t>
            </a:r>
          </a:p>
        </p:txBody>
      </p:sp>
      <p:sp>
        <p:nvSpPr>
          <p:cNvPr id="29" name="Rectangle 28"/>
          <p:cNvSpPr/>
          <p:nvPr/>
        </p:nvSpPr>
        <p:spPr>
          <a:xfrm>
            <a:off x="320040" y="6583680"/>
            <a:ext cx="11539728" cy="22860"/>
          </a:xfrm>
          <a:prstGeom prst="rect">
            <a:avLst/>
          </a:prstGeom>
          <a:solidFill>
            <a:srgbClr val="CADCEB"/>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84048" y="6601968"/>
            <a:ext cx="5852160" cy="146304"/>
          </a:xfrm>
          <a:prstGeom prst="rect">
            <a:avLst/>
          </a:prstGeom>
          <a:noFill/>
        </p:spPr>
        <p:txBody>
          <a:bodyPr wrap="square" lIns="0" tIns="0" rIns="0" bIns="0" anchor="t">
            <a:spAutoFit/>
          </a:bodyPr>
          <a:lstStyle/>
          <a:p>
            <a:pPr algn="l">
              <a:spcAft>
                <a:spcPts val="400"/>
              </a:spcAft>
            </a:pPr>
            <a:r>
              <a:rPr sz="800" b="1" i="0">
                <a:solidFill>
                  <a:srgbClr val="536980"/>
                </a:solidFill>
                <a:latin typeface="Aptos"/>
              </a:rPr>
              <a:t>MULTIMODAL DEEPFAKE AUTHENTICATION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082345"/>
          </a:solidFill>
          <a:ln>
            <a:solidFill>
              <a:srgbClr val="0823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iamond 2"/>
          <p:cNvSpPr/>
          <p:nvPr/>
        </p:nvSpPr>
        <p:spPr>
          <a:xfrm>
            <a:off x="274320" y="118872"/>
            <a:ext cx="310896" cy="310896"/>
          </a:xfrm>
          <a:prstGeom prst="diamond">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iamond 3"/>
          <p:cNvSpPr/>
          <p:nvPr/>
        </p:nvSpPr>
        <p:spPr>
          <a:xfrm>
            <a:off x="365760" y="182880"/>
            <a:ext cx="164592" cy="164592"/>
          </a:xfrm>
          <a:prstGeom prst="diamond">
            <a:avLst/>
          </a:prstGeom>
          <a:solidFill>
            <a:srgbClr val="105EAA"/>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92840" y="182880"/>
            <a:ext cx="502920" cy="228600"/>
          </a:xfrm>
          <a:prstGeom prst="rect">
            <a:avLst/>
          </a:prstGeom>
          <a:noFill/>
        </p:spPr>
        <p:txBody>
          <a:bodyPr wrap="square" lIns="0" tIns="0" rIns="0" bIns="0" anchor="t">
            <a:spAutoFit/>
          </a:bodyPr>
          <a:lstStyle/>
          <a:p>
            <a:pPr algn="r">
              <a:spcAft>
                <a:spcPts val="400"/>
              </a:spcAft>
            </a:pPr>
            <a:r>
              <a:rPr sz="1000" b="1" i="0">
                <a:solidFill>
                  <a:srgbClr val="FFFFFF"/>
                </a:solidFill>
                <a:latin typeface="Aptos"/>
              </a:rPr>
              <a:t>3/5</a:t>
            </a:r>
          </a:p>
        </p:txBody>
      </p:sp>
      <p:sp>
        <p:nvSpPr>
          <p:cNvPr id="8" name="TextBox 7"/>
          <p:cNvSpPr txBox="1"/>
          <p:nvPr/>
        </p:nvSpPr>
        <p:spPr>
          <a:xfrm>
            <a:off x="502920" y="841248"/>
            <a:ext cx="10881360" cy="457200"/>
          </a:xfrm>
          <a:prstGeom prst="rect">
            <a:avLst/>
          </a:prstGeom>
          <a:noFill/>
        </p:spPr>
        <p:txBody>
          <a:bodyPr wrap="square" lIns="54864" tIns="54864" rIns="54864" bIns="54864" anchor="t">
            <a:spAutoFit/>
          </a:bodyPr>
          <a:lstStyle/>
          <a:p>
            <a:pPr algn="l">
              <a:spcAft>
                <a:spcPts val="400"/>
              </a:spcAft>
            </a:pPr>
            <a:r>
              <a:rPr sz="2600" b="1" i="0">
                <a:solidFill>
                  <a:srgbClr val="082345"/>
                </a:solidFill>
                <a:latin typeface="Aptos"/>
              </a:rPr>
              <a:t>Problem statement &amp; project distinction</a:t>
            </a:r>
          </a:p>
        </p:txBody>
      </p:sp>
      <p:sp>
        <p:nvSpPr>
          <p:cNvPr id="9" name="Rounded Rectangle 8"/>
          <p:cNvSpPr/>
          <p:nvPr/>
        </p:nvSpPr>
        <p:spPr>
          <a:xfrm>
            <a:off x="530352" y="1444752"/>
            <a:ext cx="11109960" cy="1188720"/>
          </a:xfrm>
          <a:prstGeom prst="roundRect">
            <a:avLst/>
          </a:prstGeom>
          <a:solidFill>
            <a:srgbClr val="E8F6FD"/>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1627632"/>
            <a:ext cx="2148840" cy="228600"/>
          </a:xfrm>
          <a:prstGeom prst="rect">
            <a:avLst/>
          </a:prstGeom>
          <a:noFill/>
        </p:spPr>
        <p:txBody>
          <a:bodyPr wrap="square" lIns="54864" tIns="54864" rIns="54864" bIns="54864" anchor="t">
            <a:spAutoFit/>
          </a:bodyPr>
          <a:lstStyle/>
          <a:p>
            <a:pPr algn="l">
              <a:spcAft>
                <a:spcPts val="400"/>
              </a:spcAft>
            </a:pPr>
            <a:r>
              <a:rPr sz="1100" b="1" i="0">
                <a:solidFill>
                  <a:srgbClr val="105EAA"/>
                </a:solidFill>
                <a:latin typeface="Aptos"/>
              </a:rPr>
              <a:t>PROBLEM STATEMENT</a:t>
            </a:r>
          </a:p>
        </p:txBody>
      </p:sp>
      <p:sp>
        <p:nvSpPr>
          <p:cNvPr id="11" name="TextBox 10"/>
          <p:cNvSpPr txBox="1"/>
          <p:nvPr/>
        </p:nvSpPr>
        <p:spPr>
          <a:xfrm>
            <a:off x="758952" y="1920240"/>
            <a:ext cx="10378440" cy="530352"/>
          </a:xfrm>
          <a:prstGeom prst="rect">
            <a:avLst/>
          </a:prstGeom>
          <a:noFill/>
        </p:spPr>
        <p:txBody>
          <a:bodyPr wrap="square" lIns="54864" tIns="54864" rIns="54864" bIns="54864" anchor="t">
            <a:spAutoFit/>
          </a:bodyPr>
          <a:lstStyle/>
          <a:p>
            <a:pPr algn="l">
              <a:spcAft>
                <a:spcPts val="400"/>
              </a:spcAft>
            </a:pPr>
            <a:r>
              <a:rPr sz="1800" b="1" i="0">
                <a:solidFill>
                  <a:srgbClr val="082345"/>
                </a:solidFill>
                <a:latin typeface="Aptos"/>
              </a:rPr>
              <a:t>How can a video be screened for manipulation when individual frames may look realistic, and the evidence may lie in subtle facial details or changes across time?</a:t>
            </a:r>
          </a:p>
        </p:txBody>
      </p:sp>
      <p:sp>
        <p:nvSpPr>
          <p:cNvPr id="12" name="Rounded Rectangle 11"/>
          <p:cNvSpPr/>
          <p:nvPr/>
        </p:nvSpPr>
        <p:spPr>
          <a:xfrm>
            <a:off x="530352" y="2907792"/>
            <a:ext cx="5376672" cy="3127248"/>
          </a:xfrm>
          <a:prstGeom prst="roundRect">
            <a:avLst/>
          </a:prstGeom>
          <a:solidFill>
            <a:srgbClr val="F5F9FC"/>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30352" y="2907792"/>
            <a:ext cx="73152" cy="3127248"/>
          </a:xfrm>
          <a:prstGeom prst="rect">
            <a:avLst/>
          </a:prstGeom>
          <a:solidFill>
            <a:srgbClr val="CC404E"/>
          </a:solidFill>
          <a:ln>
            <a:solidFill>
              <a:srgbClr val="CC4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3026664"/>
            <a:ext cx="5056632" cy="310896"/>
          </a:xfrm>
          <a:prstGeom prst="rect">
            <a:avLst/>
          </a:prstGeom>
          <a:noFill/>
        </p:spPr>
        <p:txBody>
          <a:bodyPr wrap="square" lIns="54864" tIns="54864" rIns="54864" bIns="54864" anchor="t">
            <a:spAutoFit/>
          </a:bodyPr>
          <a:lstStyle/>
          <a:p>
            <a:pPr algn="l">
              <a:spcAft>
                <a:spcPts val="400"/>
              </a:spcAft>
            </a:pPr>
            <a:r>
              <a:rPr sz="1500" b="1" i="0">
                <a:solidFill>
                  <a:srgbClr val="082345"/>
                </a:solidFill>
                <a:latin typeface="Aptos"/>
              </a:rPr>
              <a:t>Challenges in existing approaches</a:t>
            </a:r>
          </a:p>
        </p:txBody>
      </p:sp>
      <p:sp>
        <p:nvSpPr>
          <p:cNvPr id="15" name="TextBox 14"/>
          <p:cNvSpPr txBox="1"/>
          <p:nvPr/>
        </p:nvSpPr>
        <p:spPr>
          <a:xfrm>
            <a:off x="713232" y="3383280"/>
            <a:ext cx="5047488" cy="2578608"/>
          </a:xfrm>
          <a:prstGeom prst="rect">
            <a:avLst/>
          </a:prstGeom>
          <a:noFill/>
        </p:spPr>
        <p:txBody>
          <a:bodyPr wrap="square" lIns="54864" tIns="54864" rIns="54864" bIns="54864" anchor="t">
            <a:spAutoFit/>
          </a:bodyPr>
          <a:lstStyle/>
          <a:p>
            <a:pPr algn="l">
              <a:spcAft>
                <a:spcPts val="400"/>
              </a:spcAft>
            </a:pPr>
            <a:r>
              <a:rPr sz="1300" b="0" i="0">
                <a:solidFill>
                  <a:srgbClr val="1E3044"/>
                </a:solidFill>
                <a:latin typeface="Aptos"/>
              </a:rPr>
              <a:t>• Manual checking is slow and depends on the viewer's experience.</a:t>
            </a:r>
          </a:p>
          <a:p>
            <a:pPr algn="l">
              <a:spcAft>
                <a:spcPts val="400"/>
              </a:spcAft>
            </a:pPr>
            <a:endParaRPr sz="1300" b="0" i="0">
              <a:solidFill>
                <a:srgbClr val="1E3044"/>
              </a:solidFill>
              <a:latin typeface="Aptos"/>
            </a:endParaRPr>
          </a:p>
          <a:p>
            <a:pPr algn="l">
              <a:spcAft>
                <a:spcPts val="400"/>
              </a:spcAft>
            </a:pPr>
            <a:r>
              <a:rPr sz="1300" b="0" i="0">
                <a:solidFill>
                  <a:srgbClr val="1E3044"/>
                </a:solidFill>
                <a:latin typeface="Aptos"/>
              </a:rPr>
              <a:t>• A single-frame classifier can miss inconsistencies that appear only across several frames.</a:t>
            </a:r>
          </a:p>
          <a:p>
            <a:pPr algn="l">
              <a:spcAft>
                <a:spcPts val="400"/>
              </a:spcAft>
            </a:pPr>
            <a:endParaRPr sz="1300" b="0" i="0">
              <a:solidFill>
                <a:srgbClr val="1E3044"/>
              </a:solidFill>
              <a:latin typeface="Aptos"/>
            </a:endParaRPr>
          </a:p>
          <a:p>
            <a:pPr algn="l">
              <a:spcAft>
                <a:spcPts val="400"/>
              </a:spcAft>
            </a:pPr>
            <a:r>
              <a:rPr sz="1300" b="0" i="0">
                <a:solidFill>
                  <a:srgbClr val="1E3044"/>
                </a:solidFill>
                <a:latin typeface="Aptos"/>
              </a:rPr>
              <a:t>• Face-only evidence can overlook manipulated backgrounds or bodies; dataset-specific patterns can mislead a model.</a:t>
            </a:r>
          </a:p>
          <a:p>
            <a:pPr algn="l">
              <a:spcAft>
                <a:spcPts val="400"/>
              </a:spcAft>
            </a:pPr>
            <a:endParaRPr sz="1300" b="0" i="0">
              <a:solidFill>
                <a:srgbClr val="1E3044"/>
              </a:solidFill>
              <a:latin typeface="Aptos"/>
            </a:endParaRPr>
          </a:p>
          <a:p>
            <a:pPr algn="l">
              <a:spcAft>
                <a:spcPts val="400"/>
              </a:spcAft>
            </a:pPr>
            <a:r>
              <a:rPr sz="1300" b="0" i="0">
                <a:solidFill>
                  <a:srgbClr val="1E3044"/>
                </a:solidFill>
                <a:latin typeface="Aptos"/>
              </a:rPr>
              <a:t>• Real-world videos vary in quality, lighting, compression, and editing.</a:t>
            </a:r>
          </a:p>
        </p:txBody>
      </p:sp>
      <p:sp>
        <p:nvSpPr>
          <p:cNvPr id="16" name="Rounded Rectangle 15"/>
          <p:cNvSpPr/>
          <p:nvPr/>
        </p:nvSpPr>
        <p:spPr>
          <a:xfrm>
            <a:off x="6144768" y="2907792"/>
            <a:ext cx="5495544" cy="3127248"/>
          </a:xfrm>
          <a:prstGeom prst="roundRect">
            <a:avLst/>
          </a:prstGeom>
          <a:solidFill>
            <a:srgbClr val="F5F9FC"/>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44768" y="2907792"/>
            <a:ext cx="73152" cy="3127248"/>
          </a:xfrm>
          <a:prstGeom prst="rect">
            <a:avLst/>
          </a:prstGeom>
          <a:solidFill>
            <a:srgbClr val="008791"/>
          </a:solidFill>
          <a:ln>
            <a:solidFill>
              <a:srgbClr val="00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27648" y="3026664"/>
            <a:ext cx="5175504" cy="310896"/>
          </a:xfrm>
          <a:prstGeom prst="rect">
            <a:avLst/>
          </a:prstGeom>
          <a:noFill/>
        </p:spPr>
        <p:txBody>
          <a:bodyPr wrap="square" lIns="54864" tIns="54864" rIns="54864" bIns="54864" anchor="t">
            <a:spAutoFit/>
          </a:bodyPr>
          <a:lstStyle/>
          <a:p>
            <a:pPr algn="l">
              <a:spcAft>
                <a:spcPts val="400"/>
              </a:spcAft>
            </a:pPr>
            <a:r>
              <a:rPr sz="1500" b="1" i="0">
                <a:solidFill>
                  <a:srgbClr val="082345"/>
                </a:solidFill>
                <a:latin typeface="Aptos"/>
              </a:rPr>
              <a:t>How this project is designed differently</a:t>
            </a:r>
          </a:p>
        </p:txBody>
      </p:sp>
      <p:sp>
        <p:nvSpPr>
          <p:cNvPr id="19" name="TextBox 18"/>
          <p:cNvSpPr txBox="1"/>
          <p:nvPr/>
        </p:nvSpPr>
        <p:spPr>
          <a:xfrm>
            <a:off x="6327648" y="3383280"/>
            <a:ext cx="5166359" cy="2578608"/>
          </a:xfrm>
          <a:prstGeom prst="rect">
            <a:avLst/>
          </a:prstGeom>
          <a:noFill/>
        </p:spPr>
        <p:txBody>
          <a:bodyPr wrap="square" lIns="54864" tIns="54864" rIns="54864" bIns="54864" anchor="t">
            <a:spAutoFit/>
          </a:bodyPr>
          <a:lstStyle/>
          <a:p>
            <a:pPr algn="l">
              <a:spcAft>
                <a:spcPts val="400"/>
              </a:spcAft>
            </a:pPr>
            <a:r>
              <a:rPr sz="1300" b="0" i="0">
                <a:solidFill>
                  <a:srgbClr val="1E3044"/>
                </a:solidFill>
                <a:latin typeface="Aptos"/>
              </a:rPr>
              <a:t>• Processes a sequence of sampled frames instead of treating a video as one still image.</a:t>
            </a:r>
          </a:p>
          <a:p>
            <a:pPr algn="l">
              <a:spcAft>
                <a:spcPts val="400"/>
              </a:spcAft>
            </a:pPr>
            <a:endParaRPr sz="1300" b="0" i="0">
              <a:solidFill>
                <a:srgbClr val="1E3044"/>
              </a:solidFill>
              <a:latin typeface="Aptos"/>
            </a:endParaRPr>
          </a:p>
          <a:p>
            <a:pPr algn="l">
              <a:spcAft>
                <a:spcPts val="400"/>
              </a:spcAft>
            </a:pPr>
            <a:r>
              <a:rPr sz="1300" b="0" i="0">
                <a:solidFill>
                  <a:srgbClr val="1E3044"/>
                </a:solidFill>
                <a:latin typeface="Aptos"/>
              </a:rPr>
              <a:t>• Uses MTCNN for face detection and a pretrained ViT-L/14 visual encoder for feature extraction.</a:t>
            </a:r>
          </a:p>
          <a:p>
            <a:pPr algn="l">
              <a:spcAft>
                <a:spcPts val="400"/>
              </a:spcAft>
            </a:pPr>
            <a:endParaRPr sz="1300" b="0" i="0">
              <a:solidFill>
                <a:srgbClr val="1E3044"/>
              </a:solidFill>
              <a:latin typeface="Aptos"/>
            </a:endParaRPr>
          </a:p>
          <a:p>
            <a:pPr algn="l">
              <a:spcAft>
                <a:spcPts val="400"/>
              </a:spcAft>
            </a:pPr>
            <a:r>
              <a:rPr sz="1300" b="0" i="0">
                <a:solidFill>
                  <a:srgbClr val="1E3044"/>
                </a:solidFill>
                <a:latin typeface="Aptos"/>
              </a:rPr>
              <a:t>• Trains a Temporal Transformer to learn relationships among frame-level embeddings.</a:t>
            </a:r>
          </a:p>
          <a:p>
            <a:pPr algn="l">
              <a:spcAft>
                <a:spcPts val="400"/>
              </a:spcAft>
            </a:pPr>
            <a:endParaRPr sz="1300" b="0" i="0">
              <a:solidFill>
                <a:srgbClr val="1E3044"/>
              </a:solidFill>
              <a:latin typeface="Aptos"/>
            </a:endParaRPr>
          </a:p>
          <a:p>
            <a:pPr algn="l">
              <a:spcAft>
                <a:spcPts val="400"/>
              </a:spcAft>
            </a:pPr>
            <a:r>
              <a:rPr sz="1300" b="0" i="0">
                <a:solidFill>
                  <a:srgbClr val="1E3044"/>
                </a:solidFill>
                <a:latin typeface="Aptos"/>
              </a:rPr>
              <a:t>• Keeps stages modular so whole-frame features, audio cues, and stronger evaluation can be added later.</a:t>
            </a:r>
          </a:p>
        </p:txBody>
      </p:sp>
      <p:sp>
        <p:nvSpPr>
          <p:cNvPr id="20" name="TextBox 19"/>
          <p:cNvSpPr txBox="1"/>
          <p:nvPr/>
        </p:nvSpPr>
        <p:spPr>
          <a:xfrm>
            <a:off x="658368" y="6172200"/>
            <a:ext cx="10789920" cy="256032"/>
          </a:xfrm>
          <a:prstGeom prst="rect">
            <a:avLst/>
          </a:prstGeom>
          <a:noFill/>
        </p:spPr>
        <p:txBody>
          <a:bodyPr wrap="square" lIns="54864" tIns="54864" rIns="54864" bIns="54864" anchor="t">
            <a:spAutoFit/>
          </a:bodyPr>
          <a:lstStyle/>
          <a:p>
            <a:pPr algn="l">
              <a:spcAft>
                <a:spcPts val="400"/>
              </a:spcAft>
            </a:pPr>
            <a:r>
              <a:rPr sz="1000" b="0" i="1">
                <a:solidFill>
                  <a:srgbClr val="536980"/>
                </a:solidFill>
                <a:latin typeface="Aptos"/>
              </a:rPr>
              <a:t>The design is different by construction; any performance advantage must be demonstrated through controlled evaluation.</a:t>
            </a:r>
          </a:p>
        </p:txBody>
      </p:sp>
      <p:sp>
        <p:nvSpPr>
          <p:cNvPr id="21" name="Rectangle 20"/>
          <p:cNvSpPr/>
          <p:nvPr/>
        </p:nvSpPr>
        <p:spPr>
          <a:xfrm>
            <a:off x="320040" y="6583680"/>
            <a:ext cx="11539728" cy="22860"/>
          </a:xfrm>
          <a:prstGeom prst="rect">
            <a:avLst/>
          </a:prstGeom>
          <a:solidFill>
            <a:srgbClr val="CADCEB"/>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6601968"/>
            <a:ext cx="5852160" cy="146304"/>
          </a:xfrm>
          <a:prstGeom prst="rect">
            <a:avLst/>
          </a:prstGeom>
          <a:noFill/>
        </p:spPr>
        <p:txBody>
          <a:bodyPr wrap="square" lIns="0" tIns="0" rIns="0" bIns="0" anchor="t">
            <a:spAutoFit/>
          </a:bodyPr>
          <a:lstStyle/>
          <a:p>
            <a:pPr algn="l">
              <a:spcAft>
                <a:spcPts val="400"/>
              </a:spcAft>
            </a:pPr>
            <a:r>
              <a:rPr sz="800" b="1" i="0">
                <a:solidFill>
                  <a:srgbClr val="536980"/>
                </a:solidFill>
                <a:latin typeface="Aptos"/>
              </a:rPr>
              <a:t>MULTIMODAL DEEPFAKE AUTHENTICATION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082345"/>
          </a:solidFill>
          <a:ln>
            <a:solidFill>
              <a:srgbClr val="0823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iamond 2"/>
          <p:cNvSpPr/>
          <p:nvPr/>
        </p:nvSpPr>
        <p:spPr>
          <a:xfrm>
            <a:off x="274320" y="118872"/>
            <a:ext cx="310896" cy="310896"/>
          </a:xfrm>
          <a:prstGeom prst="diamond">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iamond 3"/>
          <p:cNvSpPr/>
          <p:nvPr/>
        </p:nvSpPr>
        <p:spPr>
          <a:xfrm>
            <a:off x="365760" y="182880"/>
            <a:ext cx="164592" cy="164592"/>
          </a:xfrm>
          <a:prstGeom prst="diamond">
            <a:avLst/>
          </a:prstGeom>
          <a:solidFill>
            <a:srgbClr val="105EAA"/>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92840" y="182880"/>
            <a:ext cx="502920" cy="228600"/>
          </a:xfrm>
          <a:prstGeom prst="rect">
            <a:avLst/>
          </a:prstGeom>
          <a:noFill/>
        </p:spPr>
        <p:txBody>
          <a:bodyPr wrap="square" lIns="0" tIns="0" rIns="0" bIns="0" anchor="t">
            <a:spAutoFit/>
          </a:bodyPr>
          <a:lstStyle/>
          <a:p>
            <a:pPr algn="r">
              <a:spcAft>
                <a:spcPts val="400"/>
              </a:spcAft>
            </a:pPr>
            <a:r>
              <a:rPr sz="1000" b="1" i="0">
                <a:solidFill>
                  <a:srgbClr val="FFFFFF"/>
                </a:solidFill>
                <a:latin typeface="Aptos"/>
              </a:rPr>
              <a:t>4/5</a:t>
            </a:r>
          </a:p>
        </p:txBody>
      </p:sp>
      <p:sp>
        <p:nvSpPr>
          <p:cNvPr id="8" name="TextBox 7"/>
          <p:cNvSpPr txBox="1"/>
          <p:nvPr/>
        </p:nvSpPr>
        <p:spPr>
          <a:xfrm>
            <a:off x="502920" y="841248"/>
            <a:ext cx="10881360" cy="438912"/>
          </a:xfrm>
          <a:prstGeom prst="rect">
            <a:avLst/>
          </a:prstGeom>
          <a:noFill/>
        </p:spPr>
        <p:txBody>
          <a:bodyPr wrap="square" lIns="54864" tIns="54864" rIns="54864" bIns="54864" anchor="t">
            <a:spAutoFit/>
          </a:bodyPr>
          <a:lstStyle/>
          <a:p>
            <a:pPr algn="l">
              <a:spcAft>
                <a:spcPts val="400"/>
              </a:spcAft>
            </a:pPr>
            <a:r>
              <a:rPr sz="2600" b="1" i="0">
                <a:solidFill>
                  <a:srgbClr val="082345"/>
                </a:solidFill>
                <a:latin typeface="Aptos"/>
              </a:rPr>
              <a:t>Methodology: end-to-end video pipeline</a:t>
            </a:r>
          </a:p>
        </p:txBody>
      </p:sp>
      <p:sp>
        <p:nvSpPr>
          <p:cNvPr id="9" name="TextBox 8"/>
          <p:cNvSpPr txBox="1"/>
          <p:nvPr/>
        </p:nvSpPr>
        <p:spPr>
          <a:xfrm>
            <a:off x="530352" y="1307592"/>
            <a:ext cx="10789920" cy="292608"/>
          </a:xfrm>
          <a:prstGeom prst="rect">
            <a:avLst/>
          </a:prstGeom>
          <a:noFill/>
        </p:spPr>
        <p:txBody>
          <a:bodyPr wrap="square" lIns="54864" tIns="54864" rIns="54864" bIns="54864" anchor="t">
            <a:spAutoFit/>
          </a:bodyPr>
          <a:lstStyle/>
          <a:p>
            <a:pPr algn="l">
              <a:spcAft>
                <a:spcPts val="400"/>
              </a:spcAft>
            </a:pPr>
            <a:r>
              <a:rPr sz="1300" b="0" i="0">
                <a:solidFill>
                  <a:srgbClr val="536980"/>
                </a:solidFill>
                <a:latin typeface="Aptos"/>
              </a:rPr>
              <a:t>A video is transformed into a sequence of learned features for a final real/fake estimate.</a:t>
            </a:r>
          </a:p>
        </p:txBody>
      </p:sp>
      <p:sp>
        <p:nvSpPr>
          <p:cNvPr id="10" name="Rounded Rectangle 9"/>
          <p:cNvSpPr/>
          <p:nvPr/>
        </p:nvSpPr>
        <p:spPr>
          <a:xfrm>
            <a:off x="438912" y="1901952"/>
            <a:ext cx="1920240" cy="2487168"/>
          </a:xfrm>
          <a:prstGeom prst="roundRect">
            <a:avLst/>
          </a:prstGeom>
          <a:solidFill>
            <a:srgbClr val="FFFFFF"/>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66928" y="2039112"/>
            <a:ext cx="365760" cy="365760"/>
          </a:xfrm>
          <a:prstGeom prst="ellipse">
            <a:avLst/>
          </a:prstGeom>
          <a:solidFill>
            <a:srgbClr val="105EAA"/>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2066544"/>
            <a:ext cx="365760" cy="274320"/>
          </a:xfrm>
          <a:prstGeom prst="rect">
            <a:avLst/>
          </a:prstGeom>
          <a:noFill/>
        </p:spPr>
        <p:txBody>
          <a:bodyPr wrap="square" lIns="0" tIns="0" rIns="0" bIns="0" anchor="ctr">
            <a:spAutoFit/>
          </a:bodyPr>
          <a:lstStyle/>
          <a:p>
            <a:pPr algn="ctr">
              <a:spcAft>
                <a:spcPts val="400"/>
              </a:spcAft>
            </a:pPr>
            <a:r>
              <a:rPr sz="1300" b="1" i="0">
                <a:solidFill>
                  <a:srgbClr val="FFFFFF"/>
                </a:solidFill>
                <a:latin typeface="Aptos"/>
              </a:rPr>
              <a:t>1</a:t>
            </a:r>
          </a:p>
        </p:txBody>
      </p:sp>
      <p:sp>
        <p:nvSpPr>
          <p:cNvPr id="13" name="TextBox 12"/>
          <p:cNvSpPr txBox="1"/>
          <p:nvPr/>
        </p:nvSpPr>
        <p:spPr>
          <a:xfrm>
            <a:off x="576072" y="2523744"/>
            <a:ext cx="1645920" cy="502920"/>
          </a:xfrm>
          <a:prstGeom prst="rect">
            <a:avLst/>
          </a:prstGeom>
          <a:noFill/>
        </p:spPr>
        <p:txBody>
          <a:bodyPr wrap="square" lIns="54864" tIns="54864" rIns="54864" bIns="54864" anchor="ctr">
            <a:spAutoFit/>
          </a:bodyPr>
          <a:lstStyle/>
          <a:p>
            <a:pPr algn="ctr">
              <a:spcAft>
                <a:spcPts val="400"/>
              </a:spcAft>
            </a:pPr>
            <a:r>
              <a:rPr sz="1400" b="1" i="0">
                <a:solidFill>
                  <a:srgbClr val="082345"/>
                </a:solidFill>
                <a:latin typeface="Aptos"/>
              </a:rPr>
              <a:t>Video &amp; frame</a:t>
            </a:r>
          </a:p>
          <a:p>
            <a:pPr algn="ctr">
              <a:spcAft>
                <a:spcPts val="400"/>
              </a:spcAft>
            </a:pPr>
            <a:r>
              <a:rPr sz="1400" b="1" i="0">
                <a:solidFill>
                  <a:srgbClr val="082345"/>
                </a:solidFill>
                <a:latin typeface="Aptos"/>
              </a:rPr>
              <a:t>sampling</a:t>
            </a:r>
          </a:p>
        </p:txBody>
      </p:sp>
      <p:sp>
        <p:nvSpPr>
          <p:cNvPr id="14" name="Rectangle 13"/>
          <p:cNvSpPr/>
          <p:nvPr/>
        </p:nvSpPr>
        <p:spPr>
          <a:xfrm>
            <a:off x="969264" y="3136392"/>
            <a:ext cx="859536" cy="493776"/>
          </a:xfrm>
          <a:prstGeom prst="rect">
            <a:avLst/>
          </a:prstGeom>
          <a:solidFill>
            <a:srgbClr val="082345"/>
          </a:solidFill>
          <a:ln>
            <a:solidFill>
              <a:srgbClr val="0823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33271" y="3209544"/>
            <a:ext cx="128016" cy="310896"/>
          </a:xfrm>
          <a:prstGeom prst="rect">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225295" y="3209544"/>
            <a:ext cx="128016" cy="310896"/>
          </a:xfrm>
          <a:prstGeom prst="rect">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417319" y="3209544"/>
            <a:ext cx="128016" cy="310896"/>
          </a:xfrm>
          <a:prstGeom prst="rect">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609343" y="3209544"/>
            <a:ext cx="128016" cy="310896"/>
          </a:xfrm>
          <a:prstGeom prst="rect">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685032"/>
            <a:ext cx="1463040" cy="201168"/>
          </a:xfrm>
          <a:prstGeom prst="rect">
            <a:avLst/>
          </a:prstGeom>
          <a:noFill/>
        </p:spPr>
        <p:txBody>
          <a:bodyPr wrap="square" lIns="54864" tIns="54864" rIns="54864" bIns="54864" anchor="t">
            <a:spAutoFit/>
          </a:bodyPr>
          <a:lstStyle/>
          <a:p>
            <a:pPr algn="ctr">
              <a:spcAft>
                <a:spcPts val="400"/>
              </a:spcAft>
            </a:pPr>
            <a:r>
              <a:rPr sz="1000" b="1" i="0">
                <a:solidFill>
                  <a:srgbClr val="536980"/>
                </a:solidFill>
                <a:latin typeface="Aptos"/>
              </a:rPr>
              <a:t>16 sampled frames</a:t>
            </a:r>
          </a:p>
        </p:txBody>
      </p:sp>
      <p:sp>
        <p:nvSpPr>
          <p:cNvPr id="20" name="TextBox 19"/>
          <p:cNvSpPr txBox="1"/>
          <p:nvPr/>
        </p:nvSpPr>
        <p:spPr>
          <a:xfrm>
            <a:off x="576072" y="3913632"/>
            <a:ext cx="1645920" cy="429768"/>
          </a:xfrm>
          <a:prstGeom prst="rect">
            <a:avLst/>
          </a:prstGeom>
          <a:noFill/>
        </p:spPr>
        <p:txBody>
          <a:bodyPr wrap="square" lIns="54864" tIns="54864" rIns="54864" bIns="54864" anchor="t">
            <a:spAutoFit/>
          </a:bodyPr>
          <a:lstStyle/>
          <a:p>
            <a:pPr algn="ctr">
              <a:spcAft>
                <a:spcPts val="400"/>
              </a:spcAft>
            </a:pPr>
            <a:r>
              <a:rPr sz="1019" b="0" i="0">
                <a:solidFill>
                  <a:srgbClr val="1E3044"/>
                </a:solidFill>
                <a:latin typeface="Aptos"/>
              </a:rPr>
              <a:t>Sample 16 evenly spaced frames so different moments are represented without processing every frame.</a:t>
            </a:r>
          </a:p>
        </p:txBody>
      </p:sp>
      <p:sp>
        <p:nvSpPr>
          <p:cNvPr id="21" name="TextBox 20"/>
          <p:cNvSpPr txBox="1"/>
          <p:nvPr/>
        </p:nvSpPr>
        <p:spPr>
          <a:xfrm>
            <a:off x="2359152" y="2980944"/>
            <a:ext cx="411480" cy="347472"/>
          </a:xfrm>
          <a:prstGeom prst="rect">
            <a:avLst/>
          </a:prstGeom>
          <a:noFill/>
        </p:spPr>
        <p:txBody>
          <a:bodyPr wrap="square" lIns="0" tIns="0" rIns="0" bIns="0" anchor="ctr">
            <a:spAutoFit/>
          </a:bodyPr>
          <a:lstStyle/>
          <a:p>
            <a:pPr algn="ctr">
              <a:spcAft>
                <a:spcPts val="400"/>
              </a:spcAft>
            </a:pPr>
            <a:r>
              <a:rPr sz="2400" b="1" i="0">
                <a:solidFill>
                  <a:srgbClr val="00AEDC"/>
                </a:solidFill>
                <a:latin typeface="Aptos"/>
              </a:rPr>
              <a:t>→</a:t>
            </a:r>
          </a:p>
        </p:txBody>
      </p:sp>
      <p:sp>
        <p:nvSpPr>
          <p:cNvPr id="22" name="Rounded Rectangle 21"/>
          <p:cNvSpPr/>
          <p:nvPr/>
        </p:nvSpPr>
        <p:spPr>
          <a:xfrm>
            <a:off x="2788920" y="1901952"/>
            <a:ext cx="1920240" cy="2487168"/>
          </a:xfrm>
          <a:prstGeom prst="roundRect">
            <a:avLst/>
          </a:prstGeom>
          <a:solidFill>
            <a:srgbClr val="FFFFFF"/>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916936" y="2039112"/>
            <a:ext cx="365760" cy="365760"/>
          </a:xfrm>
          <a:prstGeom prst="ellipse">
            <a:avLst/>
          </a:prstGeom>
          <a:solidFill>
            <a:srgbClr val="008791"/>
          </a:solidFill>
          <a:ln>
            <a:solidFill>
              <a:srgbClr val="00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16936" y="2066544"/>
            <a:ext cx="365760" cy="274320"/>
          </a:xfrm>
          <a:prstGeom prst="rect">
            <a:avLst/>
          </a:prstGeom>
          <a:noFill/>
        </p:spPr>
        <p:txBody>
          <a:bodyPr wrap="square" lIns="0" tIns="0" rIns="0" bIns="0" anchor="ctr">
            <a:spAutoFit/>
          </a:bodyPr>
          <a:lstStyle/>
          <a:p>
            <a:pPr algn="ctr">
              <a:spcAft>
                <a:spcPts val="400"/>
              </a:spcAft>
            </a:pPr>
            <a:r>
              <a:rPr sz="1300" b="1" i="0">
                <a:solidFill>
                  <a:srgbClr val="FFFFFF"/>
                </a:solidFill>
                <a:latin typeface="Aptos"/>
              </a:rPr>
              <a:t>2</a:t>
            </a:r>
          </a:p>
        </p:txBody>
      </p:sp>
      <p:sp>
        <p:nvSpPr>
          <p:cNvPr id="25" name="TextBox 24"/>
          <p:cNvSpPr txBox="1"/>
          <p:nvPr/>
        </p:nvSpPr>
        <p:spPr>
          <a:xfrm>
            <a:off x="2926079" y="2523744"/>
            <a:ext cx="1645920" cy="502920"/>
          </a:xfrm>
          <a:prstGeom prst="rect">
            <a:avLst/>
          </a:prstGeom>
          <a:noFill/>
        </p:spPr>
        <p:txBody>
          <a:bodyPr wrap="square" lIns="54864" tIns="54864" rIns="54864" bIns="54864" anchor="ctr">
            <a:spAutoFit/>
          </a:bodyPr>
          <a:lstStyle/>
          <a:p>
            <a:pPr algn="ctr">
              <a:spcAft>
                <a:spcPts val="400"/>
              </a:spcAft>
            </a:pPr>
            <a:r>
              <a:rPr sz="1400" b="1" i="0">
                <a:solidFill>
                  <a:srgbClr val="082345"/>
                </a:solidFill>
                <a:latin typeface="Aptos"/>
              </a:rPr>
              <a:t>Face extraction</a:t>
            </a:r>
          </a:p>
          <a:p>
            <a:pPr algn="ctr">
              <a:spcAft>
                <a:spcPts val="400"/>
              </a:spcAft>
            </a:pPr>
            <a:r>
              <a:rPr sz="1400" b="1" i="0">
                <a:solidFill>
                  <a:srgbClr val="082345"/>
                </a:solidFill>
                <a:latin typeface="Aptos"/>
              </a:rPr>
              <a:t>(MTCNN)</a:t>
            </a:r>
          </a:p>
        </p:txBody>
      </p:sp>
      <p:sp>
        <p:nvSpPr>
          <p:cNvPr id="26" name="Oval 25"/>
          <p:cNvSpPr/>
          <p:nvPr/>
        </p:nvSpPr>
        <p:spPr>
          <a:xfrm>
            <a:off x="3493008" y="3099816"/>
            <a:ext cx="502920" cy="585216"/>
          </a:xfrm>
          <a:prstGeom prst="ellipse">
            <a:avLst/>
          </a:prstGeom>
          <a:solidFill>
            <a:srgbClr val="FFDDBB"/>
          </a:solidFill>
          <a:ln>
            <a:solidFill>
              <a:srgbClr val="00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108960" y="3685032"/>
            <a:ext cx="1280160" cy="201168"/>
          </a:xfrm>
          <a:prstGeom prst="rect">
            <a:avLst/>
          </a:prstGeom>
          <a:noFill/>
        </p:spPr>
        <p:txBody>
          <a:bodyPr wrap="square" lIns="54864" tIns="54864" rIns="54864" bIns="54864" anchor="t">
            <a:spAutoFit/>
          </a:bodyPr>
          <a:lstStyle/>
          <a:p>
            <a:pPr algn="ctr">
              <a:spcAft>
                <a:spcPts val="400"/>
              </a:spcAft>
            </a:pPr>
            <a:r>
              <a:rPr sz="1000" b="1" i="0">
                <a:solidFill>
                  <a:srgbClr val="536980"/>
                </a:solidFill>
                <a:latin typeface="Aptos"/>
              </a:rPr>
              <a:t>face crops</a:t>
            </a:r>
          </a:p>
        </p:txBody>
      </p:sp>
      <p:sp>
        <p:nvSpPr>
          <p:cNvPr id="28" name="TextBox 27"/>
          <p:cNvSpPr txBox="1"/>
          <p:nvPr/>
        </p:nvSpPr>
        <p:spPr>
          <a:xfrm>
            <a:off x="2926079" y="3913632"/>
            <a:ext cx="1645920" cy="429768"/>
          </a:xfrm>
          <a:prstGeom prst="rect">
            <a:avLst/>
          </a:prstGeom>
          <a:noFill/>
        </p:spPr>
        <p:txBody>
          <a:bodyPr wrap="square" lIns="54864" tIns="54864" rIns="54864" bIns="54864" anchor="t">
            <a:spAutoFit/>
          </a:bodyPr>
          <a:lstStyle/>
          <a:p>
            <a:pPr algn="ctr">
              <a:spcAft>
                <a:spcPts val="400"/>
              </a:spcAft>
            </a:pPr>
            <a:r>
              <a:rPr sz="1019" b="0" i="0">
                <a:solidFill>
                  <a:srgbClr val="1E3044"/>
                </a:solidFill>
                <a:latin typeface="Aptos"/>
              </a:rPr>
              <a:t>Detect and crop faces in sampled frames to focus on facial visual evidence.</a:t>
            </a:r>
          </a:p>
        </p:txBody>
      </p:sp>
      <p:sp>
        <p:nvSpPr>
          <p:cNvPr id="29" name="TextBox 28"/>
          <p:cNvSpPr txBox="1"/>
          <p:nvPr/>
        </p:nvSpPr>
        <p:spPr>
          <a:xfrm>
            <a:off x="4709160" y="2980944"/>
            <a:ext cx="411480" cy="347472"/>
          </a:xfrm>
          <a:prstGeom prst="rect">
            <a:avLst/>
          </a:prstGeom>
          <a:noFill/>
        </p:spPr>
        <p:txBody>
          <a:bodyPr wrap="square" lIns="0" tIns="0" rIns="0" bIns="0" anchor="ctr">
            <a:spAutoFit/>
          </a:bodyPr>
          <a:lstStyle/>
          <a:p>
            <a:pPr algn="ctr">
              <a:spcAft>
                <a:spcPts val="400"/>
              </a:spcAft>
            </a:pPr>
            <a:r>
              <a:rPr sz="2400" b="1" i="0">
                <a:solidFill>
                  <a:srgbClr val="00AEDC"/>
                </a:solidFill>
                <a:latin typeface="Aptos"/>
              </a:rPr>
              <a:t>→</a:t>
            </a:r>
          </a:p>
        </p:txBody>
      </p:sp>
      <p:sp>
        <p:nvSpPr>
          <p:cNvPr id="30" name="Rounded Rectangle 29"/>
          <p:cNvSpPr/>
          <p:nvPr/>
        </p:nvSpPr>
        <p:spPr>
          <a:xfrm>
            <a:off x="5138928" y="1901952"/>
            <a:ext cx="1920240" cy="2487168"/>
          </a:xfrm>
          <a:prstGeom prst="roundRect">
            <a:avLst/>
          </a:prstGeom>
          <a:solidFill>
            <a:srgbClr val="FFFFFF"/>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266944" y="2039112"/>
            <a:ext cx="365760" cy="365760"/>
          </a:xfrm>
          <a:prstGeom prst="ellipse">
            <a:avLst/>
          </a:prstGeom>
          <a:solidFill>
            <a:srgbClr val="105EAA"/>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266944" y="2066544"/>
            <a:ext cx="365760" cy="274320"/>
          </a:xfrm>
          <a:prstGeom prst="rect">
            <a:avLst/>
          </a:prstGeom>
          <a:noFill/>
        </p:spPr>
        <p:txBody>
          <a:bodyPr wrap="square" lIns="0" tIns="0" rIns="0" bIns="0" anchor="ctr">
            <a:spAutoFit/>
          </a:bodyPr>
          <a:lstStyle/>
          <a:p>
            <a:pPr algn="ctr">
              <a:spcAft>
                <a:spcPts val="400"/>
              </a:spcAft>
            </a:pPr>
            <a:r>
              <a:rPr sz="1300" b="1" i="0">
                <a:solidFill>
                  <a:srgbClr val="FFFFFF"/>
                </a:solidFill>
                <a:latin typeface="Aptos"/>
              </a:rPr>
              <a:t>3</a:t>
            </a:r>
          </a:p>
        </p:txBody>
      </p:sp>
      <p:sp>
        <p:nvSpPr>
          <p:cNvPr id="33" name="TextBox 32"/>
          <p:cNvSpPr txBox="1"/>
          <p:nvPr/>
        </p:nvSpPr>
        <p:spPr>
          <a:xfrm>
            <a:off x="5276088" y="2523744"/>
            <a:ext cx="1645920" cy="502920"/>
          </a:xfrm>
          <a:prstGeom prst="rect">
            <a:avLst/>
          </a:prstGeom>
          <a:noFill/>
        </p:spPr>
        <p:txBody>
          <a:bodyPr wrap="square" lIns="54864" tIns="54864" rIns="54864" bIns="54864" anchor="ctr">
            <a:spAutoFit/>
          </a:bodyPr>
          <a:lstStyle/>
          <a:p>
            <a:pPr algn="ctr">
              <a:spcAft>
                <a:spcPts val="400"/>
              </a:spcAft>
            </a:pPr>
            <a:r>
              <a:rPr sz="1400" b="1" i="0">
                <a:solidFill>
                  <a:srgbClr val="082345"/>
                </a:solidFill>
                <a:latin typeface="Aptos"/>
              </a:rPr>
              <a:t>Visual embeddings</a:t>
            </a:r>
          </a:p>
          <a:p>
            <a:pPr algn="ctr">
              <a:spcAft>
                <a:spcPts val="400"/>
              </a:spcAft>
            </a:pPr>
            <a:r>
              <a:rPr sz="1400" b="1" i="0">
                <a:solidFill>
                  <a:srgbClr val="082345"/>
                </a:solidFill>
                <a:latin typeface="Aptos"/>
              </a:rPr>
              <a:t>(ViT-L/14)</a:t>
            </a:r>
          </a:p>
        </p:txBody>
      </p:sp>
      <p:sp>
        <p:nvSpPr>
          <p:cNvPr id="34" name="Rectangle 33"/>
          <p:cNvSpPr/>
          <p:nvPr/>
        </p:nvSpPr>
        <p:spPr>
          <a:xfrm>
            <a:off x="5468112" y="3200400"/>
            <a:ext cx="182880" cy="438912"/>
          </a:xfrm>
          <a:prstGeom prst="rect">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733288" y="3200400"/>
            <a:ext cx="182880" cy="438912"/>
          </a:xfrm>
          <a:prstGeom prst="rect">
            <a:avLst/>
          </a:prstGeom>
          <a:solidFill>
            <a:srgbClr val="105EAA"/>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998464" y="3200400"/>
            <a:ext cx="182880" cy="438912"/>
          </a:xfrm>
          <a:prstGeom prst="rect">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63640" y="3200400"/>
            <a:ext cx="182880" cy="438912"/>
          </a:xfrm>
          <a:prstGeom prst="rect">
            <a:avLst/>
          </a:prstGeom>
          <a:solidFill>
            <a:srgbClr val="105EAA"/>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528816" y="3200400"/>
            <a:ext cx="182880" cy="438912"/>
          </a:xfrm>
          <a:prstGeom prst="rect">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367528" y="3685032"/>
            <a:ext cx="1463040" cy="201168"/>
          </a:xfrm>
          <a:prstGeom prst="rect">
            <a:avLst/>
          </a:prstGeom>
          <a:noFill/>
        </p:spPr>
        <p:txBody>
          <a:bodyPr wrap="square" lIns="54864" tIns="54864" rIns="54864" bIns="54864" anchor="t">
            <a:spAutoFit/>
          </a:bodyPr>
          <a:lstStyle/>
          <a:p>
            <a:pPr algn="ctr">
              <a:spcAft>
                <a:spcPts val="400"/>
              </a:spcAft>
            </a:pPr>
            <a:r>
              <a:rPr sz="1000" b="1" i="0">
                <a:solidFill>
                  <a:srgbClr val="536980"/>
                </a:solidFill>
                <a:latin typeface="Aptos"/>
              </a:rPr>
              <a:t>768-D vectors</a:t>
            </a:r>
          </a:p>
        </p:txBody>
      </p:sp>
      <p:sp>
        <p:nvSpPr>
          <p:cNvPr id="40" name="TextBox 39"/>
          <p:cNvSpPr txBox="1"/>
          <p:nvPr/>
        </p:nvSpPr>
        <p:spPr>
          <a:xfrm>
            <a:off x="5276088" y="3913632"/>
            <a:ext cx="1645920" cy="429768"/>
          </a:xfrm>
          <a:prstGeom prst="rect">
            <a:avLst/>
          </a:prstGeom>
          <a:noFill/>
        </p:spPr>
        <p:txBody>
          <a:bodyPr wrap="square" lIns="54864" tIns="54864" rIns="54864" bIns="54864" anchor="t">
            <a:spAutoFit/>
          </a:bodyPr>
          <a:lstStyle/>
          <a:p>
            <a:pPr algn="ctr">
              <a:spcAft>
                <a:spcPts val="400"/>
              </a:spcAft>
            </a:pPr>
            <a:r>
              <a:rPr sz="1019" b="0" i="0">
                <a:solidFill>
                  <a:srgbClr val="1E3044"/>
                </a:solidFill>
                <a:latin typeface="Aptos"/>
              </a:rPr>
              <a:t>A pretrained, frozen vision encoder converts each crop into a 768-dimensional feature vector.</a:t>
            </a:r>
          </a:p>
        </p:txBody>
      </p:sp>
      <p:sp>
        <p:nvSpPr>
          <p:cNvPr id="41" name="TextBox 40"/>
          <p:cNvSpPr txBox="1"/>
          <p:nvPr/>
        </p:nvSpPr>
        <p:spPr>
          <a:xfrm>
            <a:off x="7059168" y="2980944"/>
            <a:ext cx="411480" cy="347472"/>
          </a:xfrm>
          <a:prstGeom prst="rect">
            <a:avLst/>
          </a:prstGeom>
          <a:noFill/>
        </p:spPr>
        <p:txBody>
          <a:bodyPr wrap="square" lIns="0" tIns="0" rIns="0" bIns="0" anchor="ctr">
            <a:spAutoFit/>
          </a:bodyPr>
          <a:lstStyle/>
          <a:p>
            <a:pPr algn="ctr">
              <a:spcAft>
                <a:spcPts val="400"/>
              </a:spcAft>
            </a:pPr>
            <a:r>
              <a:rPr sz="2400" b="1" i="0">
                <a:solidFill>
                  <a:srgbClr val="00AEDC"/>
                </a:solidFill>
                <a:latin typeface="Aptos"/>
              </a:rPr>
              <a:t>→</a:t>
            </a:r>
          </a:p>
        </p:txBody>
      </p:sp>
      <p:sp>
        <p:nvSpPr>
          <p:cNvPr id="42" name="Rounded Rectangle 41"/>
          <p:cNvSpPr/>
          <p:nvPr/>
        </p:nvSpPr>
        <p:spPr>
          <a:xfrm>
            <a:off x="7488936" y="1901952"/>
            <a:ext cx="1920240" cy="2487168"/>
          </a:xfrm>
          <a:prstGeom prst="roundRect">
            <a:avLst/>
          </a:prstGeom>
          <a:solidFill>
            <a:srgbClr val="FFFFFF"/>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616952" y="2039112"/>
            <a:ext cx="365760" cy="365760"/>
          </a:xfrm>
          <a:prstGeom prst="ellipse">
            <a:avLst/>
          </a:prstGeom>
          <a:solidFill>
            <a:srgbClr val="654CBE"/>
          </a:solidFill>
          <a:ln>
            <a:solidFill>
              <a:srgbClr val="654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616952" y="2066544"/>
            <a:ext cx="365760" cy="274320"/>
          </a:xfrm>
          <a:prstGeom prst="rect">
            <a:avLst/>
          </a:prstGeom>
          <a:noFill/>
        </p:spPr>
        <p:txBody>
          <a:bodyPr wrap="square" lIns="0" tIns="0" rIns="0" bIns="0" anchor="ctr">
            <a:spAutoFit/>
          </a:bodyPr>
          <a:lstStyle/>
          <a:p>
            <a:pPr algn="ctr">
              <a:spcAft>
                <a:spcPts val="400"/>
              </a:spcAft>
            </a:pPr>
            <a:r>
              <a:rPr sz="1300" b="1" i="0">
                <a:solidFill>
                  <a:srgbClr val="FFFFFF"/>
                </a:solidFill>
                <a:latin typeface="Aptos"/>
              </a:rPr>
              <a:t>4</a:t>
            </a:r>
          </a:p>
        </p:txBody>
      </p:sp>
      <p:sp>
        <p:nvSpPr>
          <p:cNvPr id="45" name="TextBox 44"/>
          <p:cNvSpPr txBox="1"/>
          <p:nvPr/>
        </p:nvSpPr>
        <p:spPr>
          <a:xfrm>
            <a:off x="7626096" y="2523744"/>
            <a:ext cx="1645920" cy="502920"/>
          </a:xfrm>
          <a:prstGeom prst="rect">
            <a:avLst/>
          </a:prstGeom>
          <a:noFill/>
        </p:spPr>
        <p:txBody>
          <a:bodyPr wrap="square" lIns="54864" tIns="54864" rIns="54864" bIns="54864" anchor="ctr">
            <a:spAutoFit/>
          </a:bodyPr>
          <a:lstStyle/>
          <a:p>
            <a:pPr algn="ctr">
              <a:spcAft>
                <a:spcPts val="400"/>
              </a:spcAft>
            </a:pPr>
            <a:r>
              <a:rPr sz="1400" b="1" i="0">
                <a:solidFill>
                  <a:srgbClr val="082345"/>
                </a:solidFill>
                <a:latin typeface="Aptos"/>
              </a:rPr>
              <a:t>Temporal modeling</a:t>
            </a:r>
          </a:p>
          <a:p>
            <a:pPr algn="ctr">
              <a:spcAft>
                <a:spcPts val="400"/>
              </a:spcAft>
            </a:pPr>
            <a:r>
              <a:rPr sz="1400" b="1" i="0">
                <a:solidFill>
                  <a:srgbClr val="082345"/>
                </a:solidFill>
                <a:latin typeface="Aptos"/>
              </a:rPr>
              <a:t>(Transformer)</a:t>
            </a:r>
          </a:p>
        </p:txBody>
      </p:sp>
      <p:sp>
        <p:nvSpPr>
          <p:cNvPr id="46" name="Rounded Rectangle 45"/>
          <p:cNvSpPr/>
          <p:nvPr/>
        </p:nvSpPr>
        <p:spPr>
          <a:xfrm>
            <a:off x="7882127" y="3136392"/>
            <a:ext cx="210312" cy="109728"/>
          </a:xfrm>
          <a:prstGeom prst="roundRect">
            <a:avLst/>
          </a:prstGeom>
          <a:solidFill>
            <a:srgbClr val="C6B9F5"/>
          </a:solidFill>
          <a:ln>
            <a:solidFill>
              <a:srgbClr val="C6B9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8193023" y="3136392"/>
            <a:ext cx="210312" cy="109728"/>
          </a:xfrm>
          <a:prstGeom prst="roundRect">
            <a:avLst/>
          </a:prstGeom>
          <a:solidFill>
            <a:srgbClr val="C6B9F5"/>
          </a:solidFill>
          <a:ln>
            <a:solidFill>
              <a:srgbClr val="C6B9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503919" y="3136392"/>
            <a:ext cx="210312" cy="109728"/>
          </a:xfrm>
          <a:prstGeom prst="roundRect">
            <a:avLst/>
          </a:prstGeom>
          <a:solidFill>
            <a:srgbClr val="C6B9F5"/>
          </a:solidFill>
          <a:ln>
            <a:solidFill>
              <a:srgbClr val="C6B9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7882127" y="3319272"/>
            <a:ext cx="210312" cy="109728"/>
          </a:xfrm>
          <a:prstGeom prst="roundRect">
            <a:avLst/>
          </a:prstGeom>
          <a:solidFill>
            <a:srgbClr val="C6B9F5"/>
          </a:solidFill>
          <a:ln>
            <a:solidFill>
              <a:srgbClr val="C6B9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8193023" y="3319272"/>
            <a:ext cx="210312" cy="109728"/>
          </a:xfrm>
          <a:prstGeom prst="roundRect">
            <a:avLst/>
          </a:prstGeom>
          <a:solidFill>
            <a:srgbClr val="C6B9F5"/>
          </a:solidFill>
          <a:ln>
            <a:solidFill>
              <a:srgbClr val="C6B9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8503919" y="3319272"/>
            <a:ext cx="210312" cy="109728"/>
          </a:xfrm>
          <a:prstGeom prst="roundRect">
            <a:avLst/>
          </a:prstGeom>
          <a:solidFill>
            <a:srgbClr val="C6B9F5"/>
          </a:solidFill>
          <a:ln>
            <a:solidFill>
              <a:srgbClr val="C6B9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7882127" y="3502152"/>
            <a:ext cx="210312" cy="109728"/>
          </a:xfrm>
          <a:prstGeom prst="roundRect">
            <a:avLst/>
          </a:prstGeom>
          <a:solidFill>
            <a:srgbClr val="C6B9F5"/>
          </a:solidFill>
          <a:ln>
            <a:solidFill>
              <a:srgbClr val="C6B9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8193023" y="3502152"/>
            <a:ext cx="210312" cy="109728"/>
          </a:xfrm>
          <a:prstGeom prst="roundRect">
            <a:avLst/>
          </a:prstGeom>
          <a:solidFill>
            <a:srgbClr val="C6B9F5"/>
          </a:solidFill>
          <a:ln>
            <a:solidFill>
              <a:srgbClr val="C6B9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8503919" y="3502152"/>
            <a:ext cx="210312" cy="109728"/>
          </a:xfrm>
          <a:prstGeom prst="roundRect">
            <a:avLst/>
          </a:prstGeom>
          <a:solidFill>
            <a:srgbClr val="C6B9F5"/>
          </a:solidFill>
          <a:ln>
            <a:solidFill>
              <a:srgbClr val="C6B9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671815" y="3685032"/>
            <a:ext cx="1554480" cy="201168"/>
          </a:xfrm>
          <a:prstGeom prst="rect">
            <a:avLst/>
          </a:prstGeom>
          <a:noFill/>
        </p:spPr>
        <p:txBody>
          <a:bodyPr wrap="square" lIns="54864" tIns="54864" rIns="54864" bIns="54864" anchor="t">
            <a:spAutoFit/>
          </a:bodyPr>
          <a:lstStyle/>
          <a:p>
            <a:pPr algn="ctr">
              <a:spcAft>
                <a:spcPts val="400"/>
              </a:spcAft>
            </a:pPr>
            <a:r>
              <a:rPr sz="1000" b="1" i="0">
                <a:solidFill>
                  <a:srgbClr val="536980"/>
                </a:solidFill>
                <a:latin typeface="Aptos"/>
              </a:rPr>
              <a:t>sequence learning</a:t>
            </a:r>
          </a:p>
        </p:txBody>
      </p:sp>
      <p:sp>
        <p:nvSpPr>
          <p:cNvPr id="56" name="TextBox 55"/>
          <p:cNvSpPr txBox="1"/>
          <p:nvPr/>
        </p:nvSpPr>
        <p:spPr>
          <a:xfrm>
            <a:off x="7626096" y="3913632"/>
            <a:ext cx="1645920" cy="429768"/>
          </a:xfrm>
          <a:prstGeom prst="rect">
            <a:avLst/>
          </a:prstGeom>
          <a:noFill/>
        </p:spPr>
        <p:txBody>
          <a:bodyPr wrap="square" lIns="54864" tIns="54864" rIns="54864" bIns="54864" anchor="t">
            <a:spAutoFit/>
          </a:bodyPr>
          <a:lstStyle/>
          <a:p>
            <a:pPr algn="ctr">
              <a:spcAft>
                <a:spcPts val="400"/>
              </a:spcAft>
            </a:pPr>
            <a:r>
              <a:rPr sz="1019" b="0" i="0">
                <a:solidFill>
                  <a:srgbClr val="1E3044"/>
                </a:solidFill>
                <a:latin typeface="Aptos"/>
              </a:rPr>
              <a:t>Feed frame embeddings in time order to learn relationships and changes across frames.</a:t>
            </a:r>
          </a:p>
        </p:txBody>
      </p:sp>
      <p:sp>
        <p:nvSpPr>
          <p:cNvPr id="57" name="TextBox 56"/>
          <p:cNvSpPr txBox="1"/>
          <p:nvPr/>
        </p:nvSpPr>
        <p:spPr>
          <a:xfrm>
            <a:off x="9409176" y="2980944"/>
            <a:ext cx="411480" cy="347472"/>
          </a:xfrm>
          <a:prstGeom prst="rect">
            <a:avLst/>
          </a:prstGeom>
          <a:noFill/>
        </p:spPr>
        <p:txBody>
          <a:bodyPr wrap="square" lIns="0" tIns="0" rIns="0" bIns="0" anchor="ctr">
            <a:spAutoFit/>
          </a:bodyPr>
          <a:lstStyle/>
          <a:p>
            <a:pPr algn="ctr">
              <a:spcAft>
                <a:spcPts val="400"/>
              </a:spcAft>
            </a:pPr>
            <a:r>
              <a:rPr sz="2400" b="1" i="0">
                <a:solidFill>
                  <a:srgbClr val="00AEDC"/>
                </a:solidFill>
                <a:latin typeface="Aptos"/>
              </a:rPr>
              <a:t>→</a:t>
            </a:r>
          </a:p>
        </p:txBody>
      </p:sp>
      <p:sp>
        <p:nvSpPr>
          <p:cNvPr id="58" name="Rounded Rectangle 57"/>
          <p:cNvSpPr/>
          <p:nvPr/>
        </p:nvSpPr>
        <p:spPr>
          <a:xfrm>
            <a:off x="9838944" y="1901952"/>
            <a:ext cx="1920240" cy="2487168"/>
          </a:xfrm>
          <a:prstGeom prst="roundRect">
            <a:avLst/>
          </a:prstGeom>
          <a:solidFill>
            <a:srgbClr val="FFFFFF"/>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9966960" y="2039112"/>
            <a:ext cx="365760" cy="365760"/>
          </a:xfrm>
          <a:prstGeom prst="ellipse">
            <a:avLst/>
          </a:prstGeom>
          <a:solidFill>
            <a:srgbClr val="1B966E"/>
          </a:solidFill>
          <a:ln>
            <a:solidFill>
              <a:srgbClr val="1B9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2066544"/>
            <a:ext cx="365760" cy="274320"/>
          </a:xfrm>
          <a:prstGeom prst="rect">
            <a:avLst/>
          </a:prstGeom>
          <a:noFill/>
        </p:spPr>
        <p:txBody>
          <a:bodyPr wrap="square" lIns="0" tIns="0" rIns="0" bIns="0" anchor="ctr">
            <a:spAutoFit/>
          </a:bodyPr>
          <a:lstStyle/>
          <a:p>
            <a:pPr algn="ctr">
              <a:spcAft>
                <a:spcPts val="400"/>
              </a:spcAft>
            </a:pPr>
            <a:r>
              <a:rPr sz="1300" b="1" i="0">
                <a:solidFill>
                  <a:srgbClr val="FFFFFF"/>
                </a:solidFill>
                <a:latin typeface="Aptos"/>
              </a:rPr>
              <a:t>5</a:t>
            </a:r>
          </a:p>
        </p:txBody>
      </p:sp>
      <p:sp>
        <p:nvSpPr>
          <p:cNvPr id="61" name="TextBox 60"/>
          <p:cNvSpPr txBox="1"/>
          <p:nvPr/>
        </p:nvSpPr>
        <p:spPr>
          <a:xfrm>
            <a:off x="9976104" y="2523744"/>
            <a:ext cx="1645920" cy="502920"/>
          </a:xfrm>
          <a:prstGeom prst="rect">
            <a:avLst/>
          </a:prstGeom>
          <a:noFill/>
        </p:spPr>
        <p:txBody>
          <a:bodyPr wrap="square" lIns="54864" tIns="54864" rIns="54864" bIns="54864" anchor="ctr">
            <a:spAutoFit/>
          </a:bodyPr>
          <a:lstStyle/>
          <a:p>
            <a:pPr algn="ctr">
              <a:spcAft>
                <a:spcPts val="400"/>
              </a:spcAft>
            </a:pPr>
            <a:r>
              <a:rPr sz="1400" b="1" i="0">
                <a:solidFill>
                  <a:srgbClr val="082345"/>
                </a:solidFill>
                <a:latin typeface="Aptos"/>
              </a:rPr>
              <a:t>Classification</a:t>
            </a:r>
          </a:p>
          <a:p>
            <a:pPr algn="ctr">
              <a:spcAft>
                <a:spcPts val="400"/>
              </a:spcAft>
            </a:pPr>
            <a:r>
              <a:rPr sz="1400" b="1" i="0">
                <a:solidFill>
                  <a:srgbClr val="082345"/>
                </a:solidFill>
                <a:latin typeface="Aptos"/>
              </a:rPr>
              <a:t>(Real / Fake)</a:t>
            </a:r>
          </a:p>
        </p:txBody>
      </p:sp>
      <p:sp>
        <p:nvSpPr>
          <p:cNvPr id="62" name="Rounded Rectangle 61"/>
          <p:cNvSpPr/>
          <p:nvPr/>
        </p:nvSpPr>
        <p:spPr>
          <a:xfrm>
            <a:off x="10094976" y="3145536"/>
            <a:ext cx="612648" cy="365760"/>
          </a:xfrm>
          <a:prstGeom prst="roundRect">
            <a:avLst/>
          </a:prstGeom>
          <a:solidFill>
            <a:srgbClr val="D6F5E6"/>
          </a:solidFill>
          <a:ln>
            <a:solidFill>
              <a:srgbClr val="1B9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113264" y="3227832"/>
            <a:ext cx="566928" cy="164592"/>
          </a:xfrm>
          <a:prstGeom prst="rect">
            <a:avLst/>
          </a:prstGeom>
          <a:noFill/>
        </p:spPr>
        <p:txBody>
          <a:bodyPr wrap="square" lIns="0" tIns="0" rIns="0" bIns="0" anchor="t">
            <a:spAutoFit/>
          </a:bodyPr>
          <a:lstStyle/>
          <a:p>
            <a:pPr algn="ctr">
              <a:spcAft>
                <a:spcPts val="400"/>
              </a:spcAft>
            </a:pPr>
            <a:r>
              <a:rPr sz="1000" b="1" i="0">
                <a:solidFill>
                  <a:srgbClr val="1B966E"/>
                </a:solidFill>
                <a:latin typeface="Aptos"/>
              </a:rPr>
              <a:t>REAL</a:t>
            </a:r>
          </a:p>
        </p:txBody>
      </p:sp>
      <p:sp>
        <p:nvSpPr>
          <p:cNvPr id="64" name="Rounded Rectangle 63"/>
          <p:cNvSpPr/>
          <p:nvPr/>
        </p:nvSpPr>
        <p:spPr>
          <a:xfrm>
            <a:off x="10881360" y="3145536"/>
            <a:ext cx="612648" cy="365760"/>
          </a:xfrm>
          <a:prstGeom prst="roundRect">
            <a:avLst/>
          </a:prstGeom>
          <a:solidFill>
            <a:srgbClr val="FFE2E6"/>
          </a:solidFill>
          <a:ln>
            <a:solidFill>
              <a:srgbClr val="CC4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899648" y="3227832"/>
            <a:ext cx="566928" cy="164592"/>
          </a:xfrm>
          <a:prstGeom prst="rect">
            <a:avLst/>
          </a:prstGeom>
          <a:noFill/>
        </p:spPr>
        <p:txBody>
          <a:bodyPr wrap="square" lIns="0" tIns="0" rIns="0" bIns="0" anchor="t">
            <a:spAutoFit/>
          </a:bodyPr>
          <a:lstStyle/>
          <a:p>
            <a:pPr algn="ctr">
              <a:spcAft>
                <a:spcPts val="400"/>
              </a:spcAft>
            </a:pPr>
            <a:r>
              <a:rPr sz="1000" b="1" i="0">
                <a:solidFill>
                  <a:srgbClr val="CC404E"/>
                </a:solidFill>
                <a:latin typeface="Aptos"/>
              </a:rPr>
              <a:t>FAKE</a:t>
            </a:r>
          </a:p>
        </p:txBody>
      </p:sp>
      <p:sp>
        <p:nvSpPr>
          <p:cNvPr id="66" name="TextBox 65"/>
          <p:cNvSpPr txBox="1"/>
          <p:nvPr/>
        </p:nvSpPr>
        <p:spPr>
          <a:xfrm>
            <a:off x="10067544" y="3685032"/>
            <a:ext cx="1463040" cy="201168"/>
          </a:xfrm>
          <a:prstGeom prst="rect">
            <a:avLst/>
          </a:prstGeom>
          <a:noFill/>
        </p:spPr>
        <p:txBody>
          <a:bodyPr wrap="square" lIns="54864" tIns="54864" rIns="54864" bIns="54864" anchor="t">
            <a:spAutoFit/>
          </a:bodyPr>
          <a:lstStyle/>
          <a:p>
            <a:pPr algn="ctr">
              <a:spcAft>
                <a:spcPts val="400"/>
              </a:spcAft>
            </a:pPr>
            <a:r>
              <a:rPr sz="1000" b="1" i="0">
                <a:solidFill>
                  <a:srgbClr val="536980"/>
                </a:solidFill>
                <a:latin typeface="Aptos"/>
              </a:rPr>
              <a:t>class + score</a:t>
            </a:r>
          </a:p>
        </p:txBody>
      </p:sp>
      <p:sp>
        <p:nvSpPr>
          <p:cNvPr id="67" name="TextBox 66"/>
          <p:cNvSpPr txBox="1"/>
          <p:nvPr/>
        </p:nvSpPr>
        <p:spPr>
          <a:xfrm>
            <a:off x="9976104" y="3913632"/>
            <a:ext cx="1645920" cy="429768"/>
          </a:xfrm>
          <a:prstGeom prst="rect">
            <a:avLst/>
          </a:prstGeom>
          <a:noFill/>
        </p:spPr>
        <p:txBody>
          <a:bodyPr wrap="square" lIns="54864" tIns="54864" rIns="54864" bIns="54864" anchor="t">
            <a:spAutoFit/>
          </a:bodyPr>
          <a:lstStyle/>
          <a:p>
            <a:pPr algn="ctr">
              <a:spcAft>
                <a:spcPts val="400"/>
              </a:spcAft>
            </a:pPr>
            <a:r>
              <a:rPr sz="1019" b="0" i="0">
                <a:solidFill>
                  <a:srgbClr val="1E3044"/>
                </a:solidFill>
                <a:latin typeface="Aptos"/>
              </a:rPr>
              <a:t>A classification head outputs a predicted class and confidence score for the video.</a:t>
            </a:r>
          </a:p>
        </p:txBody>
      </p:sp>
      <p:sp>
        <p:nvSpPr>
          <p:cNvPr id="68" name="Rounded Rectangle 67"/>
          <p:cNvSpPr/>
          <p:nvPr/>
        </p:nvSpPr>
        <p:spPr>
          <a:xfrm>
            <a:off x="530352" y="4663440"/>
            <a:ext cx="11109960" cy="1463040"/>
          </a:xfrm>
          <a:prstGeom prst="roundRect">
            <a:avLst/>
          </a:prstGeom>
          <a:solidFill>
            <a:srgbClr val="E8F6FD"/>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49808" y="4818888"/>
            <a:ext cx="3840480" cy="219456"/>
          </a:xfrm>
          <a:prstGeom prst="rect">
            <a:avLst/>
          </a:prstGeom>
          <a:noFill/>
        </p:spPr>
        <p:txBody>
          <a:bodyPr wrap="square" lIns="54864" tIns="54864" rIns="54864" bIns="54864" anchor="t">
            <a:spAutoFit/>
          </a:bodyPr>
          <a:lstStyle/>
          <a:p>
            <a:pPr algn="l">
              <a:spcAft>
                <a:spcPts val="400"/>
              </a:spcAft>
            </a:pPr>
            <a:r>
              <a:rPr sz="1100" b="1" i="0">
                <a:solidFill>
                  <a:srgbClr val="105EAA"/>
                </a:solidFill>
                <a:latin typeface="Aptos"/>
              </a:rPr>
              <a:t>DATA PREPARATION, TRAINING &amp; VALIDATION</a:t>
            </a:r>
          </a:p>
        </p:txBody>
      </p:sp>
      <p:sp>
        <p:nvSpPr>
          <p:cNvPr id="70" name="TextBox 69"/>
          <p:cNvSpPr txBox="1"/>
          <p:nvPr/>
        </p:nvSpPr>
        <p:spPr>
          <a:xfrm>
            <a:off x="749808" y="5120640"/>
            <a:ext cx="10515600" cy="411480"/>
          </a:xfrm>
          <a:prstGeom prst="rect">
            <a:avLst/>
          </a:prstGeom>
          <a:noFill/>
        </p:spPr>
        <p:txBody>
          <a:bodyPr wrap="square" lIns="54864" tIns="54864" rIns="54864" bIns="54864" anchor="t">
            <a:spAutoFit/>
          </a:bodyPr>
          <a:lstStyle/>
          <a:p>
            <a:pPr algn="l">
              <a:spcAft>
                <a:spcPts val="400"/>
              </a:spcAft>
            </a:pPr>
            <a:r>
              <a:rPr sz="1200" b="0" i="0">
                <a:solidFill>
                  <a:srgbClr val="1E3044"/>
                </a:solidFill>
                <a:latin typeface="Aptos"/>
              </a:rPr>
              <a:t>Kaggle DFD videos → select 360 REAL + 360 FAKE → create a video-level stratified train/validation split → save frames, face crops, embeddings, and sequences as reusable artifacts.</a:t>
            </a:r>
          </a:p>
        </p:txBody>
      </p:sp>
      <p:sp>
        <p:nvSpPr>
          <p:cNvPr id="71" name="TextBox 70"/>
          <p:cNvSpPr txBox="1"/>
          <p:nvPr/>
        </p:nvSpPr>
        <p:spPr>
          <a:xfrm>
            <a:off x="749808" y="5614416"/>
            <a:ext cx="10515600" cy="256032"/>
          </a:xfrm>
          <a:prstGeom prst="rect">
            <a:avLst/>
          </a:prstGeom>
          <a:noFill/>
        </p:spPr>
        <p:txBody>
          <a:bodyPr wrap="square" lIns="54864" tIns="54864" rIns="54864" bIns="54864" anchor="t">
            <a:spAutoFit/>
          </a:bodyPr>
          <a:lstStyle/>
          <a:p>
            <a:pPr algn="l">
              <a:spcAft>
                <a:spcPts val="400"/>
              </a:spcAft>
            </a:pPr>
            <a:r>
              <a:rPr sz="1100" b="0" i="1">
                <a:solidFill>
                  <a:srgbClr val="536980"/>
                </a:solidFill>
                <a:latin typeface="Aptos"/>
              </a:rPr>
              <a:t>Evaluate on held-out videos and report final metrics only after the 720-video experiment completes.</a:t>
            </a:r>
          </a:p>
        </p:txBody>
      </p:sp>
      <p:sp>
        <p:nvSpPr>
          <p:cNvPr id="72" name="Rectangle 71"/>
          <p:cNvSpPr/>
          <p:nvPr/>
        </p:nvSpPr>
        <p:spPr>
          <a:xfrm>
            <a:off x="320040" y="6583680"/>
            <a:ext cx="11539728" cy="22860"/>
          </a:xfrm>
          <a:prstGeom prst="rect">
            <a:avLst/>
          </a:prstGeom>
          <a:solidFill>
            <a:srgbClr val="CADCEB"/>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84048" y="6601968"/>
            <a:ext cx="5852160" cy="146304"/>
          </a:xfrm>
          <a:prstGeom prst="rect">
            <a:avLst/>
          </a:prstGeom>
          <a:noFill/>
        </p:spPr>
        <p:txBody>
          <a:bodyPr wrap="square" lIns="0" tIns="0" rIns="0" bIns="0" anchor="t">
            <a:spAutoFit/>
          </a:bodyPr>
          <a:lstStyle/>
          <a:p>
            <a:pPr algn="l">
              <a:spcAft>
                <a:spcPts val="400"/>
              </a:spcAft>
            </a:pPr>
            <a:r>
              <a:rPr sz="800" b="1" i="0">
                <a:solidFill>
                  <a:srgbClr val="536980"/>
                </a:solidFill>
                <a:latin typeface="Aptos"/>
              </a:rPr>
              <a:t>MULTIMODAL DEEPFAKE AUTHENTICATION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082345"/>
          </a:solidFill>
          <a:ln>
            <a:solidFill>
              <a:srgbClr val="0823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iamond 2"/>
          <p:cNvSpPr/>
          <p:nvPr/>
        </p:nvSpPr>
        <p:spPr>
          <a:xfrm>
            <a:off x="274320" y="118872"/>
            <a:ext cx="310896" cy="310896"/>
          </a:xfrm>
          <a:prstGeom prst="diamond">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iamond 3"/>
          <p:cNvSpPr/>
          <p:nvPr/>
        </p:nvSpPr>
        <p:spPr>
          <a:xfrm>
            <a:off x="365760" y="182880"/>
            <a:ext cx="164592" cy="164592"/>
          </a:xfrm>
          <a:prstGeom prst="diamond">
            <a:avLst/>
          </a:prstGeom>
          <a:solidFill>
            <a:srgbClr val="105EAA"/>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92840" y="182880"/>
            <a:ext cx="502920" cy="228600"/>
          </a:xfrm>
          <a:prstGeom prst="rect">
            <a:avLst/>
          </a:prstGeom>
          <a:noFill/>
        </p:spPr>
        <p:txBody>
          <a:bodyPr wrap="square" lIns="0" tIns="0" rIns="0" bIns="0" anchor="t">
            <a:spAutoFit/>
          </a:bodyPr>
          <a:lstStyle/>
          <a:p>
            <a:pPr algn="r">
              <a:spcAft>
                <a:spcPts val="400"/>
              </a:spcAft>
            </a:pPr>
            <a:r>
              <a:rPr sz="1000" b="1" i="0">
                <a:solidFill>
                  <a:srgbClr val="FFFFFF"/>
                </a:solidFill>
                <a:latin typeface="Aptos"/>
              </a:rPr>
              <a:t>5/5</a:t>
            </a:r>
          </a:p>
        </p:txBody>
      </p:sp>
      <p:sp>
        <p:nvSpPr>
          <p:cNvPr id="8" name="TextBox 7"/>
          <p:cNvSpPr txBox="1"/>
          <p:nvPr/>
        </p:nvSpPr>
        <p:spPr>
          <a:xfrm>
            <a:off x="502920" y="841248"/>
            <a:ext cx="10881360" cy="438912"/>
          </a:xfrm>
          <a:prstGeom prst="rect">
            <a:avLst/>
          </a:prstGeom>
          <a:noFill/>
        </p:spPr>
        <p:txBody>
          <a:bodyPr wrap="square" lIns="54864" tIns="54864" rIns="54864" bIns="54864" anchor="t">
            <a:spAutoFit/>
          </a:bodyPr>
          <a:lstStyle/>
          <a:p>
            <a:pPr algn="l">
              <a:spcAft>
                <a:spcPts val="400"/>
              </a:spcAft>
            </a:pPr>
            <a:r>
              <a:rPr sz="2600" b="1" i="0">
                <a:solidFill>
                  <a:srgbClr val="082345"/>
                </a:solidFill>
                <a:latin typeface="Aptos"/>
              </a:rPr>
              <a:t>Tools, frameworks &amp; deployment</a:t>
            </a:r>
          </a:p>
        </p:txBody>
      </p:sp>
      <p:sp>
        <p:nvSpPr>
          <p:cNvPr id="9" name="Rounded Rectangle 8"/>
          <p:cNvSpPr/>
          <p:nvPr/>
        </p:nvSpPr>
        <p:spPr>
          <a:xfrm>
            <a:off x="530352" y="1444752"/>
            <a:ext cx="5257800" cy="4864608"/>
          </a:xfrm>
          <a:prstGeom prst="roundRect">
            <a:avLst/>
          </a:prstGeom>
          <a:solidFill>
            <a:srgbClr val="F5F9FC"/>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1645920"/>
            <a:ext cx="4754880" cy="329184"/>
          </a:xfrm>
          <a:prstGeom prst="rect">
            <a:avLst/>
          </a:prstGeom>
          <a:noFill/>
        </p:spPr>
        <p:txBody>
          <a:bodyPr wrap="square" lIns="54864" tIns="54864" rIns="54864" bIns="54864" anchor="t">
            <a:spAutoFit/>
          </a:bodyPr>
          <a:lstStyle/>
          <a:p>
            <a:pPr algn="l">
              <a:spcAft>
                <a:spcPts val="400"/>
              </a:spcAft>
            </a:pPr>
            <a:r>
              <a:rPr sz="1800" b="1" i="0">
                <a:solidFill>
                  <a:srgbClr val="082345"/>
                </a:solidFill>
                <a:latin typeface="Aptos"/>
              </a:rPr>
              <a:t>Core tools and their roles</a:t>
            </a:r>
          </a:p>
        </p:txBody>
      </p:sp>
      <p:sp>
        <p:nvSpPr>
          <p:cNvPr id="11" name="Oval 10"/>
          <p:cNvSpPr/>
          <p:nvPr/>
        </p:nvSpPr>
        <p:spPr>
          <a:xfrm>
            <a:off x="786384" y="2139696"/>
            <a:ext cx="146304" cy="146304"/>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2103120"/>
            <a:ext cx="4407408" cy="228600"/>
          </a:xfrm>
          <a:prstGeom prst="rect">
            <a:avLst/>
          </a:prstGeom>
          <a:noFill/>
        </p:spPr>
        <p:txBody>
          <a:bodyPr wrap="square" lIns="0" tIns="0" rIns="0" bIns="0" anchor="t">
            <a:spAutoFit/>
          </a:bodyPr>
          <a:lstStyle/>
          <a:p>
            <a:pPr algn="l">
              <a:spcAft>
                <a:spcPts val="400"/>
              </a:spcAft>
            </a:pPr>
            <a:r>
              <a:rPr sz="1200" b="1" i="0">
                <a:solidFill>
                  <a:srgbClr val="105EAA"/>
                </a:solidFill>
                <a:latin typeface="Aptos"/>
              </a:rPr>
              <a:t>Python + OpenCV</a:t>
            </a:r>
          </a:p>
        </p:txBody>
      </p:sp>
      <p:sp>
        <p:nvSpPr>
          <p:cNvPr id="13" name="TextBox 12"/>
          <p:cNvSpPr txBox="1"/>
          <p:nvPr/>
        </p:nvSpPr>
        <p:spPr>
          <a:xfrm>
            <a:off x="1024128" y="2340863"/>
            <a:ext cx="4407408" cy="411480"/>
          </a:xfrm>
          <a:prstGeom prst="rect">
            <a:avLst/>
          </a:prstGeom>
          <a:noFill/>
        </p:spPr>
        <p:txBody>
          <a:bodyPr wrap="square" lIns="0" tIns="0" rIns="0" bIns="0" anchor="t">
            <a:spAutoFit/>
          </a:bodyPr>
          <a:lstStyle/>
          <a:p>
            <a:pPr algn="l">
              <a:spcAft>
                <a:spcPts val="400"/>
              </a:spcAft>
            </a:pPr>
            <a:r>
              <a:rPr sz="1019" b="0" i="0">
                <a:solidFill>
                  <a:srgbClr val="1E3044"/>
                </a:solidFill>
                <a:latin typeface="Aptos"/>
              </a:rPr>
              <a:t>Main programming and video-processing tools for frame sampling, image handling, and artifact preparation.</a:t>
            </a:r>
          </a:p>
        </p:txBody>
      </p:sp>
      <p:sp>
        <p:nvSpPr>
          <p:cNvPr id="14" name="Oval 13"/>
          <p:cNvSpPr/>
          <p:nvPr/>
        </p:nvSpPr>
        <p:spPr>
          <a:xfrm>
            <a:off x="786384" y="2807208"/>
            <a:ext cx="146304" cy="146304"/>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24128" y="2770632"/>
            <a:ext cx="4407408" cy="228600"/>
          </a:xfrm>
          <a:prstGeom prst="rect">
            <a:avLst/>
          </a:prstGeom>
          <a:noFill/>
        </p:spPr>
        <p:txBody>
          <a:bodyPr wrap="square" lIns="0" tIns="0" rIns="0" bIns="0" anchor="t">
            <a:spAutoFit/>
          </a:bodyPr>
          <a:lstStyle/>
          <a:p>
            <a:pPr algn="l">
              <a:spcAft>
                <a:spcPts val="400"/>
              </a:spcAft>
            </a:pPr>
            <a:r>
              <a:rPr sz="1200" b="1" i="0">
                <a:solidFill>
                  <a:srgbClr val="105EAA"/>
                </a:solidFill>
                <a:latin typeface="Aptos"/>
              </a:rPr>
              <a:t>PyTorch</a:t>
            </a:r>
          </a:p>
        </p:txBody>
      </p:sp>
      <p:sp>
        <p:nvSpPr>
          <p:cNvPr id="16" name="TextBox 15"/>
          <p:cNvSpPr txBox="1"/>
          <p:nvPr/>
        </p:nvSpPr>
        <p:spPr>
          <a:xfrm>
            <a:off x="1024128" y="3008376"/>
            <a:ext cx="4407408" cy="411480"/>
          </a:xfrm>
          <a:prstGeom prst="rect">
            <a:avLst/>
          </a:prstGeom>
          <a:noFill/>
        </p:spPr>
        <p:txBody>
          <a:bodyPr wrap="square" lIns="0" tIns="0" rIns="0" bIns="0" anchor="t">
            <a:spAutoFit/>
          </a:bodyPr>
          <a:lstStyle/>
          <a:p>
            <a:pPr algn="l">
              <a:spcAft>
                <a:spcPts val="400"/>
              </a:spcAft>
            </a:pPr>
            <a:r>
              <a:rPr sz="1019" b="0" i="0">
                <a:solidFill>
                  <a:srgbClr val="1E3044"/>
                </a:solidFill>
                <a:latin typeface="Aptos"/>
              </a:rPr>
              <a:t>Implements the trainable Temporal Transformer, classification head, training loop, validation, and checkpoint saving.</a:t>
            </a:r>
          </a:p>
        </p:txBody>
      </p:sp>
      <p:sp>
        <p:nvSpPr>
          <p:cNvPr id="17" name="Oval 16"/>
          <p:cNvSpPr/>
          <p:nvPr/>
        </p:nvSpPr>
        <p:spPr>
          <a:xfrm>
            <a:off x="786384" y="3474720"/>
            <a:ext cx="146304" cy="146304"/>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 y="3438144"/>
            <a:ext cx="4407408" cy="228600"/>
          </a:xfrm>
          <a:prstGeom prst="rect">
            <a:avLst/>
          </a:prstGeom>
          <a:noFill/>
        </p:spPr>
        <p:txBody>
          <a:bodyPr wrap="square" lIns="0" tIns="0" rIns="0" bIns="0" anchor="t">
            <a:spAutoFit/>
          </a:bodyPr>
          <a:lstStyle/>
          <a:p>
            <a:pPr algn="l">
              <a:spcAft>
                <a:spcPts val="400"/>
              </a:spcAft>
            </a:pPr>
            <a:r>
              <a:rPr sz="1200" b="1" i="0">
                <a:solidFill>
                  <a:srgbClr val="105EAA"/>
                </a:solidFill>
                <a:latin typeface="Aptos"/>
              </a:rPr>
              <a:t>Hugging Face / OpenCLIP ViT-L/14</a:t>
            </a:r>
          </a:p>
        </p:txBody>
      </p:sp>
      <p:sp>
        <p:nvSpPr>
          <p:cNvPr id="19" name="TextBox 18"/>
          <p:cNvSpPr txBox="1"/>
          <p:nvPr/>
        </p:nvSpPr>
        <p:spPr>
          <a:xfrm>
            <a:off x="1024128" y="3675887"/>
            <a:ext cx="4407408" cy="411480"/>
          </a:xfrm>
          <a:prstGeom prst="rect">
            <a:avLst/>
          </a:prstGeom>
          <a:noFill/>
        </p:spPr>
        <p:txBody>
          <a:bodyPr wrap="square" lIns="0" tIns="0" rIns="0" bIns="0" anchor="t">
            <a:spAutoFit/>
          </a:bodyPr>
          <a:lstStyle/>
          <a:p>
            <a:pPr algn="l">
              <a:spcAft>
                <a:spcPts val="400"/>
              </a:spcAft>
            </a:pPr>
            <a:r>
              <a:rPr sz="1019" b="0" i="0">
                <a:solidFill>
                  <a:srgbClr val="1E3044"/>
                </a:solidFill>
                <a:latin typeface="Aptos"/>
              </a:rPr>
              <a:t>Provides the pretrained visual encoder for 768-dimensional face embeddings; encoder weights are frozen in this design.</a:t>
            </a:r>
          </a:p>
        </p:txBody>
      </p:sp>
      <p:sp>
        <p:nvSpPr>
          <p:cNvPr id="20" name="Oval 19"/>
          <p:cNvSpPr/>
          <p:nvPr/>
        </p:nvSpPr>
        <p:spPr>
          <a:xfrm>
            <a:off x="786384" y="4142232"/>
            <a:ext cx="146304" cy="146304"/>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4128" y="4105656"/>
            <a:ext cx="4407408" cy="228600"/>
          </a:xfrm>
          <a:prstGeom prst="rect">
            <a:avLst/>
          </a:prstGeom>
          <a:noFill/>
        </p:spPr>
        <p:txBody>
          <a:bodyPr wrap="square" lIns="0" tIns="0" rIns="0" bIns="0" anchor="t">
            <a:spAutoFit/>
          </a:bodyPr>
          <a:lstStyle/>
          <a:p>
            <a:pPr algn="l">
              <a:spcAft>
                <a:spcPts val="400"/>
              </a:spcAft>
            </a:pPr>
            <a:r>
              <a:rPr sz="1200" b="1" i="0">
                <a:solidFill>
                  <a:srgbClr val="105EAA"/>
                </a:solidFill>
                <a:latin typeface="Aptos"/>
              </a:rPr>
              <a:t>MTCNN</a:t>
            </a:r>
          </a:p>
        </p:txBody>
      </p:sp>
      <p:sp>
        <p:nvSpPr>
          <p:cNvPr id="22" name="TextBox 21"/>
          <p:cNvSpPr txBox="1"/>
          <p:nvPr/>
        </p:nvSpPr>
        <p:spPr>
          <a:xfrm>
            <a:off x="1024128" y="4343400"/>
            <a:ext cx="4407408" cy="411480"/>
          </a:xfrm>
          <a:prstGeom prst="rect">
            <a:avLst/>
          </a:prstGeom>
          <a:noFill/>
        </p:spPr>
        <p:txBody>
          <a:bodyPr wrap="square" lIns="0" tIns="0" rIns="0" bIns="0" anchor="t">
            <a:spAutoFit/>
          </a:bodyPr>
          <a:lstStyle/>
          <a:p>
            <a:pPr algn="l">
              <a:spcAft>
                <a:spcPts val="400"/>
              </a:spcAft>
            </a:pPr>
            <a:r>
              <a:rPr sz="1019" b="0" i="0">
                <a:solidFill>
                  <a:srgbClr val="1E3044"/>
                </a:solidFill>
                <a:latin typeface="Aptos"/>
              </a:rPr>
              <a:t>Detects faces in sampled frames and extracts face crops for visual feature extraction.</a:t>
            </a:r>
          </a:p>
        </p:txBody>
      </p:sp>
      <p:sp>
        <p:nvSpPr>
          <p:cNvPr id="23" name="Oval 22"/>
          <p:cNvSpPr/>
          <p:nvPr/>
        </p:nvSpPr>
        <p:spPr>
          <a:xfrm>
            <a:off x="786384" y="4809744"/>
            <a:ext cx="146304" cy="146304"/>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24128" y="4773168"/>
            <a:ext cx="4407408" cy="228600"/>
          </a:xfrm>
          <a:prstGeom prst="rect">
            <a:avLst/>
          </a:prstGeom>
          <a:noFill/>
        </p:spPr>
        <p:txBody>
          <a:bodyPr wrap="square" lIns="0" tIns="0" rIns="0" bIns="0" anchor="t">
            <a:spAutoFit/>
          </a:bodyPr>
          <a:lstStyle/>
          <a:p>
            <a:pPr algn="l">
              <a:spcAft>
                <a:spcPts val="400"/>
              </a:spcAft>
            </a:pPr>
            <a:r>
              <a:rPr sz="1200" b="1" i="0">
                <a:solidFill>
                  <a:srgbClr val="105EAA"/>
                </a:solidFill>
                <a:latin typeface="Aptos"/>
              </a:rPr>
              <a:t>Kaggle + NumPy / Pandas</a:t>
            </a:r>
          </a:p>
        </p:txBody>
      </p:sp>
      <p:sp>
        <p:nvSpPr>
          <p:cNvPr id="25" name="TextBox 24"/>
          <p:cNvSpPr txBox="1"/>
          <p:nvPr/>
        </p:nvSpPr>
        <p:spPr>
          <a:xfrm>
            <a:off x="1024128" y="5010912"/>
            <a:ext cx="4407408" cy="411480"/>
          </a:xfrm>
          <a:prstGeom prst="rect">
            <a:avLst/>
          </a:prstGeom>
          <a:noFill/>
        </p:spPr>
        <p:txBody>
          <a:bodyPr wrap="square" lIns="0" tIns="0" rIns="0" bIns="0" anchor="t">
            <a:spAutoFit/>
          </a:bodyPr>
          <a:lstStyle/>
          <a:p>
            <a:pPr algn="l">
              <a:spcAft>
                <a:spcPts val="400"/>
              </a:spcAft>
            </a:pPr>
            <a:r>
              <a:rPr sz="1019" b="0" i="0">
                <a:solidFill>
                  <a:srgbClr val="1E3044"/>
                </a:solidFill>
                <a:latin typeface="Aptos"/>
              </a:rPr>
              <a:t>Provides dataset access and notebook compute; supports manifests, split tables, arrays, and reusable artifacts.</a:t>
            </a:r>
          </a:p>
        </p:txBody>
      </p:sp>
      <p:sp>
        <p:nvSpPr>
          <p:cNvPr id="26" name="Oval 25"/>
          <p:cNvSpPr/>
          <p:nvPr/>
        </p:nvSpPr>
        <p:spPr>
          <a:xfrm>
            <a:off x="786384" y="5477256"/>
            <a:ext cx="146304" cy="146304"/>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4128" y="5440680"/>
            <a:ext cx="4407408" cy="228600"/>
          </a:xfrm>
          <a:prstGeom prst="rect">
            <a:avLst/>
          </a:prstGeom>
          <a:noFill/>
        </p:spPr>
        <p:txBody>
          <a:bodyPr wrap="square" lIns="0" tIns="0" rIns="0" bIns="0" anchor="t">
            <a:spAutoFit/>
          </a:bodyPr>
          <a:lstStyle/>
          <a:p>
            <a:pPr algn="l">
              <a:spcAft>
                <a:spcPts val="400"/>
              </a:spcAft>
            </a:pPr>
            <a:r>
              <a:rPr sz="1200" b="1" i="0">
                <a:solidFill>
                  <a:srgbClr val="105EAA"/>
                </a:solidFill>
                <a:latin typeface="Aptos"/>
              </a:rPr>
              <a:t>MLflow (planned/integration stage)</a:t>
            </a:r>
          </a:p>
        </p:txBody>
      </p:sp>
      <p:sp>
        <p:nvSpPr>
          <p:cNvPr id="28" name="TextBox 27"/>
          <p:cNvSpPr txBox="1"/>
          <p:nvPr/>
        </p:nvSpPr>
        <p:spPr>
          <a:xfrm>
            <a:off x="1024128" y="5678424"/>
            <a:ext cx="4407408" cy="411480"/>
          </a:xfrm>
          <a:prstGeom prst="rect">
            <a:avLst/>
          </a:prstGeom>
          <a:noFill/>
        </p:spPr>
        <p:txBody>
          <a:bodyPr wrap="square" lIns="0" tIns="0" rIns="0" bIns="0" anchor="t">
            <a:spAutoFit/>
          </a:bodyPr>
          <a:lstStyle/>
          <a:p>
            <a:pPr algn="l">
              <a:spcAft>
                <a:spcPts val="400"/>
              </a:spcAft>
            </a:pPr>
            <a:r>
              <a:rPr sz="1019" b="0" i="0">
                <a:solidFill>
                  <a:srgbClr val="1E3044"/>
                </a:solidFill>
                <a:latin typeface="Aptos"/>
              </a:rPr>
              <a:t>Tracks experiment parameters, metrics, and model versions to support comparison and reproducibility.</a:t>
            </a:r>
          </a:p>
        </p:txBody>
      </p:sp>
      <p:sp>
        <p:nvSpPr>
          <p:cNvPr id="29" name="Rounded Rectangle 28"/>
          <p:cNvSpPr/>
          <p:nvPr/>
        </p:nvSpPr>
        <p:spPr>
          <a:xfrm>
            <a:off x="6016752" y="1444752"/>
            <a:ext cx="5623560" cy="4864608"/>
          </a:xfrm>
          <a:prstGeom prst="roundRect">
            <a:avLst/>
          </a:prstGeom>
          <a:solidFill>
            <a:srgbClr val="E8F6FD"/>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63640" y="1645920"/>
            <a:ext cx="5029200" cy="329184"/>
          </a:xfrm>
          <a:prstGeom prst="rect">
            <a:avLst/>
          </a:prstGeom>
          <a:noFill/>
        </p:spPr>
        <p:txBody>
          <a:bodyPr wrap="square" lIns="54864" tIns="54864" rIns="54864" bIns="54864" anchor="t">
            <a:spAutoFit/>
          </a:bodyPr>
          <a:lstStyle/>
          <a:p>
            <a:pPr algn="l">
              <a:spcAft>
                <a:spcPts val="400"/>
              </a:spcAft>
            </a:pPr>
            <a:r>
              <a:rPr sz="1800" b="1" i="0">
                <a:solidFill>
                  <a:srgbClr val="082345"/>
                </a:solidFill>
                <a:latin typeface="Aptos"/>
              </a:rPr>
              <a:t>How deployment works</a:t>
            </a:r>
          </a:p>
        </p:txBody>
      </p:sp>
      <p:sp>
        <p:nvSpPr>
          <p:cNvPr id="31" name="TextBox 30"/>
          <p:cNvSpPr txBox="1"/>
          <p:nvPr/>
        </p:nvSpPr>
        <p:spPr>
          <a:xfrm>
            <a:off x="6263640" y="2029968"/>
            <a:ext cx="4983480" cy="676656"/>
          </a:xfrm>
          <a:prstGeom prst="rect">
            <a:avLst/>
          </a:prstGeom>
          <a:noFill/>
        </p:spPr>
        <p:txBody>
          <a:bodyPr wrap="square" lIns="54864" tIns="54864" rIns="54864" bIns="54864" anchor="t">
            <a:spAutoFit/>
          </a:bodyPr>
          <a:lstStyle/>
          <a:p>
            <a:pPr algn="l">
              <a:spcAft>
                <a:spcPts val="400"/>
              </a:spcAft>
            </a:pPr>
            <a:r>
              <a:rPr sz="1150" b="0" i="0">
                <a:solidFill>
                  <a:srgbClr val="1E3044"/>
                </a:solidFill>
                <a:latin typeface="Aptos"/>
              </a:rPr>
              <a:t>The trained model is saved as a PyTorch checkpoint. During inference, the application repeats the preprocessing used in training, builds the frame sequence, and passes it to the model.</a:t>
            </a:r>
          </a:p>
        </p:txBody>
      </p:sp>
      <p:sp>
        <p:nvSpPr>
          <p:cNvPr id="32" name="Rounded Rectangle 31"/>
          <p:cNvSpPr/>
          <p:nvPr/>
        </p:nvSpPr>
        <p:spPr>
          <a:xfrm>
            <a:off x="6291072" y="2953512"/>
            <a:ext cx="1024128" cy="777240"/>
          </a:xfrm>
          <a:prstGeom prst="roundRect">
            <a:avLst/>
          </a:prstGeom>
          <a:solidFill>
            <a:srgbClr val="FFFFFF"/>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27648" y="3072384"/>
            <a:ext cx="950976" cy="219456"/>
          </a:xfrm>
          <a:prstGeom prst="rect">
            <a:avLst/>
          </a:prstGeom>
          <a:noFill/>
        </p:spPr>
        <p:txBody>
          <a:bodyPr wrap="square" lIns="0" tIns="0" rIns="0" bIns="0" anchor="t">
            <a:spAutoFit/>
          </a:bodyPr>
          <a:lstStyle/>
          <a:p>
            <a:pPr algn="ctr">
              <a:spcAft>
                <a:spcPts val="400"/>
              </a:spcAft>
            </a:pPr>
            <a:r>
              <a:rPr sz="1200" b="1" i="0">
                <a:solidFill>
                  <a:srgbClr val="105EAA"/>
                </a:solidFill>
                <a:latin typeface="Aptos"/>
              </a:rPr>
              <a:t>User</a:t>
            </a:r>
          </a:p>
        </p:txBody>
      </p:sp>
      <p:sp>
        <p:nvSpPr>
          <p:cNvPr id="34" name="TextBox 33"/>
          <p:cNvSpPr txBox="1"/>
          <p:nvPr/>
        </p:nvSpPr>
        <p:spPr>
          <a:xfrm>
            <a:off x="6327648" y="3346704"/>
            <a:ext cx="950976" cy="201168"/>
          </a:xfrm>
          <a:prstGeom prst="rect">
            <a:avLst/>
          </a:prstGeom>
          <a:noFill/>
        </p:spPr>
        <p:txBody>
          <a:bodyPr wrap="square" lIns="0" tIns="0" rIns="0" bIns="0" anchor="t">
            <a:spAutoFit/>
          </a:bodyPr>
          <a:lstStyle/>
          <a:p>
            <a:pPr algn="ctr">
              <a:spcAft>
                <a:spcPts val="400"/>
              </a:spcAft>
            </a:pPr>
            <a:r>
              <a:rPr sz="900" b="0" i="0">
                <a:solidFill>
                  <a:srgbClr val="536980"/>
                </a:solidFill>
                <a:latin typeface="Aptos"/>
              </a:rPr>
              <a:t>video</a:t>
            </a:r>
          </a:p>
        </p:txBody>
      </p:sp>
      <p:sp>
        <p:nvSpPr>
          <p:cNvPr id="35" name="Rounded Rectangle 34"/>
          <p:cNvSpPr/>
          <p:nvPr/>
        </p:nvSpPr>
        <p:spPr>
          <a:xfrm>
            <a:off x="7571231" y="2953512"/>
            <a:ext cx="1115568" cy="777240"/>
          </a:xfrm>
          <a:prstGeom prst="roundRect">
            <a:avLst/>
          </a:prstGeom>
          <a:solidFill>
            <a:srgbClr val="FFFFFF"/>
          </a:solidFill>
          <a:ln>
            <a:solidFill>
              <a:srgbClr val="00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07807" y="3072384"/>
            <a:ext cx="1042415" cy="219456"/>
          </a:xfrm>
          <a:prstGeom prst="rect">
            <a:avLst/>
          </a:prstGeom>
          <a:noFill/>
        </p:spPr>
        <p:txBody>
          <a:bodyPr wrap="square" lIns="0" tIns="0" rIns="0" bIns="0" anchor="t">
            <a:spAutoFit/>
          </a:bodyPr>
          <a:lstStyle/>
          <a:p>
            <a:pPr algn="ctr">
              <a:spcAft>
                <a:spcPts val="400"/>
              </a:spcAft>
            </a:pPr>
            <a:r>
              <a:rPr sz="1200" b="1" i="0">
                <a:solidFill>
                  <a:srgbClr val="008791"/>
                </a:solidFill>
                <a:latin typeface="Aptos"/>
              </a:rPr>
              <a:t>Streamlit</a:t>
            </a:r>
          </a:p>
        </p:txBody>
      </p:sp>
      <p:sp>
        <p:nvSpPr>
          <p:cNvPr id="37" name="TextBox 36"/>
          <p:cNvSpPr txBox="1"/>
          <p:nvPr/>
        </p:nvSpPr>
        <p:spPr>
          <a:xfrm>
            <a:off x="7607807" y="3346704"/>
            <a:ext cx="1042415" cy="201168"/>
          </a:xfrm>
          <a:prstGeom prst="rect">
            <a:avLst/>
          </a:prstGeom>
          <a:noFill/>
        </p:spPr>
        <p:txBody>
          <a:bodyPr wrap="square" lIns="0" tIns="0" rIns="0" bIns="0" anchor="t">
            <a:spAutoFit/>
          </a:bodyPr>
          <a:lstStyle/>
          <a:p>
            <a:pPr algn="ctr">
              <a:spcAft>
                <a:spcPts val="400"/>
              </a:spcAft>
            </a:pPr>
            <a:r>
              <a:rPr sz="900" b="0" i="0">
                <a:solidFill>
                  <a:srgbClr val="536980"/>
                </a:solidFill>
                <a:latin typeface="Aptos"/>
              </a:rPr>
              <a:t>web UI</a:t>
            </a:r>
          </a:p>
        </p:txBody>
      </p:sp>
      <p:sp>
        <p:nvSpPr>
          <p:cNvPr id="38" name="Rounded Rectangle 37"/>
          <p:cNvSpPr/>
          <p:nvPr/>
        </p:nvSpPr>
        <p:spPr>
          <a:xfrm>
            <a:off x="8961120" y="2953512"/>
            <a:ext cx="1115568" cy="777240"/>
          </a:xfrm>
          <a:prstGeom prst="roundRect">
            <a:avLst/>
          </a:prstGeom>
          <a:solidFill>
            <a:srgbClr val="FFFFFF"/>
          </a:solidFill>
          <a:ln>
            <a:solidFill>
              <a:srgbClr val="10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997696" y="3072384"/>
            <a:ext cx="1042415" cy="219456"/>
          </a:xfrm>
          <a:prstGeom prst="rect">
            <a:avLst/>
          </a:prstGeom>
          <a:noFill/>
        </p:spPr>
        <p:txBody>
          <a:bodyPr wrap="square" lIns="0" tIns="0" rIns="0" bIns="0" anchor="t">
            <a:spAutoFit/>
          </a:bodyPr>
          <a:lstStyle/>
          <a:p>
            <a:pPr algn="ctr">
              <a:spcAft>
                <a:spcPts val="400"/>
              </a:spcAft>
            </a:pPr>
            <a:r>
              <a:rPr sz="1200" b="1" i="0">
                <a:solidFill>
                  <a:srgbClr val="105EAA"/>
                </a:solidFill>
                <a:latin typeface="Aptos"/>
              </a:rPr>
              <a:t>FastAPI</a:t>
            </a:r>
          </a:p>
        </p:txBody>
      </p:sp>
      <p:sp>
        <p:nvSpPr>
          <p:cNvPr id="40" name="TextBox 39"/>
          <p:cNvSpPr txBox="1"/>
          <p:nvPr/>
        </p:nvSpPr>
        <p:spPr>
          <a:xfrm>
            <a:off x="8997696" y="3346704"/>
            <a:ext cx="1042415" cy="201168"/>
          </a:xfrm>
          <a:prstGeom prst="rect">
            <a:avLst/>
          </a:prstGeom>
          <a:noFill/>
        </p:spPr>
        <p:txBody>
          <a:bodyPr wrap="square" lIns="0" tIns="0" rIns="0" bIns="0" anchor="t">
            <a:spAutoFit/>
          </a:bodyPr>
          <a:lstStyle/>
          <a:p>
            <a:pPr algn="ctr">
              <a:spcAft>
                <a:spcPts val="400"/>
              </a:spcAft>
            </a:pPr>
            <a:r>
              <a:rPr sz="900" b="0" i="0">
                <a:solidFill>
                  <a:srgbClr val="536980"/>
                </a:solidFill>
                <a:latin typeface="Aptos"/>
              </a:rPr>
              <a:t>inference API</a:t>
            </a:r>
          </a:p>
        </p:txBody>
      </p:sp>
      <p:sp>
        <p:nvSpPr>
          <p:cNvPr id="41" name="Rounded Rectangle 40"/>
          <p:cNvSpPr/>
          <p:nvPr/>
        </p:nvSpPr>
        <p:spPr>
          <a:xfrm>
            <a:off x="10351008" y="2953512"/>
            <a:ext cx="1005840" cy="777240"/>
          </a:xfrm>
          <a:prstGeom prst="roundRect">
            <a:avLst/>
          </a:prstGeom>
          <a:solidFill>
            <a:srgbClr val="FFFFFF"/>
          </a:solidFill>
          <a:ln>
            <a:solidFill>
              <a:srgbClr val="654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387584" y="3072384"/>
            <a:ext cx="932688" cy="219456"/>
          </a:xfrm>
          <a:prstGeom prst="rect">
            <a:avLst/>
          </a:prstGeom>
          <a:noFill/>
        </p:spPr>
        <p:txBody>
          <a:bodyPr wrap="square" lIns="0" tIns="0" rIns="0" bIns="0" anchor="t">
            <a:spAutoFit/>
          </a:bodyPr>
          <a:lstStyle/>
          <a:p>
            <a:pPr algn="ctr">
              <a:spcAft>
                <a:spcPts val="400"/>
              </a:spcAft>
            </a:pPr>
            <a:r>
              <a:rPr sz="1200" b="1" i="0">
                <a:solidFill>
                  <a:srgbClr val="654CBE"/>
                </a:solidFill>
                <a:latin typeface="Aptos"/>
              </a:rPr>
              <a:t>Model</a:t>
            </a:r>
          </a:p>
        </p:txBody>
      </p:sp>
      <p:sp>
        <p:nvSpPr>
          <p:cNvPr id="43" name="TextBox 42"/>
          <p:cNvSpPr txBox="1"/>
          <p:nvPr/>
        </p:nvSpPr>
        <p:spPr>
          <a:xfrm>
            <a:off x="10387584" y="3346704"/>
            <a:ext cx="932688" cy="201168"/>
          </a:xfrm>
          <a:prstGeom prst="rect">
            <a:avLst/>
          </a:prstGeom>
          <a:noFill/>
        </p:spPr>
        <p:txBody>
          <a:bodyPr wrap="square" lIns="0" tIns="0" rIns="0" bIns="0" anchor="t">
            <a:spAutoFit/>
          </a:bodyPr>
          <a:lstStyle/>
          <a:p>
            <a:pPr algn="ctr">
              <a:spcAft>
                <a:spcPts val="400"/>
              </a:spcAft>
            </a:pPr>
            <a:r>
              <a:rPr sz="900" b="0" i="0">
                <a:solidFill>
                  <a:srgbClr val="536980"/>
                </a:solidFill>
                <a:latin typeface="Aptos"/>
              </a:rPr>
              <a:t>checkpoint</a:t>
            </a:r>
          </a:p>
        </p:txBody>
      </p:sp>
      <p:sp>
        <p:nvSpPr>
          <p:cNvPr id="44" name="TextBox 43"/>
          <p:cNvSpPr txBox="1"/>
          <p:nvPr/>
        </p:nvSpPr>
        <p:spPr>
          <a:xfrm>
            <a:off x="7315200" y="3182112"/>
            <a:ext cx="228600" cy="274320"/>
          </a:xfrm>
          <a:prstGeom prst="rect">
            <a:avLst/>
          </a:prstGeom>
          <a:noFill/>
        </p:spPr>
        <p:txBody>
          <a:bodyPr wrap="square" lIns="0" tIns="0" rIns="0" bIns="0" anchor="t">
            <a:spAutoFit/>
          </a:bodyPr>
          <a:lstStyle/>
          <a:p>
            <a:pPr algn="ctr">
              <a:spcAft>
                <a:spcPts val="400"/>
              </a:spcAft>
            </a:pPr>
            <a:r>
              <a:rPr sz="1800" b="1" i="0">
                <a:solidFill>
                  <a:srgbClr val="00AEDC"/>
                </a:solidFill>
                <a:latin typeface="Aptos"/>
              </a:rPr>
              <a:t>→</a:t>
            </a:r>
          </a:p>
        </p:txBody>
      </p:sp>
      <p:sp>
        <p:nvSpPr>
          <p:cNvPr id="45" name="TextBox 44"/>
          <p:cNvSpPr txBox="1"/>
          <p:nvPr/>
        </p:nvSpPr>
        <p:spPr>
          <a:xfrm>
            <a:off x="8686800" y="3182112"/>
            <a:ext cx="228600" cy="274320"/>
          </a:xfrm>
          <a:prstGeom prst="rect">
            <a:avLst/>
          </a:prstGeom>
          <a:noFill/>
        </p:spPr>
        <p:txBody>
          <a:bodyPr wrap="square" lIns="0" tIns="0" rIns="0" bIns="0" anchor="t">
            <a:spAutoFit/>
          </a:bodyPr>
          <a:lstStyle/>
          <a:p>
            <a:pPr algn="ctr">
              <a:spcAft>
                <a:spcPts val="400"/>
              </a:spcAft>
            </a:pPr>
            <a:r>
              <a:rPr sz="1800" b="1" i="0">
                <a:solidFill>
                  <a:srgbClr val="00AEDC"/>
                </a:solidFill>
                <a:latin typeface="Aptos"/>
              </a:rPr>
              <a:t>→</a:t>
            </a:r>
          </a:p>
        </p:txBody>
      </p:sp>
      <p:sp>
        <p:nvSpPr>
          <p:cNvPr id="46" name="TextBox 45"/>
          <p:cNvSpPr txBox="1"/>
          <p:nvPr/>
        </p:nvSpPr>
        <p:spPr>
          <a:xfrm>
            <a:off x="10076688" y="3182112"/>
            <a:ext cx="228600" cy="274320"/>
          </a:xfrm>
          <a:prstGeom prst="rect">
            <a:avLst/>
          </a:prstGeom>
          <a:noFill/>
        </p:spPr>
        <p:txBody>
          <a:bodyPr wrap="square" lIns="0" tIns="0" rIns="0" bIns="0" anchor="t">
            <a:spAutoFit/>
          </a:bodyPr>
          <a:lstStyle/>
          <a:p>
            <a:pPr algn="ctr">
              <a:spcAft>
                <a:spcPts val="400"/>
              </a:spcAft>
            </a:pPr>
            <a:r>
              <a:rPr sz="1800" b="1" i="0">
                <a:solidFill>
                  <a:srgbClr val="00AEDC"/>
                </a:solidFill>
                <a:latin typeface="Aptos"/>
              </a:rPr>
              <a:t>→</a:t>
            </a:r>
          </a:p>
        </p:txBody>
      </p:sp>
      <p:sp>
        <p:nvSpPr>
          <p:cNvPr id="47" name="TextBox 46"/>
          <p:cNvSpPr txBox="1"/>
          <p:nvPr/>
        </p:nvSpPr>
        <p:spPr>
          <a:xfrm>
            <a:off x="6291072" y="3968496"/>
            <a:ext cx="1828800" cy="246888"/>
          </a:xfrm>
          <a:prstGeom prst="rect">
            <a:avLst/>
          </a:prstGeom>
          <a:noFill/>
        </p:spPr>
        <p:txBody>
          <a:bodyPr wrap="square" lIns="54864" tIns="54864" rIns="54864" bIns="54864" anchor="t">
            <a:spAutoFit/>
          </a:bodyPr>
          <a:lstStyle/>
          <a:p>
            <a:pPr algn="l">
              <a:spcAft>
                <a:spcPts val="400"/>
              </a:spcAft>
            </a:pPr>
            <a:r>
              <a:rPr sz="1300" b="1" i="0">
                <a:solidFill>
                  <a:srgbClr val="105EAA"/>
                </a:solidFill>
                <a:latin typeface="Aptos"/>
              </a:rPr>
              <a:t>Request flow</a:t>
            </a:r>
          </a:p>
        </p:txBody>
      </p:sp>
      <p:sp>
        <p:nvSpPr>
          <p:cNvPr id="48" name="Oval 47"/>
          <p:cNvSpPr/>
          <p:nvPr/>
        </p:nvSpPr>
        <p:spPr>
          <a:xfrm>
            <a:off x="6309360" y="4389120"/>
            <a:ext cx="91440" cy="91440"/>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510528" y="4279392"/>
            <a:ext cx="4809744" cy="388620"/>
          </a:xfrm>
          <a:prstGeom prst="rect">
            <a:avLst/>
          </a:prstGeom>
          <a:noFill/>
        </p:spPr>
        <p:txBody>
          <a:bodyPr wrap="square" lIns="54864" tIns="54864" rIns="54864" bIns="54864" anchor="t">
            <a:spAutoFit/>
          </a:bodyPr>
          <a:lstStyle/>
          <a:p>
            <a:pPr algn="l">
              <a:spcAft>
                <a:spcPts val="400"/>
              </a:spcAft>
            </a:pPr>
            <a:r>
              <a:rPr sz="1019" b="0" i="0">
                <a:solidFill>
                  <a:srgbClr val="1E3044"/>
                </a:solidFill>
                <a:latin typeface="Aptos"/>
              </a:rPr>
              <a:t>Streamlit accepts a video and sends it to the FastAPI endpoint.</a:t>
            </a:r>
          </a:p>
        </p:txBody>
      </p:sp>
      <p:sp>
        <p:nvSpPr>
          <p:cNvPr id="50" name="Oval 49"/>
          <p:cNvSpPr/>
          <p:nvPr/>
        </p:nvSpPr>
        <p:spPr>
          <a:xfrm>
            <a:off x="6309360" y="4796028"/>
            <a:ext cx="91440" cy="91440"/>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510528" y="4686300"/>
            <a:ext cx="4809744" cy="388620"/>
          </a:xfrm>
          <a:prstGeom prst="rect">
            <a:avLst/>
          </a:prstGeom>
          <a:noFill/>
        </p:spPr>
        <p:txBody>
          <a:bodyPr wrap="square" lIns="54864" tIns="54864" rIns="54864" bIns="54864" anchor="t">
            <a:spAutoFit/>
          </a:bodyPr>
          <a:lstStyle/>
          <a:p>
            <a:pPr algn="l">
              <a:spcAft>
                <a:spcPts val="400"/>
              </a:spcAft>
            </a:pPr>
            <a:r>
              <a:rPr sz="1019" b="0" i="0">
                <a:solidFill>
                  <a:srgbClr val="1E3044"/>
                </a:solidFill>
                <a:latin typeface="Aptos"/>
              </a:rPr>
              <a:t>FastAPI samples frames, detects faces, and constructs embeddings/sequences with the same preprocessing configuration.</a:t>
            </a:r>
          </a:p>
        </p:txBody>
      </p:sp>
      <p:sp>
        <p:nvSpPr>
          <p:cNvPr id="52" name="Oval 51"/>
          <p:cNvSpPr/>
          <p:nvPr/>
        </p:nvSpPr>
        <p:spPr>
          <a:xfrm>
            <a:off x="6309360" y="5202936"/>
            <a:ext cx="91440" cy="91440"/>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510528" y="5093207"/>
            <a:ext cx="4809744" cy="388620"/>
          </a:xfrm>
          <a:prstGeom prst="rect">
            <a:avLst/>
          </a:prstGeom>
          <a:noFill/>
        </p:spPr>
        <p:txBody>
          <a:bodyPr wrap="square" lIns="54864" tIns="54864" rIns="54864" bIns="54864" anchor="t">
            <a:spAutoFit/>
          </a:bodyPr>
          <a:lstStyle/>
          <a:p>
            <a:pPr algn="l">
              <a:spcAft>
                <a:spcPts val="400"/>
              </a:spcAft>
            </a:pPr>
            <a:r>
              <a:rPr sz="1019" b="0" i="0">
                <a:solidFill>
                  <a:srgbClr val="1E3044"/>
                </a:solidFill>
                <a:latin typeface="Aptos"/>
              </a:rPr>
              <a:t>The loaded checkpoint returns a Real/Fake estimate and confidence; the API sends the result back to the UI.</a:t>
            </a:r>
          </a:p>
        </p:txBody>
      </p:sp>
      <p:sp>
        <p:nvSpPr>
          <p:cNvPr id="54" name="Oval 53"/>
          <p:cNvSpPr/>
          <p:nvPr/>
        </p:nvSpPr>
        <p:spPr>
          <a:xfrm>
            <a:off x="6309360" y="5609844"/>
            <a:ext cx="91440" cy="91440"/>
          </a:xfrm>
          <a:prstGeom prst="ellipse">
            <a:avLst/>
          </a:prstGeom>
          <a:solidFill>
            <a:srgbClr val="00AEDC"/>
          </a:solidFill>
          <a:ln>
            <a:solidFill>
              <a:srgbClr val="00A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510528" y="5500116"/>
            <a:ext cx="4809744" cy="388620"/>
          </a:xfrm>
          <a:prstGeom prst="rect">
            <a:avLst/>
          </a:prstGeom>
          <a:noFill/>
        </p:spPr>
        <p:txBody>
          <a:bodyPr wrap="square" lIns="54864" tIns="54864" rIns="54864" bIns="54864" anchor="t">
            <a:spAutoFit/>
          </a:bodyPr>
          <a:lstStyle/>
          <a:p>
            <a:pPr algn="l">
              <a:spcAft>
                <a:spcPts val="400"/>
              </a:spcAft>
            </a:pPr>
            <a:r>
              <a:rPr sz="1019" b="0" i="0">
                <a:solidFill>
                  <a:srgbClr val="1E3044"/>
                </a:solidFill>
                <a:latin typeface="Aptos"/>
              </a:rPr>
              <a:t>Begin with a tested local demo. Containerization or cloud hosting can follow after inference and resource testing.</a:t>
            </a:r>
          </a:p>
        </p:txBody>
      </p:sp>
      <p:sp>
        <p:nvSpPr>
          <p:cNvPr id="56" name="TextBox 55"/>
          <p:cNvSpPr txBox="1"/>
          <p:nvPr/>
        </p:nvSpPr>
        <p:spPr>
          <a:xfrm>
            <a:off x="6281928" y="6035040"/>
            <a:ext cx="5010912" cy="237744"/>
          </a:xfrm>
          <a:prstGeom prst="rect">
            <a:avLst/>
          </a:prstGeom>
          <a:noFill/>
        </p:spPr>
        <p:txBody>
          <a:bodyPr wrap="square" lIns="54864" tIns="54864" rIns="54864" bIns="54864" anchor="t">
            <a:spAutoFit/>
          </a:bodyPr>
          <a:lstStyle/>
          <a:p>
            <a:pPr algn="l">
              <a:spcAft>
                <a:spcPts val="400"/>
              </a:spcAft>
            </a:pPr>
            <a:r>
              <a:rPr sz="900" b="0" i="1">
                <a:solidFill>
                  <a:srgbClr val="536980"/>
                </a:solidFill>
                <a:latin typeface="Aptos"/>
              </a:rPr>
              <a:t>Streamlit + FastAPI are the planned demo architecture; deploy after the complete inference path is tested end-to-end.</a:t>
            </a:r>
          </a:p>
        </p:txBody>
      </p:sp>
      <p:sp>
        <p:nvSpPr>
          <p:cNvPr id="57" name="Rectangle 56"/>
          <p:cNvSpPr/>
          <p:nvPr/>
        </p:nvSpPr>
        <p:spPr>
          <a:xfrm>
            <a:off x="320040" y="6583680"/>
            <a:ext cx="11539728" cy="22860"/>
          </a:xfrm>
          <a:prstGeom prst="rect">
            <a:avLst/>
          </a:prstGeom>
          <a:solidFill>
            <a:srgbClr val="CADCEB"/>
          </a:solidFill>
          <a:ln>
            <a:solidFill>
              <a:srgbClr val="CA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84048" y="6601968"/>
            <a:ext cx="5852160" cy="146304"/>
          </a:xfrm>
          <a:prstGeom prst="rect">
            <a:avLst/>
          </a:prstGeom>
          <a:noFill/>
        </p:spPr>
        <p:txBody>
          <a:bodyPr wrap="square" lIns="0" tIns="0" rIns="0" bIns="0" anchor="t">
            <a:spAutoFit/>
          </a:bodyPr>
          <a:lstStyle/>
          <a:p>
            <a:pPr algn="l">
              <a:spcAft>
                <a:spcPts val="400"/>
              </a:spcAft>
            </a:pPr>
            <a:r>
              <a:rPr sz="800" b="1" i="0">
                <a:solidFill>
                  <a:srgbClr val="536980"/>
                </a:solidFill>
                <a:latin typeface="Aptos"/>
              </a:rPr>
              <a:t>MULTIMODAL DEEPFAKE AUTHENTICATION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3A89E"/>
          </a:solidFill>
          <a:ln/>
        </p:spPr>
        <p:txBody>
          <a:bodyPr/>
          <a:lstStyle/>
          <a:p>
            <a:endParaRPr lang="en-IN"/>
          </a:p>
        </p:txBody>
      </p:sp>
      <p:sp>
        <p:nvSpPr>
          <p:cNvPr id="5" name="Logo accent"/>
          <p:cNvSpPr/>
          <p:nvPr/>
        </p:nvSpPr>
        <p:spPr>
          <a:xfrm>
            <a:off x="914400" y="841248"/>
            <a:ext cx="822960" cy="45720"/>
          </a:xfrm>
          <a:prstGeom prst="rect">
            <a:avLst/>
          </a:prstGeom>
          <a:solidFill>
            <a:srgbClr val="13A89E"/>
          </a:solidFill>
          <a:ln/>
        </p:spPr>
        <p:txBody>
          <a:bodyPr/>
          <a:lstStyle/>
          <a:p>
            <a:endParaRPr lang="en-IN"/>
          </a:p>
        </p:txBody>
      </p:sp>
      <p:sp>
        <p:nvSpPr>
          <p:cNvPr id="6" name="Text 4"/>
          <p:cNvSpPr txBox="1"/>
          <p:nvPr/>
        </p:nvSpPr>
        <p:spPr>
          <a:xfrm>
            <a:off x="731520" y="1554480"/>
            <a:ext cx="7315200" cy="365760"/>
          </a:xfrm>
          <a:prstGeom prst="rect">
            <a:avLst/>
          </a:prstGeom>
          <a:noFill/>
          <a:ln/>
        </p:spPr>
        <p:txBody>
          <a:bodyPr wrap="square" lIns="0" tIns="0" rIns="0" bIns="0" rtlCol="0" anchor="ctr"/>
          <a:lstStyle/>
          <a:p>
            <a:pPr marL="0" indent="0">
              <a:buNone/>
            </a:pPr>
            <a:r>
              <a:rPr lang="en-US" sz="1400" b="1" kern="0" spc="400" dirty="0">
                <a:solidFill>
                  <a:srgbClr val="13A89E"/>
                </a:solidFill>
                <a:latin typeface="Calibri" pitchFamily="34" charset="0"/>
                <a:ea typeface="Calibri" pitchFamily="34" charset="-122"/>
                <a:cs typeface="Calibri" pitchFamily="34" charset="-120"/>
              </a:rPr>
              <a:t>FINAL PROJECT REVIEW</a:t>
            </a:r>
            <a:endParaRPr lang="en-US" sz="1400" dirty="0"/>
          </a:p>
        </p:txBody>
      </p:sp>
      <p:sp>
        <p:nvSpPr>
          <p:cNvPr id="7" name="Text 5"/>
          <p:cNvSpPr txBox="1"/>
          <p:nvPr/>
        </p:nvSpPr>
        <p:spPr>
          <a:xfrm>
            <a:off x="731520" y="2011680"/>
            <a:ext cx="7498080" cy="182880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Multi-Agent Autonomous Business Intelligence Platform</a:t>
            </a:r>
            <a:endParaRPr lang="en-US" sz="4000" dirty="0"/>
          </a:p>
        </p:txBody>
      </p:sp>
      <p:sp>
        <p:nvSpPr>
          <p:cNvPr id="8" name="Text 6"/>
          <p:cNvSpPr txBox="1"/>
          <p:nvPr/>
        </p:nvSpPr>
        <p:spPr>
          <a:xfrm>
            <a:off x="731520" y="3931920"/>
            <a:ext cx="7132320" cy="822960"/>
          </a:xfrm>
          <a:prstGeom prst="rect">
            <a:avLst/>
          </a:prstGeom>
          <a:noFill/>
          <a:ln/>
        </p:spPr>
        <p:txBody>
          <a:bodyPr wrap="square" lIns="0" tIns="0" rIns="0" bIns="0" rtlCol="0" anchor="ctr"/>
          <a:lstStyle/>
          <a:p>
            <a:pPr marL="0" indent="0">
              <a:buNone/>
            </a:pPr>
            <a:r>
              <a:rPr lang="en-US" sz="1600" dirty="0">
                <a:solidFill>
                  <a:srgbClr val="C9D6E4"/>
                </a:solidFill>
                <a:latin typeface="Calibri" pitchFamily="34" charset="0"/>
                <a:ea typeface="Calibri" pitchFamily="34" charset="-122"/>
                <a:cs typeface="Calibri" pitchFamily="34" charset="-120"/>
              </a:rPr>
              <a:t>Collaborating AI agents that turn raw business data into verified insights, forecasts and reports with minimal human effort.</a:t>
            </a:r>
            <a:endParaRPr lang="en-US" sz="1600" dirty="0"/>
          </a:p>
        </p:txBody>
      </p:sp>
      <p:sp>
        <p:nvSpPr>
          <p:cNvPr id="9" name="Shape 7"/>
          <p:cNvSpPr/>
          <p:nvPr/>
        </p:nvSpPr>
        <p:spPr>
          <a:xfrm>
            <a:off x="8503920" y="2011680"/>
            <a:ext cx="3200400" cy="2743200"/>
          </a:xfrm>
          <a:prstGeom prst="roundRect">
            <a:avLst>
              <a:gd name="adj" fmla="val 4000"/>
            </a:avLst>
          </a:prstGeom>
          <a:solidFill>
            <a:srgbClr val="FFFFFF"/>
          </a:solidFill>
          <a:ln/>
        </p:spPr>
        <p:txBody>
          <a:bodyPr/>
          <a:lstStyle/>
          <a:p>
            <a:endParaRPr lang="en-IN"/>
          </a:p>
        </p:txBody>
      </p:sp>
      <p:sp>
        <p:nvSpPr>
          <p:cNvPr id="10" name="Shape 8"/>
          <p:cNvSpPr/>
          <p:nvPr/>
        </p:nvSpPr>
        <p:spPr>
          <a:xfrm>
            <a:off x="8503920" y="2011680"/>
            <a:ext cx="91440" cy="2743200"/>
          </a:xfrm>
          <a:prstGeom prst="rect">
            <a:avLst/>
          </a:prstGeom>
          <a:solidFill>
            <a:srgbClr val="F28C28"/>
          </a:solidFill>
          <a:ln/>
        </p:spPr>
        <p:txBody>
          <a:bodyPr/>
          <a:lstStyle/>
          <a:p>
            <a:endParaRPr lang="en-IN"/>
          </a:p>
        </p:txBody>
      </p:sp>
      <p:sp>
        <p:nvSpPr>
          <p:cNvPr id="11" name="Text 9"/>
          <p:cNvSpPr txBox="1"/>
          <p:nvPr/>
        </p:nvSpPr>
        <p:spPr>
          <a:xfrm>
            <a:off x="8823960" y="2194560"/>
            <a:ext cx="2743200" cy="274320"/>
          </a:xfrm>
          <a:prstGeom prst="rect">
            <a:avLst/>
          </a:prstGeom>
          <a:noFill/>
          <a:ln/>
        </p:spPr>
        <p:txBody>
          <a:bodyPr wrap="square" lIns="0" tIns="0" rIns="0" bIns="0" rtlCol="0" anchor="ctr"/>
          <a:lstStyle/>
          <a:p>
            <a:pPr marL="0" indent="0">
              <a:buNone/>
            </a:pPr>
            <a:r>
              <a:rPr lang="en-US" sz="1100" b="1" kern="0" spc="300" dirty="0">
                <a:solidFill>
                  <a:srgbClr val="44546A"/>
                </a:solidFill>
                <a:latin typeface="Calibri" pitchFamily="34" charset="0"/>
                <a:ea typeface="Calibri" pitchFamily="34" charset="-122"/>
                <a:cs typeface="Calibri" pitchFamily="34" charset="-120"/>
              </a:rPr>
              <a:t>NAME</a:t>
            </a:r>
            <a:endParaRPr lang="en-US" sz="1100" dirty="0"/>
          </a:p>
        </p:txBody>
      </p:sp>
      <p:sp>
        <p:nvSpPr>
          <p:cNvPr id="12" name="Text 10"/>
          <p:cNvSpPr txBox="1"/>
          <p:nvPr/>
        </p:nvSpPr>
        <p:spPr>
          <a:xfrm>
            <a:off x="8823960" y="2468880"/>
            <a:ext cx="2743200" cy="411480"/>
          </a:xfrm>
          <a:prstGeom prst="rect">
            <a:avLst/>
          </a:prstGeom>
          <a:noFill/>
          <a:ln/>
        </p:spPr>
        <p:txBody>
          <a:bodyPr wrap="square" lIns="0" tIns="0" rIns="0" bIns="0" rtlCol="0" anchor="ctr"/>
          <a:lstStyle/>
          <a:p>
            <a:pPr marL="0" indent="0">
              <a:buNone/>
            </a:pPr>
            <a:r>
              <a:rPr lang="en-US" sz="2200" b="1" dirty="0">
                <a:solidFill>
                  <a:srgbClr val="0B2545"/>
                </a:solidFill>
                <a:latin typeface="Calibri" pitchFamily="34" charset="0"/>
                <a:ea typeface="Calibri" pitchFamily="34" charset="-122"/>
                <a:cs typeface="Calibri" pitchFamily="34" charset="-120"/>
              </a:rPr>
              <a:t>SHYAM.K</a:t>
            </a:r>
            <a:endParaRPr lang="en-US" sz="2200" dirty="0"/>
          </a:p>
        </p:txBody>
      </p:sp>
      <p:sp>
        <p:nvSpPr>
          <p:cNvPr id="13" name="Text 11"/>
          <p:cNvSpPr txBox="1"/>
          <p:nvPr/>
        </p:nvSpPr>
        <p:spPr>
          <a:xfrm>
            <a:off x="8823960" y="3017520"/>
            <a:ext cx="2743200" cy="274320"/>
          </a:xfrm>
          <a:prstGeom prst="rect">
            <a:avLst/>
          </a:prstGeom>
          <a:noFill/>
          <a:ln/>
        </p:spPr>
        <p:txBody>
          <a:bodyPr wrap="square" lIns="0" tIns="0" rIns="0" bIns="0" rtlCol="0" anchor="ctr"/>
          <a:lstStyle/>
          <a:p>
            <a:pPr marL="0" indent="0">
              <a:buNone/>
            </a:pPr>
            <a:r>
              <a:rPr lang="en-US" sz="1100" b="1" kern="0" spc="300" dirty="0">
                <a:solidFill>
                  <a:srgbClr val="44546A"/>
                </a:solidFill>
                <a:latin typeface="Calibri" pitchFamily="34" charset="0"/>
                <a:ea typeface="Calibri" pitchFamily="34" charset="-122"/>
                <a:cs typeface="Calibri" pitchFamily="34" charset="-120"/>
              </a:rPr>
              <a:t>ID</a:t>
            </a:r>
            <a:endParaRPr lang="en-US" sz="1100" dirty="0"/>
          </a:p>
        </p:txBody>
      </p:sp>
      <p:sp>
        <p:nvSpPr>
          <p:cNvPr id="14" name="Text 12"/>
          <p:cNvSpPr txBox="1"/>
          <p:nvPr/>
        </p:nvSpPr>
        <p:spPr>
          <a:xfrm>
            <a:off x="8823960" y="3291840"/>
            <a:ext cx="2743200" cy="411480"/>
          </a:xfrm>
          <a:prstGeom prst="rect">
            <a:avLst/>
          </a:prstGeom>
          <a:noFill/>
          <a:ln/>
        </p:spPr>
        <p:txBody>
          <a:bodyPr wrap="square" lIns="0" tIns="0" rIns="0" bIns="0" rtlCol="0" anchor="ctr"/>
          <a:lstStyle/>
          <a:p>
            <a:pPr marL="0" indent="0">
              <a:buNone/>
            </a:pPr>
            <a:r>
              <a:rPr lang="en-US" sz="2200" b="1" dirty="0">
                <a:solidFill>
                  <a:srgbClr val="0B2545"/>
                </a:solidFill>
                <a:latin typeface="Calibri" pitchFamily="34" charset="0"/>
                <a:ea typeface="Calibri" pitchFamily="34" charset="-122"/>
                <a:cs typeface="Calibri" pitchFamily="34" charset="-120"/>
              </a:rPr>
              <a:t>T9935</a:t>
            </a:r>
            <a:endParaRPr lang="en-US" sz="2200" dirty="0"/>
          </a:p>
        </p:txBody>
      </p:sp>
      <p:sp>
        <p:nvSpPr>
          <p:cNvPr id="15" name="Text 13"/>
          <p:cNvSpPr txBox="1"/>
          <p:nvPr/>
        </p:nvSpPr>
        <p:spPr>
          <a:xfrm>
            <a:off x="8823960" y="3840480"/>
            <a:ext cx="2743200" cy="274320"/>
          </a:xfrm>
          <a:prstGeom prst="rect">
            <a:avLst/>
          </a:prstGeom>
          <a:noFill/>
          <a:ln/>
        </p:spPr>
        <p:txBody>
          <a:bodyPr wrap="square" lIns="0" tIns="0" rIns="0" bIns="0" rtlCol="0" anchor="ctr"/>
          <a:lstStyle/>
          <a:p>
            <a:pPr marL="0" indent="0">
              <a:buNone/>
            </a:pPr>
            <a:r>
              <a:rPr lang="en-US" sz="1100" b="1" kern="0" spc="300" dirty="0">
                <a:solidFill>
                  <a:srgbClr val="44546A"/>
                </a:solidFill>
                <a:latin typeface="Calibri" pitchFamily="34" charset="0"/>
                <a:ea typeface="Calibri" pitchFamily="34" charset="-122"/>
                <a:cs typeface="Calibri" pitchFamily="34" charset="-120"/>
              </a:rPr>
              <a:t>REVIEW</a:t>
            </a:r>
            <a:endParaRPr lang="en-US" sz="1100" dirty="0"/>
          </a:p>
        </p:txBody>
      </p:sp>
      <p:sp>
        <p:nvSpPr>
          <p:cNvPr id="16" name="Text 14"/>
          <p:cNvSpPr txBox="1"/>
          <p:nvPr/>
        </p:nvSpPr>
        <p:spPr>
          <a:xfrm>
            <a:off x="8823960" y="4114800"/>
            <a:ext cx="2743200" cy="411480"/>
          </a:xfrm>
          <a:prstGeom prst="rect">
            <a:avLst/>
          </a:prstGeom>
          <a:noFill/>
          <a:ln/>
        </p:spPr>
        <p:txBody>
          <a:bodyPr wrap="square" lIns="0" tIns="0" rIns="0" bIns="0" rtlCol="0" anchor="ctr"/>
          <a:lstStyle/>
          <a:p>
            <a:pPr marL="0" indent="0">
              <a:buNone/>
            </a:pPr>
            <a:r>
              <a:rPr lang="en-US" sz="2200" b="1" dirty="0">
                <a:solidFill>
                  <a:srgbClr val="0B2545"/>
                </a:solidFill>
                <a:latin typeface="Calibri" pitchFamily="34" charset="0"/>
                <a:ea typeface="Calibri" pitchFamily="34" charset="-122"/>
                <a:cs typeface="Calibri" pitchFamily="34" charset="-120"/>
              </a:rPr>
              <a:t>Review 3</a:t>
            </a:r>
            <a:endParaRPr lang="en-US" sz="2200" dirty="0"/>
          </a:p>
        </p:txBody>
      </p:sp>
      <p:pic>
        <p:nvPicPr>
          <p:cNvPr id="17" name="Picture 16" descr="LTIMindtree Introduces New Brand Identity and Positioning ...">
            <a:extLst>
              <a:ext uri="{FF2B5EF4-FFF2-40B4-BE49-F238E27FC236}">
                <a16:creationId xmlns:a16="http://schemas.microsoft.com/office/drawing/2014/main" id="{9781461A-184D-E559-A522-580303F50466}"/>
              </a:ext>
            </a:extLst>
          </p:cNvPr>
          <p:cNvPicPr>
            <a:picLocks noChangeAspect="1"/>
          </p:cNvPicPr>
          <p:nvPr/>
        </p:nvPicPr>
        <p:blipFill>
          <a:blip r:embed="rId3"/>
          <a:stretch>
            <a:fillRect/>
          </a:stretch>
        </p:blipFill>
        <p:spPr>
          <a:xfrm>
            <a:off x="914400" y="53340"/>
            <a:ext cx="2438400" cy="1409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p:spPr>
        <p:txBody>
          <a:bodyPr/>
          <a:lstStyle/>
          <a:p>
            <a:endParaRPr lang="en-IN"/>
          </a:p>
        </p:txBody>
      </p:sp>
      <p:sp>
        <p:nvSpPr>
          <p:cNvPr id="3" name="Text 1"/>
          <p:cNvSpPr txBox="1"/>
          <p:nvPr/>
        </p:nvSpPr>
        <p:spPr>
          <a:xfrm>
            <a:off x="548640" y="137160"/>
            <a:ext cx="969264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Introduction</a:t>
            </a:r>
            <a:endParaRPr lang="en-US" sz="2800" dirty="0"/>
          </a:p>
        </p:txBody>
      </p:sp>
      <p:sp>
        <p:nvSpPr>
          <p:cNvPr id="6" name="Logo accent"/>
          <p:cNvSpPr/>
          <p:nvPr/>
        </p:nvSpPr>
        <p:spPr>
          <a:xfrm>
            <a:off x="10698480" y="658368"/>
            <a:ext cx="822960" cy="45720"/>
          </a:xfrm>
          <a:prstGeom prst="rect">
            <a:avLst/>
          </a:prstGeom>
          <a:solidFill>
            <a:srgbClr val="13A89E"/>
          </a:solidFill>
          <a:ln/>
        </p:spPr>
        <p:txBody>
          <a:bodyPr/>
          <a:lstStyle/>
          <a:p>
            <a:endParaRPr lang="en-IN"/>
          </a:p>
        </p:txBody>
      </p:sp>
      <p:sp>
        <p:nvSpPr>
          <p:cNvPr id="7" name="Text 5"/>
          <p:cNvSpPr txBox="1"/>
          <p:nvPr/>
        </p:nvSpPr>
        <p:spPr>
          <a:xfrm>
            <a:off x="548640" y="6473952"/>
            <a:ext cx="10058400" cy="274320"/>
          </a:xfrm>
          <a:prstGeom prst="rect">
            <a:avLst/>
          </a:prstGeom>
          <a:noFill/>
          <a:ln/>
        </p:spPr>
        <p:txBody>
          <a:bodyPr wrap="square" lIns="0" tIns="0" rIns="0" bIns="0" rtlCol="0" anchor="ctr"/>
          <a:lstStyle/>
          <a:p>
            <a:pPr marL="0" indent="0">
              <a:buNone/>
            </a:pPr>
            <a:r>
              <a:rPr lang="en-US" sz="1000" dirty="0">
                <a:solidFill>
                  <a:srgbClr val="44546A"/>
                </a:solidFill>
                <a:latin typeface="Calibri" pitchFamily="34" charset="0"/>
                <a:ea typeface="Calibri" pitchFamily="34" charset="-122"/>
                <a:cs typeface="Calibri" pitchFamily="34" charset="-120"/>
              </a:rPr>
              <a:t>Multi-Agent Autonomous Business Intelligence Platform  |  SHYAM.K  |  T9935  |  Review 3</a:t>
            </a:r>
            <a:endParaRPr lang="en-US" sz="1000" dirty="0"/>
          </a:p>
        </p:txBody>
      </p:sp>
      <p:sp>
        <p:nvSpPr>
          <p:cNvPr id="8" name="Text 6"/>
          <p:cNvSpPr txBox="1"/>
          <p:nvPr/>
        </p:nvSpPr>
        <p:spPr>
          <a:xfrm>
            <a:off x="11155680" y="6473952"/>
            <a:ext cx="548640" cy="274320"/>
          </a:xfrm>
          <a:prstGeom prst="rect">
            <a:avLst/>
          </a:prstGeom>
          <a:noFill/>
          <a:ln/>
        </p:spPr>
        <p:txBody>
          <a:bodyPr wrap="square" lIns="0" tIns="0" rIns="0" bIns="0" rtlCol="0" anchor="ctr"/>
          <a:lstStyle/>
          <a:p>
            <a:pPr marL="0" indent="0" algn="r">
              <a:buNone/>
            </a:pPr>
            <a:r>
              <a:rPr lang="en-US" sz="1000" dirty="0">
                <a:solidFill>
                  <a:srgbClr val="44546A"/>
                </a:solidFill>
                <a:latin typeface="Calibri" pitchFamily="34" charset="0"/>
                <a:ea typeface="Calibri" pitchFamily="34" charset="-122"/>
                <a:cs typeface="Calibri" pitchFamily="34" charset="-120"/>
              </a:rPr>
              <a:t>2</a:t>
            </a:r>
            <a:endParaRPr lang="en-US" sz="1000" dirty="0"/>
          </a:p>
        </p:txBody>
      </p:sp>
      <p:sp>
        <p:nvSpPr>
          <p:cNvPr id="9" name="Text 7"/>
          <p:cNvSpPr txBox="1"/>
          <p:nvPr/>
        </p:nvSpPr>
        <p:spPr>
          <a:xfrm>
            <a:off x="548640" y="1280160"/>
            <a:ext cx="7223760" cy="5029200"/>
          </a:xfrm>
          <a:prstGeom prst="rect">
            <a:avLst/>
          </a:prstGeom>
          <a:noFill/>
          <a:ln/>
        </p:spPr>
        <p:txBody>
          <a:bodyPr wrap="square" lIns="0" tIns="0" rIns="0" bIns="0" rtlCol="0" anchor="t"/>
          <a:lstStyle/>
          <a:p>
            <a:pPr marL="203200" indent="-203200">
              <a:spcAft>
                <a:spcPts val="1600"/>
              </a:spcAft>
              <a:buSzPct val="100000"/>
              <a:buChar char="•"/>
            </a:pPr>
            <a:r>
              <a:rPr lang="en-US" sz="1700" b="1" dirty="0">
                <a:solidFill>
                  <a:srgbClr val="0B2545"/>
                </a:solidFill>
                <a:latin typeface="Calibri" pitchFamily="34" charset="0"/>
                <a:ea typeface="Calibri" pitchFamily="34" charset="-122"/>
                <a:cs typeface="Calibri" pitchFamily="34" charset="-120"/>
              </a:rPr>
              <a:t>Context: </a:t>
            </a:r>
            <a:r>
              <a:rPr lang="en-US" sz="1700" dirty="0">
                <a:solidFill>
                  <a:srgbClr val="2B2B2B"/>
                </a:solidFill>
                <a:latin typeface="Calibri" pitchFamily="34" charset="0"/>
                <a:ea typeface="Calibri" pitchFamily="34" charset="-122"/>
                <a:cs typeface="Calibri" pitchFamily="34" charset="-120"/>
              </a:rPr>
              <a:t>Organisations generate huge volumes of data across databases, spreadsheets and APIs, yet most decisions still wait on analysts who must clean the data, write queries, build dashboards and explain the results by hand.</a:t>
            </a:r>
            <a:endParaRPr lang="en-US" sz="1700" dirty="0"/>
          </a:p>
          <a:p>
            <a:pPr marL="203200" indent="-203200">
              <a:spcAft>
                <a:spcPts val="1600"/>
              </a:spcAft>
              <a:buSzPct val="100000"/>
              <a:buChar char="•"/>
            </a:pPr>
            <a:r>
              <a:rPr lang="en-US" sz="1700" b="1" dirty="0">
                <a:solidFill>
                  <a:srgbClr val="0B2545"/>
                </a:solidFill>
                <a:latin typeface="Calibri" pitchFamily="34" charset="0"/>
                <a:ea typeface="Calibri" pitchFamily="34" charset="-122"/>
                <a:cs typeface="Calibri" pitchFamily="34" charset="-120"/>
              </a:rPr>
              <a:t>The idea: </a:t>
            </a:r>
            <a:r>
              <a:rPr lang="en-US" sz="1700" dirty="0">
                <a:solidFill>
                  <a:srgbClr val="2B2B2B"/>
                </a:solidFill>
                <a:latin typeface="Calibri" pitchFamily="34" charset="0"/>
                <a:ea typeface="Calibri" pitchFamily="34" charset="-122"/>
                <a:cs typeface="Calibri" pitchFamily="34" charset="-120"/>
              </a:rPr>
              <a:t>This project builds a platform where a team of specialised AI agents (ingestion, cleaning, analysis, forecasting, visualisation and reporting) work together under a central orchestrator to perform that entire workflow autonomously.</a:t>
            </a:r>
            <a:endParaRPr lang="en-US" sz="1700" dirty="0"/>
          </a:p>
          <a:p>
            <a:pPr marL="203200" indent="-203200">
              <a:spcAft>
                <a:spcPts val="1600"/>
              </a:spcAft>
              <a:buSzPct val="100000"/>
              <a:buChar char="•"/>
            </a:pPr>
            <a:r>
              <a:rPr lang="en-US" sz="1700" b="1" dirty="0">
                <a:solidFill>
                  <a:srgbClr val="0B2545"/>
                </a:solidFill>
                <a:latin typeface="Calibri" pitchFamily="34" charset="0"/>
                <a:ea typeface="Calibri" pitchFamily="34" charset="-122"/>
                <a:cs typeface="Calibri" pitchFamily="34" charset="-120"/>
              </a:rPr>
              <a:t>How users interact: </a:t>
            </a:r>
            <a:r>
              <a:rPr lang="en-US" sz="1700" dirty="0">
                <a:solidFill>
                  <a:srgbClr val="2B2B2B"/>
                </a:solidFill>
                <a:latin typeface="Calibri" pitchFamily="34" charset="0"/>
                <a:ea typeface="Calibri" pitchFamily="34" charset="-122"/>
                <a:cs typeface="Calibri" pitchFamily="34" charset="-120"/>
              </a:rPr>
              <a:t>A business user asks a question in plain English, such as "Why did Q3 revenue drop in the south region?". The agents plan the steps, fetch and prepare data, run the analysis and return charts with a written explanation.</a:t>
            </a:r>
            <a:endParaRPr lang="en-US" sz="1700" dirty="0"/>
          </a:p>
          <a:p>
            <a:pPr marL="203200" indent="-203200">
              <a:spcAft>
                <a:spcPts val="1600"/>
              </a:spcAft>
              <a:buSzPct val="100000"/>
              <a:buChar char="•"/>
            </a:pPr>
            <a:r>
              <a:rPr lang="en-US" sz="1700" b="1" dirty="0">
                <a:solidFill>
                  <a:srgbClr val="0B2545"/>
                </a:solidFill>
                <a:latin typeface="Calibri" pitchFamily="34" charset="0"/>
                <a:ea typeface="Calibri" pitchFamily="34" charset="-122"/>
                <a:cs typeface="Calibri" pitchFamily="34" charset="-120"/>
              </a:rPr>
              <a:t>Why multi-agent: </a:t>
            </a:r>
            <a:r>
              <a:rPr lang="en-US" sz="1700" dirty="0">
                <a:solidFill>
                  <a:srgbClr val="2B2B2B"/>
                </a:solidFill>
                <a:latin typeface="Calibri" pitchFamily="34" charset="0"/>
                <a:ea typeface="Calibri" pitchFamily="34" charset="-122"/>
                <a:cs typeface="Calibri" pitchFamily="34" charset="-120"/>
              </a:rPr>
              <a:t>Splitting the work across focused agents keeps each prompt simple, lets agents use specialised tools, allows parallel execution, and lets a validator agent check every result before it reaches the user.</a:t>
            </a:r>
            <a:endParaRPr lang="en-US" sz="1700" dirty="0"/>
          </a:p>
          <a:p>
            <a:pPr marL="203200" indent="-203200">
              <a:spcAft>
                <a:spcPts val="1600"/>
              </a:spcAft>
              <a:buSzPct val="100000"/>
              <a:buChar char="•"/>
            </a:pPr>
            <a:r>
              <a:rPr lang="en-US" sz="1700" b="1" dirty="0">
                <a:solidFill>
                  <a:srgbClr val="0B2545"/>
                </a:solidFill>
                <a:latin typeface="Calibri" pitchFamily="34" charset="0"/>
                <a:ea typeface="Calibri" pitchFamily="34" charset="-122"/>
                <a:cs typeface="Calibri" pitchFamily="34" charset="-120"/>
              </a:rPr>
              <a:t>Outcome: </a:t>
            </a:r>
            <a:r>
              <a:rPr lang="en-US" sz="1700" dirty="0">
                <a:solidFill>
                  <a:srgbClr val="2B2B2B"/>
                </a:solidFill>
                <a:latin typeface="Calibri" pitchFamily="34" charset="0"/>
                <a:ea typeface="Calibri" pitchFamily="34" charset="-122"/>
                <a:cs typeface="Calibri" pitchFamily="34" charset="-120"/>
              </a:rPr>
              <a:t>Faster time-to-insight, lower dependence on technical staff, consistent and auditable analysis, and a system that can be extended with new agents without redesigning the whole pipeline.</a:t>
            </a:r>
            <a:endParaRPr lang="en-US" sz="1700" dirty="0"/>
          </a:p>
        </p:txBody>
      </p:sp>
      <p:sp>
        <p:nvSpPr>
          <p:cNvPr id="10" name="Shape 8"/>
          <p:cNvSpPr/>
          <p:nvPr/>
        </p:nvSpPr>
        <p:spPr>
          <a:xfrm>
            <a:off x="8138160" y="1280160"/>
            <a:ext cx="3520440" cy="4937760"/>
          </a:xfrm>
          <a:prstGeom prst="roundRect">
            <a:avLst>
              <a:gd name="adj" fmla="val 2597"/>
            </a:avLst>
          </a:prstGeom>
          <a:solidFill>
            <a:srgbClr val="F2F6FA"/>
          </a:solidFill>
          <a:ln/>
        </p:spPr>
        <p:txBody>
          <a:bodyPr/>
          <a:lstStyle/>
          <a:p>
            <a:endParaRPr lang="en-IN"/>
          </a:p>
        </p:txBody>
      </p:sp>
      <p:sp>
        <p:nvSpPr>
          <p:cNvPr id="11" name="Text 9"/>
          <p:cNvSpPr txBox="1"/>
          <p:nvPr/>
        </p:nvSpPr>
        <p:spPr>
          <a:xfrm>
            <a:off x="8366760" y="1417320"/>
            <a:ext cx="3108960" cy="365760"/>
          </a:xfrm>
          <a:prstGeom prst="rect">
            <a:avLst/>
          </a:prstGeom>
          <a:noFill/>
          <a:ln/>
        </p:spPr>
        <p:txBody>
          <a:bodyPr wrap="square" lIns="0" tIns="0" rIns="0" bIns="0" rtlCol="0" anchor="ctr"/>
          <a:lstStyle/>
          <a:p>
            <a:pPr marL="0" indent="0">
              <a:buNone/>
            </a:pPr>
            <a:r>
              <a:rPr lang="en-US" sz="1700" b="1" dirty="0">
                <a:solidFill>
                  <a:srgbClr val="13A89E"/>
                </a:solidFill>
                <a:latin typeface="Calibri" pitchFamily="34" charset="0"/>
                <a:ea typeface="Calibri" pitchFamily="34" charset="-122"/>
                <a:cs typeface="Calibri" pitchFamily="34" charset="-120"/>
              </a:rPr>
              <a:t>Key Objectives</a:t>
            </a:r>
            <a:endParaRPr lang="en-US" sz="1700" dirty="0"/>
          </a:p>
        </p:txBody>
      </p:sp>
      <p:sp>
        <p:nvSpPr>
          <p:cNvPr id="12" name="Text 10"/>
          <p:cNvSpPr txBox="1"/>
          <p:nvPr/>
        </p:nvSpPr>
        <p:spPr>
          <a:xfrm>
            <a:off x="8366760" y="1874520"/>
            <a:ext cx="3108960" cy="4206240"/>
          </a:xfrm>
          <a:prstGeom prst="rect">
            <a:avLst/>
          </a:prstGeom>
          <a:noFill/>
          <a:ln/>
        </p:spPr>
        <p:txBody>
          <a:bodyPr wrap="square" lIns="0" tIns="0" rIns="0" bIns="0" rtlCol="0" anchor="t"/>
          <a:lstStyle/>
          <a:p>
            <a:pPr marL="203200" indent="-203200">
              <a:spcAft>
                <a:spcPts val="1600"/>
              </a:spcAft>
              <a:buSzPct val="100000"/>
              <a:buChar char="•"/>
            </a:pPr>
            <a:r>
              <a:rPr lang="en-US" sz="1450" b="1" dirty="0">
                <a:solidFill>
                  <a:srgbClr val="0B2545"/>
                </a:solidFill>
                <a:latin typeface="Calibri" pitchFamily="34" charset="0"/>
                <a:ea typeface="Calibri" pitchFamily="34" charset="-122"/>
                <a:cs typeface="Calibri" pitchFamily="34" charset="-120"/>
              </a:rPr>
              <a:t>Automate </a:t>
            </a:r>
            <a:r>
              <a:rPr lang="en-US" sz="1450" dirty="0">
                <a:solidFill>
                  <a:srgbClr val="2B2B2B"/>
                </a:solidFill>
                <a:latin typeface="Calibri" pitchFamily="34" charset="0"/>
                <a:ea typeface="Calibri" pitchFamily="34" charset="-122"/>
                <a:cs typeface="Calibri" pitchFamily="34" charset="-120"/>
              </a:rPr>
              <a:t>the full data-to-decision pipeline end to end.</a:t>
            </a:r>
            <a:endParaRPr lang="en-US" sz="1450" dirty="0"/>
          </a:p>
          <a:p>
            <a:pPr marL="203200" indent="-203200">
              <a:spcAft>
                <a:spcPts val="1600"/>
              </a:spcAft>
              <a:buSzPct val="100000"/>
              <a:buChar char="•"/>
            </a:pPr>
            <a:r>
              <a:rPr lang="en-US" sz="1450" b="1" dirty="0">
                <a:solidFill>
                  <a:srgbClr val="0B2545"/>
                </a:solidFill>
                <a:latin typeface="Calibri" pitchFamily="34" charset="0"/>
                <a:ea typeface="Calibri" pitchFamily="34" charset="-122"/>
                <a:cs typeface="Calibri" pitchFamily="34" charset="-120"/>
              </a:rPr>
              <a:t>Enable </a:t>
            </a:r>
            <a:r>
              <a:rPr lang="en-US" sz="1450" dirty="0">
                <a:solidFill>
                  <a:srgbClr val="2B2B2B"/>
                </a:solidFill>
                <a:latin typeface="Calibri" pitchFamily="34" charset="0"/>
                <a:ea typeface="Calibri" pitchFamily="34" charset="-122"/>
                <a:cs typeface="Calibri" pitchFamily="34" charset="-120"/>
              </a:rPr>
              <a:t>natural-language querying for non-technical users.</a:t>
            </a:r>
            <a:endParaRPr lang="en-US" sz="1450" dirty="0"/>
          </a:p>
          <a:p>
            <a:pPr marL="203200" indent="-203200">
              <a:spcAft>
                <a:spcPts val="1600"/>
              </a:spcAft>
              <a:buSzPct val="100000"/>
              <a:buChar char="•"/>
            </a:pPr>
            <a:r>
              <a:rPr lang="en-US" sz="1450" b="1" dirty="0">
                <a:solidFill>
                  <a:srgbClr val="0B2545"/>
                </a:solidFill>
                <a:latin typeface="Calibri" pitchFamily="34" charset="0"/>
                <a:ea typeface="Calibri" pitchFamily="34" charset="-122"/>
                <a:cs typeface="Calibri" pitchFamily="34" charset="-120"/>
              </a:rPr>
              <a:t>Ensure trust </a:t>
            </a:r>
            <a:r>
              <a:rPr lang="en-US" sz="1450" dirty="0">
                <a:solidFill>
                  <a:srgbClr val="2B2B2B"/>
                </a:solidFill>
                <a:latin typeface="Calibri" pitchFamily="34" charset="0"/>
                <a:ea typeface="Calibri" pitchFamily="34" charset="-122"/>
                <a:cs typeface="Calibri" pitchFamily="34" charset="-120"/>
              </a:rPr>
              <a:t>through validation, source tracing and guardrails.</a:t>
            </a:r>
            <a:endParaRPr lang="en-US" sz="1450" dirty="0"/>
          </a:p>
          <a:p>
            <a:pPr marL="203200" indent="-203200">
              <a:spcAft>
                <a:spcPts val="1600"/>
              </a:spcAft>
              <a:buSzPct val="100000"/>
              <a:buChar char="•"/>
            </a:pPr>
            <a:r>
              <a:rPr lang="en-US" sz="1450" b="1" dirty="0">
                <a:solidFill>
                  <a:srgbClr val="0B2545"/>
                </a:solidFill>
                <a:latin typeface="Calibri" pitchFamily="34" charset="0"/>
                <a:ea typeface="Calibri" pitchFamily="34" charset="-122"/>
                <a:cs typeface="Calibri" pitchFamily="34" charset="-120"/>
              </a:rPr>
              <a:t>Deliver </a:t>
            </a:r>
            <a:r>
              <a:rPr lang="en-US" sz="1450" dirty="0">
                <a:solidFill>
                  <a:srgbClr val="2B2B2B"/>
                </a:solidFill>
                <a:latin typeface="Calibri" pitchFamily="34" charset="0"/>
                <a:ea typeface="Calibri" pitchFamily="34" charset="-122"/>
                <a:cs typeface="Calibri" pitchFamily="34" charset="-120"/>
              </a:rPr>
              <a:t>forecasts and proactive alerts, not just static reports.</a:t>
            </a:r>
            <a:endParaRPr lang="en-US" sz="1450" dirty="0"/>
          </a:p>
          <a:p>
            <a:pPr marL="203200" indent="-203200">
              <a:spcAft>
                <a:spcPts val="1600"/>
              </a:spcAft>
              <a:buSzPct val="100000"/>
              <a:buChar char="•"/>
            </a:pPr>
            <a:r>
              <a:rPr lang="en-US" sz="1450" b="1" dirty="0">
                <a:solidFill>
                  <a:srgbClr val="0B2545"/>
                </a:solidFill>
                <a:latin typeface="Calibri" pitchFamily="34" charset="0"/>
                <a:ea typeface="Calibri" pitchFamily="34" charset="-122"/>
                <a:cs typeface="Calibri" pitchFamily="34" charset="-120"/>
              </a:rPr>
              <a:t>Stay modular </a:t>
            </a:r>
            <a:r>
              <a:rPr lang="en-US" sz="1450" dirty="0">
                <a:solidFill>
                  <a:srgbClr val="2B2B2B"/>
                </a:solidFill>
                <a:latin typeface="Calibri" pitchFamily="34" charset="0"/>
                <a:ea typeface="Calibri" pitchFamily="34" charset="-122"/>
                <a:cs typeface="Calibri" pitchFamily="34" charset="-120"/>
              </a:rPr>
              <a:t>so agents and data sources can be added easily.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p:spPr>
        <p:txBody>
          <a:bodyPr/>
          <a:lstStyle/>
          <a:p>
            <a:endParaRPr lang="en-IN"/>
          </a:p>
        </p:txBody>
      </p:sp>
      <p:sp>
        <p:nvSpPr>
          <p:cNvPr id="3" name="Text 1"/>
          <p:cNvSpPr txBox="1"/>
          <p:nvPr/>
        </p:nvSpPr>
        <p:spPr>
          <a:xfrm>
            <a:off x="548640" y="137160"/>
            <a:ext cx="969264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Problem Statement &amp; How This Project Is Different</a:t>
            </a:r>
            <a:endParaRPr lang="en-US" sz="2800" dirty="0"/>
          </a:p>
        </p:txBody>
      </p:sp>
      <p:sp>
        <p:nvSpPr>
          <p:cNvPr id="6" name="Logo accent"/>
          <p:cNvSpPr/>
          <p:nvPr/>
        </p:nvSpPr>
        <p:spPr>
          <a:xfrm>
            <a:off x="10698480" y="658368"/>
            <a:ext cx="822960" cy="45720"/>
          </a:xfrm>
          <a:prstGeom prst="rect">
            <a:avLst/>
          </a:prstGeom>
          <a:solidFill>
            <a:srgbClr val="13A89E"/>
          </a:solidFill>
          <a:ln/>
        </p:spPr>
        <p:txBody>
          <a:bodyPr/>
          <a:lstStyle/>
          <a:p>
            <a:endParaRPr lang="en-IN"/>
          </a:p>
        </p:txBody>
      </p:sp>
      <p:sp>
        <p:nvSpPr>
          <p:cNvPr id="7" name="Text 5"/>
          <p:cNvSpPr txBox="1"/>
          <p:nvPr/>
        </p:nvSpPr>
        <p:spPr>
          <a:xfrm>
            <a:off x="548640" y="6473952"/>
            <a:ext cx="10058400" cy="274320"/>
          </a:xfrm>
          <a:prstGeom prst="rect">
            <a:avLst/>
          </a:prstGeom>
          <a:noFill/>
          <a:ln/>
        </p:spPr>
        <p:txBody>
          <a:bodyPr wrap="square" lIns="0" tIns="0" rIns="0" bIns="0" rtlCol="0" anchor="ctr"/>
          <a:lstStyle/>
          <a:p>
            <a:pPr marL="0" indent="0">
              <a:buNone/>
            </a:pPr>
            <a:r>
              <a:rPr lang="en-US" sz="1000" dirty="0">
                <a:solidFill>
                  <a:srgbClr val="44546A"/>
                </a:solidFill>
                <a:latin typeface="Calibri" pitchFamily="34" charset="0"/>
                <a:ea typeface="Calibri" pitchFamily="34" charset="-122"/>
                <a:cs typeface="Calibri" pitchFamily="34" charset="-120"/>
              </a:rPr>
              <a:t>Multi-Agent Autonomous Business Intelligence Platform  |  SHYAM.K  |  T9935  |  Review 3</a:t>
            </a:r>
            <a:endParaRPr lang="en-US" sz="1000" dirty="0"/>
          </a:p>
        </p:txBody>
      </p:sp>
      <p:sp>
        <p:nvSpPr>
          <p:cNvPr id="8" name="Text 6"/>
          <p:cNvSpPr txBox="1"/>
          <p:nvPr/>
        </p:nvSpPr>
        <p:spPr>
          <a:xfrm>
            <a:off x="11155680" y="6473952"/>
            <a:ext cx="548640" cy="274320"/>
          </a:xfrm>
          <a:prstGeom prst="rect">
            <a:avLst/>
          </a:prstGeom>
          <a:noFill/>
          <a:ln/>
        </p:spPr>
        <p:txBody>
          <a:bodyPr wrap="square" lIns="0" tIns="0" rIns="0" bIns="0" rtlCol="0" anchor="ctr"/>
          <a:lstStyle/>
          <a:p>
            <a:pPr marL="0" indent="0" algn="r">
              <a:buNone/>
            </a:pPr>
            <a:r>
              <a:rPr lang="en-US" sz="1000" dirty="0">
                <a:solidFill>
                  <a:srgbClr val="44546A"/>
                </a:solidFill>
                <a:latin typeface="Calibri" pitchFamily="34" charset="0"/>
                <a:ea typeface="Calibri" pitchFamily="34" charset="-122"/>
                <a:cs typeface="Calibri" pitchFamily="34" charset="-120"/>
              </a:rPr>
              <a:t>3</a:t>
            </a:r>
            <a:endParaRPr lang="en-US" sz="1000" dirty="0"/>
          </a:p>
        </p:txBody>
      </p:sp>
      <p:sp>
        <p:nvSpPr>
          <p:cNvPr id="9" name="Shape 7"/>
          <p:cNvSpPr/>
          <p:nvPr/>
        </p:nvSpPr>
        <p:spPr>
          <a:xfrm>
            <a:off x="548640" y="1234440"/>
            <a:ext cx="5440680" cy="411480"/>
          </a:xfrm>
          <a:prstGeom prst="roundRect">
            <a:avLst>
              <a:gd name="adj" fmla="val 13333"/>
            </a:avLst>
          </a:prstGeom>
          <a:solidFill>
            <a:srgbClr val="F28C28"/>
          </a:solidFill>
          <a:ln/>
        </p:spPr>
        <p:txBody>
          <a:bodyPr/>
          <a:lstStyle/>
          <a:p>
            <a:endParaRPr lang="en-IN"/>
          </a:p>
        </p:txBody>
      </p:sp>
      <p:sp>
        <p:nvSpPr>
          <p:cNvPr id="10" name="Text 8"/>
          <p:cNvSpPr txBox="1"/>
          <p:nvPr/>
        </p:nvSpPr>
        <p:spPr>
          <a:xfrm>
            <a:off x="685800" y="1234440"/>
            <a:ext cx="512064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Problem</a:t>
            </a:r>
            <a:endParaRPr lang="en-US" sz="1600" dirty="0"/>
          </a:p>
        </p:txBody>
      </p:sp>
      <p:sp>
        <p:nvSpPr>
          <p:cNvPr id="11" name="Text 9"/>
          <p:cNvSpPr txBox="1"/>
          <p:nvPr/>
        </p:nvSpPr>
        <p:spPr>
          <a:xfrm>
            <a:off x="548640" y="1783080"/>
            <a:ext cx="5440680" cy="4526280"/>
          </a:xfrm>
          <a:prstGeom prst="rect">
            <a:avLst/>
          </a:prstGeom>
          <a:noFill/>
          <a:ln/>
        </p:spPr>
        <p:txBody>
          <a:bodyPr wrap="square" lIns="0" tIns="0" rIns="0" bIns="0" rtlCol="0" anchor="t"/>
          <a:lstStyle/>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Slow insight cycle: </a:t>
            </a:r>
            <a:r>
              <a:rPr lang="en-US" sz="1550" dirty="0">
                <a:solidFill>
                  <a:srgbClr val="2B2B2B"/>
                </a:solidFill>
                <a:latin typeface="Calibri" pitchFamily="34" charset="0"/>
                <a:ea typeface="Calibri" pitchFamily="34" charset="-122"/>
                <a:cs typeface="Calibri" pitchFamily="34" charset="-120"/>
              </a:rPr>
              <a:t>Traditional BI depends on analysts, so a single business question can take days from request to answer.</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Fragmented data: </a:t>
            </a:r>
            <a:r>
              <a:rPr lang="en-US" sz="1550" dirty="0">
                <a:solidFill>
                  <a:srgbClr val="2B2B2B"/>
                </a:solidFill>
                <a:latin typeface="Calibri" pitchFamily="34" charset="0"/>
                <a:ea typeface="Calibri" pitchFamily="34" charset="-122"/>
                <a:cs typeface="Calibri" pitchFamily="34" charset="-120"/>
              </a:rPr>
              <a:t>Information sits in separate databases, files and APIs, and manual cleaning is error-prone and repetitive.</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Static dashboards: </a:t>
            </a:r>
            <a:r>
              <a:rPr lang="en-US" sz="1550" dirty="0">
                <a:solidFill>
                  <a:srgbClr val="2B2B2B"/>
                </a:solidFill>
                <a:latin typeface="Calibri" pitchFamily="34" charset="0"/>
                <a:ea typeface="Calibri" pitchFamily="34" charset="-122"/>
                <a:cs typeface="Calibri" pitchFamily="34" charset="-120"/>
              </a:rPr>
              <a:t>Pre-built dashboards answer only the questions someone anticipated and cannot explain why a metric changed.</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Unreliable AI answers: </a:t>
            </a:r>
            <a:r>
              <a:rPr lang="en-US" sz="1550" dirty="0">
                <a:solidFill>
                  <a:srgbClr val="2B2B2B"/>
                </a:solidFill>
                <a:latin typeface="Calibri" pitchFamily="34" charset="0"/>
                <a:ea typeface="Calibri" pitchFamily="34" charset="-122"/>
                <a:cs typeface="Calibri" pitchFamily="34" charset="-120"/>
              </a:rPr>
              <a:t>Single-LLM chatbots often hallucinate numbers, write wrong SQL and give no way to verify results.</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Skill barrier: </a:t>
            </a:r>
            <a:r>
              <a:rPr lang="en-US" sz="1550" dirty="0">
                <a:solidFill>
                  <a:srgbClr val="2B2B2B"/>
                </a:solidFill>
                <a:latin typeface="Calibri" pitchFamily="34" charset="0"/>
                <a:ea typeface="Calibri" pitchFamily="34" charset="-122"/>
                <a:cs typeface="Calibri" pitchFamily="34" charset="-120"/>
              </a:rPr>
              <a:t>Non-technical managers cannot explore data themselves without learning SQL or BI tools.</a:t>
            </a:r>
            <a:endParaRPr lang="en-US" sz="1550" dirty="0"/>
          </a:p>
        </p:txBody>
      </p:sp>
      <p:sp>
        <p:nvSpPr>
          <p:cNvPr id="12" name="Shape 10"/>
          <p:cNvSpPr/>
          <p:nvPr/>
        </p:nvSpPr>
        <p:spPr>
          <a:xfrm>
            <a:off x="6263640" y="1234440"/>
            <a:ext cx="5394960" cy="411480"/>
          </a:xfrm>
          <a:prstGeom prst="roundRect">
            <a:avLst>
              <a:gd name="adj" fmla="val 13333"/>
            </a:avLst>
          </a:prstGeom>
          <a:solidFill>
            <a:srgbClr val="13A89E"/>
          </a:solidFill>
          <a:ln/>
        </p:spPr>
        <p:txBody>
          <a:bodyPr/>
          <a:lstStyle/>
          <a:p>
            <a:endParaRPr lang="en-IN"/>
          </a:p>
        </p:txBody>
      </p:sp>
      <p:sp>
        <p:nvSpPr>
          <p:cNvPr id="13" name="Text 11"/>
          <p:cNvSpPr txBox="1"/>
          <p:nvPr/>
        </p:nvSpPr>
        <p:spPr>
          <a:xfrm>
            <a:off x="6400800" y="1234440"/>
            <a:ext cx="512064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How It Is Different</a:t>
            </a:r>
            <a:endParaRPr lang="en-US" sz="1600" dirty="0"/>
          </a:p>
        </p:txBody>
      </p:sp>
      <p:sp>
        <p:nvSpPr>
          <p:cNvPr id="14" name="Text 12"/>
          <p:cNvSpPr txBox="1"/>
          <p:nvPr/>
        </p:nvSpPr>
        <p:spPr>
          <a:xfrm>
            <a:off x="6263640" y="1783080"/>
            <a:ext cx="5394960" cy="4526280"/>
          </a:xfrm>
          <a:prstGeom prst="rect">
            <a:avLst/>
          </a:prstGeom>
          <a:noFill/>
          <a:ln/>
        </p:spPr>
        <p:txBody>
          <a:bodyPr wrap="square" lIns="0" tIns="0" rIns="0" bIns="0" rtlCol="0" anchor="t"/>
          <a:lstStyle/>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Division of labour: </a:t>
            </a:r>
            <a:r>
              <a:rPr lang="en-US" sz="1550" dirty="0">
                <a:solidFill>
                  <a:srgbClr val="2B2B2B"/>
                </a:solidFill>
                <a:latin typeface="Calibri" pitchFamily="34" charset="0"/>
                <a:ea typeface="Calibri" pitchFamily="34" charset="-122"/>
                <a:cs typeface="Calibri" pitchFamily="34" charset="-120"/>
              </a:rPr>
              <a:t>Unlike a single chatbot, each agent owns one role and its own tools, which improves accuracy and makes failures easy to trace.</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Autonomous planning: </a:t>
            </a:r>
            <a:r>
              <a:rPr lang="en-US" sz="1550" dirty="0">
                <a:solidFill>
                  <a:srgbClr val="2B2B2B"/>
                </a:solidFill>
                <a:latin typeface="Calibri" pitchFamily="34" charset="0"/>
                <a:ea typeface="Calibri" pitchFamily="34" charset="-122"/>
                <a:cs typeface="Calibri" pitchFamily="34" charset="-120"/>
              </a:rPr>
              <a:t>An orchestrator decomposes a goal into tasks and re-plans on errors, rather than following a fixed script or dashboard.</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Built-in verification: </a:t>
            </a:r>
            <a:r>
              <a:rPr lang="en-US" sz="1550" dirty="0">
                <a:solidFill>
                  <a:srgbClr val="2B2B2B"/>
                </a:solidFill>
                <a:latin typeface="Calibri" pitchFamily="34" charset="0"/>
                <a:ea typeface="Calibri" pitchFamily="34" charset="-122"/>
                <a:cs typeface="Calibri" pitchFamily="34" charset="-120"/>
              </a:rPr>
              <a:t>A validator agent re-checks queries and numbers against the source data before anything is shown to the user.</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End-to-end coverage: </a:t>
            </a:r>
            <a:r>
              <a:rPr lang="en-US" sz="1550" dirty="0">
                <a:solidFill>
                  <a:srgbClr val="2B2B2B"/>
                </a:solidFill>
                <a:latin typeface="Calibri" pitchFamily="34" charset="0"/>
                <a:ea typeface="Calibri" pitchFamily="34" charset="-122"/>
                <a:cs typeface="Calibri" pitchFamily="34" charset="-120"/>
              </a:rPr>
              <a:t>One platform handles ingestion, cleaning, analysis, forecasting, visualisation and narrative reporting.</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Explainable and extensible: </a:t>
            </a:r>
            <a:r>
              <a:rPr lang="en-US" sz="1550" dirty="0">
                <a:solidFill>
                  <a:srgbClr val="2B2B2B"/>
                </a:solidFill>
                <a:latin typeface="Calibri" pitchFamily="34" charset="0"/>
                <a:ea typeface="Calibri" pitchFamily="34" charset="-122"/>
                <a:cs typeface="Calibri" pitchFamily="34" charset="-120"/>
              </a:rPr>
              <a:t>Every answer shows the SQL, steps and data used, and new agents can be plugged in as modules.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p:spPr>
        <p:txBody>
          <a:bodyPr/>
          <a:lstStyle/>
          <a:p>
            <a:endParaRPr lang="en-IN"/>
          </a:p>
        </p:txBody>
      </p:sp>
      <p:sp>
        <p:nvSpPr>
          <p:cNvPr id="3" name="Text 1"/>
          <p:cNvSpPr txBox="1"/>
          <p:nvPr/>
        </p:nvSpPr>
        <p:spPr>
          <a:xfrm>
            <a:off x="548640" y="137160"/>
            <a:ext cx="969264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Methodology: Modules and Agent Workflow</a:t>
            </a:r>
            <a:endParaRPr lang="en-US" sz="2800" dirty="0"/>
          </a:p>
        </p:txBody>
      </p:sp>
      <p:sp>
        <p:nvSpPr>
          <p:cNvPr id="6" name="Logo accent"/>
          <p:cNvSpPr/>
          <p:nvPr/>
        </p:nvSpPr>
        <p:spPr>
          <a:xfrm>
            <a:off x="10698480" y="658368"/>
            <a:ext cx="822960" cy="45720"/>
          </a:xfrm>
          <a:prstGeom prst="rect">
            <a:avLst/>
          </a:prstGeom>
          <a:solidFill>
            <a:srgbClr val="13A89E"/>
          </a:solidFill>
          <a:ln/>
        </p:spPr>
        <p:txBody>
          <a:bodyPr/>
          <a:lstStyle/>
          <a:p>
            <a:endParaRPr lang="en-IN"/>
          </a:p>
        </p:txBody>
      </p:sp>
      <p:sp>
        <p:nvSpPr>
          <p:cNvPr id="7" name="Text 5"/>
          <p:cNvSpPr txBox="1"/>
          <p:nvPr/>
        </p:nvSpPr>
        <p:spPr>
          <a:xfrm>
            <a:off x="548640" y="6473952"/>
            <a:ext cx="10058400" cy="274320"/>
          </a:xfrm>
          <a:prstGeom prst="rect">
            <a:avLst/>
          </a:prstGeom>
          <a:noFill/>
          <a:ln/>
        </p:spPr>
        <p:txBody>
          <a:bodyPr wrap="square" lIns="0" tIns="0" rIns="0" bIns="0" rtlCol="0" anchor="ctr"/>
          <a:lstStyle/>
          <a:p>
            <a:pPr marL="0" indent="0">
              <a:buNone/>
            </a:pPr>
            <a:r>
              <a:rPr lang="en-US" sz="1000" dirty="0">
                <a:solidFill>
                  <a:srgbClr val="44546A"/>
                </a:solidFill>
                <a:latin typeface="Calibri" pitchFamily="34" charset="0"/>
                <a:ea typeface="Calibri" pitchFamily="34" charset="-122"/>
                <a:cs typeface="Calibri" pitchFamily="34" charset="-120"/>
              </a:rPr>
              <a:t>Multi-Agent Autonomous Business Intelligence Platform  |  SHYAM.K  |  T9935  |  Review 3</a:t>
            </a:r>
            <a:endParaRPr lang="en-US" sz="1000" dirty="0"/>
          </a:p>
        </p:txBody>
      </p:sp>
      <p:sp>
        <p:nvSpPr>
          <p:cNvPr id="8" name="Text 6"/>
          <p:cNvSpPr txBox="1"/>
          <p:nvPr/>
        </p:nvSpPr>
        <p:spPr>
          <a:xfrm>
            <a:off x="11155680" y="6473952"/>
            <a:ext cx="548640" cy="274320"/>
          </a:xfrm>
          <a:prstGeom prst="rect">
            <a:avLst/>
          </a:prstGeom>
          <a:noFill/>
          <a:ln/>
        </p:spPr>
        <p:txBody>
          <a:bodyPr wrap="square" lIns="0" tIns="0" rIns="0" bIns="0" rtlCol="0" anchor="ctr"/>
          <a:lstStyle/>
          <a:p>
            <a:pPr marL="0" indent="0" algn="r">
              <a:buNone/>
            </a:pPr>
            <a:r>
              <a:rPr lang="en-US" sz="1000" dirty="0">
                <a:solidFill>
                  <a:srgbClr val="44546A"/>
                </a:solidFill>
                <a:latin typeface="Calibri" pitchFamily="34" charset="0"/>
                <a:ea typeface="Calibri" pitchFamily="34" charset="-122"/>
                <a:cs typeface="Calibri" pitchFamily="34" charset="-120"/>
              </a:rPr>
              <a:t>4</a:t>
            </a:r>
            <a:endParaRPr lang="en-US" sz="1000" dirty="0"/>
          </a:p>
        </p:txBody>
      </p:sp>
      <p:sp>
        <p:nvSpPr>
          <p:cNvPr id="9" name="Flow 1"/>
          <p:cNvSpPr/>
          <p:nvPr/>
        </p:nvSpPr>
        <p:spPr>
          <a:xfrm>
            <a:off x="548640" y="1234440"/>
            <a:ext cx="1371600" cy="777240"/>
          </a:xfrm>
          <a:prstGeom prst="roundRect">
            <a:avLst>
              <a:gd name="adj" fmla="val 9412"/>
            </a:avLst>
          </a:prstGeom>
          <a:solidFill>
            <a:srgbClr val="F28C28"/>
          </a:solidFill>
          <a:ln/>
        </p:spPr>
        <p:txBody>
          <a:bodyPr/>
          <a:lstStyle/>
          <a:p>
            <a:endParaRPr lang="en-IN"/>
          </a:p>
        </p:txBody>
      </p:sp>
      <p:sp>
        <p:nvSpPr>
          <p:cNvPr id="10" name="Text 8"/>
          <p:cNvSpPr txBox="1"/>
          <p:nvPr/>
        </p:nvSpPr>
        <p:spPr>
          <a:xfrm>
            <a:off x="548640" y="1234440"/>
            <a:ext cx="1371600" cy="77724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User Query</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(Natural Language)</a:t>
            </a:r>
            <a:endParaRPr lang="en-US" sz="1100" dirty="0"/>
          </a:p>
        </p:txBody>
      </p:sp>
      <p:sp>
        <p:nvSpPr>
          <p:cNvPr id="11" name="Text 9"/>
          <p:cNvSpPr txBox="1"/>
          <p:nvPr/>
        </p:nvSpPr>
        <p:spPr>
          <a:xfrm>
            <a:off x="1920240" y="1234440"/>
            <a:ext cx="274320" cy="777240"/>
          </a:xfrm>
          <a:prstGeom prst="rect">
            <a:avLst/>
          </a:prstGeom>
          <a:noFill/>
          <a:ln/>
        </p:spPr>
        <p:txBody>
          <a:bodyPr wrap="square" lIns="0" tIns="0" rIns="0" bIns="0" rtlCol="0" anchor="ctr"/>
          <a:lstStyle/>
          <a:p>
            <a:pPr marL="0" indent="0" algn="ctr">
              <a:buNone/>
            </a:pPr>
            <a:r>
              <a:rPr lang="en-US" sz="2600" b="1" dirty="0">
                <a:solidFill>
                  <a:srgbClr val="0B2545"/>
                </a:solidFill>
                <a:latin typeface="Calibri" pitchFamily="34" charset="0"/>
                <a:ea typeface="Calibri" pitchFamily="34" charset="-122"/>
                <a:cs typeface="Calibri" pitchFamily="34" charset="-120"/>
              </a:rPr>
              <a:t>›</a:t>
            </a:r>
            <a:endParaRPr lang="en-US" sz="2600" dirty="0"/>
          </a:p>
        </p:txBody>
      </p:sp>
      <p:sp>
        <p:nvSpPr>
          <p:cNvPr id="12" name="Flow 2"/>
          <p:cNvSpPr/>
          <p:nvPr/>
        </p:nvSpPr>
        <p:spPr>
          <a:xfrm>
            <a:off x="2194560" y="1234440"/>
            <a:ext cx="1371600" cy="777240"/>
          </a:xfrm>
          <a:prstGeom prst="roundRect">
            <a:avLst>
              <a:gd name="adj" fmla="val 9412"/>
            </a:avLst>
          </a:prstGeom>
          <a:solidFill>
            <a:srgbClr val="0B2545"/>
          </a:solidFill>
          <a:ln/>
        </p:spPr>
        <p:txBody>
          <a:bodyPr/>
          <a:lstStyle/>
          <a:p>
            <a:endParaRPr lang="en-IN"/>
          </a:p>
        </p:txBody>
      </p:sp>
      <p:sp>
        <p:nvSpPr>
          <p:cNvPr id="13" name="Text 11"/>
          <p:cNvSpPr txBox="1"/>
          <p:nvPr/>
        </p:nvSpPr>
        <p:spPr>
          <a:xfrm>
            <a:off x="2194560" y="1234440"/>
            <a:ext cx="1371600" cy="77724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Orchestrator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Agent</a:t>
            </a:r>
            <a:endParaRPr lang="en-US" sz="1100" dirty="0"/>
          </a:p>
        </p:txBody>
      </p:sp>
      <p:sp>
        <p:nvSpPr>
          <p:cNvPr id="14" name="Text 12"/>
          <p:cNvSpPr txBox="1"/>
          <p:nvPr/>
        </p:nvSpPr>
        <p:spPr>
          <a:xfrm>
            <a:off x="3566160" y="1234440"/>
            <a:ext cx="274320" cy="777240"/>
          </a:xfrm>
          <a:prstGeom prst="rect">
            <a:avLst/>
          </a:prstGeom>
          <a:noFill/>
          <a:ln/>
        </p:spPr>
        <p:txBody>
          <a:bodyPr wrap="square" lIns="0" tIns="0" rIns="0" bIns="0" rtlCol="0" anchor="ctr"/>
          <a:lstStyle/>
          <a:p>
            <a:pPr marL="0" indent="0" algn="ctr">
              <a:buNone/>
            </a:pPr>
            <a:r>
              <a:rPr lang="en-US" sz="2600" b="1" dirty="0">
                <a:solidFill>
                  <a:srgbClr val="0B2545"/>
                </a:solidFill>
                <a:latin typeface="Calibri" pitchFamily="34" charset="0"/>
                <a:ea typeface="Calibri" pitchFamily="34" charset="-122"/>
                <a:cs typeface="Calibri" pitchFamily="34" charset="-120"/>
              </a:rPr>
              <a:t>›</a:t>
            </a:r>
            <a:endParaRPr lang="en-US" sz="2600" dirty="0"/>
          </a:p>
        </p:txBody>
      </p:sp>
      <p:sp>
        <p:nvSpPr>
          <p:cNvPr id="15" name="Flow 3"/>
          <p:cNvSpPr/>
          <p:nvPr/>
        </p:nvSpPr>
        <p:spPr>
          <a:xfrm>
            <a:off x="3840480" y="1234440"/>
            <a:ext cx="1371600" cy="777240"/>
          </a:xfrm>
          <a:prstGeom prst="roundRect">
            <a:avLst>
              <a:gd name="adj" fmla="val 9412"/>
            </a:avLst>
          </a:prstGeom>
          <a:solidFill>
            <a:srgbClr val="13A89E"/>
          </a:solidFill>
          <a:ln/>
        </p:spPr>
        <p:txBody>
          <a:bodyPr/>
          <a:lstStyle/>
          <a:p>
            <a:endParaRPr lang="en-IN"/>
          </a:p>
        </p:txBody>
      </p:sp>
      <p:sp>
        <p:nvSpPr>
          <p:cNvPr id="16" name="Text 14"/>
          <p:cNvSpPr txBox="1"/>
          <p:nvPr/>
        </p:nvSpPr>
        <p:spPr>
          <a:xfrm>
            <a:off x="3840480" y="1234440"/>
            <a:ext cx="1371600" cy="77724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Ingestion &amp;</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Cleaning Agents</a:t>
            </a:r>
            <a:endParaRPr lang="en-US" sz="1100" dirty="0"/>
          </a:p>
        </p:txBody>
      </p:sp>
      <p:sp>
        <p:nvSpPr>
          <p:cNvPr id="17" name="Text 15"/>
          <p:cNvSpPr txBox="1"/>
          <p:nvPr/>
        </p:nvSpPr>
        <p:spPr>
          <a:xfrm>
            <a:off x="5212080" y="1234440"/>
            <a:ext cx="274320" cy="777240"/>
          </a:xfrm>
          <a:prstGeom prst="rect">
            <a:avLst/>
          </a:prstGeom>
          <a:noFill/>
          <a:ln/>
        </p:spPr>
        <p:txBody>
          <a:bodyPr wrap="square" lIns="0" tIns="0" rIns="0" bIns="0" rtlCol="0" anchor="ctr"/>
          <a:lstStyle/>
          <a:p>
            <a:pPr marL="0" indent="0" algn="ctr">
              <a:buNone/>
            </a:pPr>
            <a:r>
              <a:rPr lang="en-US" sz="2600" b="1" dirty="0">
                <a:solidFill>
                  <a:srgbClr val="0B2545"/>
                </a:solidFill>
                <a:latin typeface="Calibri" pitchFamily="34" charset="0"/>
                <a:ea typeface="Calibri" pitchFamily="34" charset="-122"/>
                <a:cs typeface="Calibri" pitchFamily="34" charset="-120"/>
              </a:rPr>
              <a:t>›</a:t>
            </a:r>
            <a:endParaRPr lang="en-US" sz="2600" dirty="0"/>
          </a:p>
        </p:txBody>
      </p:sp>
      <p:sp>
        <p:nvSpPr>
          <p:cNvPr id="18" name="Flow 4"/>
          <p:cNvSpPr/>
          <p:nvPr/>
        </p:nvSpPr>
        <p:spPr>
          <a:xfrm>
            <a:off x="5486400" y="1234440"/>
            <a:ext cx="1371600" cy="777240"/>
          </a:xfrm>
          <a:prstGeom prst="roundRect">
            <a:avLst>
              <a:gd name="adj" fmla="val 9412"/>
            </a:avLst>
          </a:prstGeom>
          <a:solidFill>
            <a:srgbClr val="13A89E"/>
          </a:solidFill>
          <a:ln/>
        </p:spPr>
        <p:txBody>
          <a:bodyPr/>
          <a:lstStyle/>
          <a:p>
            <a:endParaRPr lang="en-IN"/>
          </a:p>
        </p:txBody>
      </p:sp>
      <p:sp>
        <p:nvSpPr>
          <p:cNvPr id="19" name="Text 17"/>
          <p:cNvSpPr txBox="1"/>
          <p:nvPr/>
        </p:nvSpPr>
        <p:spPr>
          <a:xfrm>
            <a:off x="5486400" y="1234440"/>
            <a:ext cx="1371600" cy="77724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Analyst &amp;</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Forecast Agents</a:t>
            </a:r>
            <a:endParaRPr lang="en-US" sz="1100" dirty="0"/>
          </a:p>
        </p:txBody>
      </p:sp>
      <p:sp>
        <p:nvSpPr>
          <p:cNvPr id="20" name="Text 18"/>
          <p:cNvSpPr txBox="1"/>
          <p:nvPr/>
        </p:nvSpPr>
        <p:spPr>
          <a:xfrm>
            <a:off x="6858000" y="1234440"/>
            <a:ext cx="274320" cy="777240"/>
          </a:xfrm>
          <a:prstGeom prst="rect">
            <a:avLst/>
          </a:prstGeom>
          <a:noFill/>
          <a:ln/>
        </p:spPr>
        <p:txBody>
          <a:bodyPr wrap="square" lIns="0" tIns="0" rIns="0" bIns="0" rtlCol="0" anchor="ctr"/>
          <a:lstStyle/>
          <a:p>
            <a:pPr marL="0" indent="0" algn="ctr">
              <a:buNone/>
            </a:pPr>
            <a:r>
              <a:rPr lang="en-US" sz="2600" b="1" dirty="0">
                <a:solidFill>
                  <a:srgbClr val="0B2545"/>
                </a:solidFill>
                <a:latin typeface="Calibri" pitchFamily="34" charset="0"/>
                <a:ea typeface="Calibri" pitchFamily="34" charset="-122"/>
                <a:cs typeface="Calibri" pitchFamily="34" charset="-120"/>
              </a:rPr>
              <a:t>›</a:t>
            </a:r>
            <a:endParaRPr lang="en-US" sz="2600" dirty="0"/>
          </a:p>
        </p:txBody>
      </p:sp>
      <p:sp>
        <p:nvSpPr>
          <p:cNvPr id="21" name="Flow 5"/>
          <p:cNvSpPr/>
          <p:nvPr/>
        </p:nvSpPr>
        <p:spPr>
          <a:xfrm>
            <a:off x="7132320" y="1234440"/>
            <a:ext cx="1371600" cy="777240"/>
          </a:xfrm>
          <a:prstGeom prst="roundRect">
            <a:avLst>
              <a:gd name="adj" fmla="val 9412"/>
            </a:avLst>
          </a:prstGeom>
          <a:solidFill>
            <a:srgbClr val="13A89E"/>
          </a:solidFill>
          <a:ln/>
        </p:spPr>
        <p:txBody>
          <a:bodyPr/>
          <a:lstStyle/>
          <a:p>
            <a:endParaRPr lang="en-IN"/>
          </a:p>
        </p:txBody>
      </p:sp>
      <p:sp>
        <p:nvSpPr>
          <p:cNvPr id="22" name="Text 20"/>
          <p:cNvSpPr txBox="1"/>
          <p:nvPr/>
        </p:nvSpPr>
        <p:spPr>
          <a:xfrm>
            <a:off x="7132320" y="1234440"/>
            <a:ext cx="1371600" cy="77724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Validator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Agent</a:t>
            </a:r>
            <a:endParaRPr lang="en-US" sz="1100" dirty="0"/>
          </a:p>
        </p:txBody>
      </p:sp>
      <p:sp>
        <p:nvSpPr>
          <p:cNvPr id="23" name="Text 21"/>
          <p:cNvSpPr txBox="1"/>
          <p:nvPr/>
        </p:nvSpPr>
        <p:spPr>
          <a:xfrm>
            <a:off x="8503920" y="1234440"/>
            <a:ext cx="274320" cy="777240"/>
          </a:xfrm>
          <a:prstGeom prst="rect">
            <a:avLst/>
          </a:prstGeom>
          <a:noFill/>
          <a:ln/>
        </p:spPr>
        <p:txBody>
          <a:bodyPr wrap="square" lIns="0" tIns="0" rIns="0" bIns="0" rtlCol="0" anchor="ctr"/>
          <a:lstStyle/>
          <a:p>
            <a:pPr marL="0" indent="0" algn="ctr">
              <a:buNone/>
            </a:pPr>
            <a:r>
              <a:rPr lang="en-US" sz="2600" b="1" dirty="0">
                <a:solidFill>
                  <a:srgbClr val="0B2545"/>
                </a:solidFill>
                <a:latin typeface="Calibri" pitchFamily="34" charset="0"/>
                <a:ea typeface="Calibri" pitchFamily="34" charset="-122"/>
                <a:cs typeface="Calibri" pitchFamily="34" charset="-120"/>
              </a:rPr>
              <a:t>›</a:t>
            </a:r>
            <a:endParaRPr lang="en-US" sz="2600" dirty="0"/>
          </a:p>
        </p:txBody>
      </p:sp>
      <p:sp>
        <p:nvSpPr>
          <p:cNvPr id="24" name="Flow 6"/>
          <p:cNvSpPr/>
          <p:nvPr/>
        </p:nvSpPr>
        <p:spPr>
          <a:xfrm>
            <a:off x="8778240" y="1234440"/>
            <a:ext cx="1371600" cy="777240"/>
          </a:xfrm>
          <a:prstGeom prst="roundRect">
            <a:avLst>
              <a:gd name="adj" fmla="val 9412"/>
            </a:avLst>
          </a:prstGeom>
          <a:solidFill>
            <a:srgbClr val="13A89E"/>
          </a:solidFill>
          <a:ln/>
        </p:spPr>
        <p:txBody>
          <a:bodyPr/>
          <a:lstStyle/>
          <a:p>
            <a:endParaRPr lang="en-IN"/>
          </a:p>
        </p:txBody>
      </p:sp>
      <p:sp>
        <p:nvSpPr>
          <p:cNvPr id="25" name="Text 23"/>
          <p:cNvSpPr txBox="1"/>
          <p:nvPr/>
        </p:nvSpPr>
        <p:spPr>
          <a:xfrm>
            <a:off x="8778240" y="1234440"/>
            <a:ext cx="1371600" cy="77724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Viz &amp; Report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Agents</a:t>
            </a:r>
            <a:endParaRPr lang="en-US" sz="1100" dirty="0"/>
          </a:p>
        </p:txBody>
      </p:sp>
      <p:sp>
        <p:nvSpPr>
          <p:cNvPr id="26" name="Text 24"/>
          <p:cNvSpPr txBox="1"/>
          <p:nvPr/>
        </p:nvSpPr>
        <p:spPr>
          <a:xfrm>
            <a:off x="10149840" y="1234440"/>
            <a:ext cx="274320" cy="777240"/>
          </a:xfrm>
          <a:prstGeom prst="rect">
            <a:avLst/>
          </a:prstGeom>
          <a:noFill/>
          <a:ln/>
        </p:spPr>
        <p:txBody>
          <a:bodyPr wrap="square" lIns="0" tIns="0" rIns="0" bIns="0" rtlCol="0" anchor="ctr"/>
          <a:lstStyle/>
          <a:p>
            <a:pPr marL="0" indent="0" algn="ctr">
              <a:buNone/>
            </a:pPr>
            <a:r>
              <a:rPr lang="en-US" sz="2600" b="1" dirty="0">
                <a:solidFill>
                  <a:srgbClr val="0B2545"/>
                </a:solidFill>
                <a:latin typeface="Calibri" pitchFamily="34" charset="0"/>
                <a:ea typeface="Calibri" pitchFamily="34" charset="-122"/>
                <a:cs typeface="Calibri" pitchFamily="34" charset="-120"/>
              </a:rPr>
              <a:t>›</a:t>
            </a:r>
            <a:endParaRPr lang="en-US" sz="2600" dirty="0"/>
          </a:p>
        </p:txBody>
      </p:sp>
      <p:sp>
        <p:nvSpPr>
          <p:cNvPr id="27" name="Flow 7"/>
          <p:cNvSpPr/>
          <p:nvPr/>
        </p:nvSpPr>
        <p:spPr>
          <a:xfrm>
            <a:off x="10424160" y="1234440"/>
            <a:ext cx="1371600" cy="777240"/>
          </a:xfrm>
          <a:prstGeom prst="roundRect">
            <a:avLst>
              <a:gd name="adj" fmla="val 9412"/>
            </a:avLst>
          </a:prstGeom>
          <a:solidFill>
            <a:srgbClr val="F28C28"/>
          </a:solidFill>
          <a:ln/>
        </p:spPr>
        <p:txBody>
          <a:bodyPr/>
          <a:lstStyle/>
          <a:p>
            <a:endParaRPr lang="en-IN"/>
          </a:p>
        </p:txBody>
      </p:sp>
      <p:sp>
        <p:nvSpPr>
          <p:cNvPr id="28" name="Text 26"/>
          <p:cNvSpPr txBox="1"/>
          <p:nvPr/>
        </p:nvSpPr>
        <p:spPr>
          <a:xfrm>
            <a:off x="10424160" y="1234440"/>
            <a:ext cx="1371600" cy="77724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Insights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Dashboard</a:t>
            </a:r>
            <a:endParaRPr lang="en-US" sz="1100" dirty="0"/>
          </a:p>
        </p:txBody>
      </p:sp>
      <p:sp>
        <p:nvSpPr>
          <p:cNvPr id="29" name="Text 27"/>
          <p:cNvSpPr txBox="1"/>
          <p:nvPr/>
        </p:nvSpPr>
        <p:spPr>
          <a:xfrm>
            <a:off x="548640" y="2057400"/>
            <a:ext cx="11064240" cy="274320"/>
          </a:xfrm>
          <a:prstGeom prst="rect">
            <a:avLst/>
          </a:prstGeom>
          <a:noFill/>
          <a:ln/>
        </p:spPr>
        <p:txBody>
          <a:bodyPr wrap="square" lIns="0" tIns="0" rIns="0" bIns="0" rtlCol="0" anchor="ctr"/>
          <a:lstStyle/>
          <a:p>
            <a:pPr marL="0" indent="0" algn="ctr">
              <a:buNone/>
            </a:pPr>
            <a:r>
              <a:rPr lang="en-US" sz="1050" i="1" dirty="0">
                <a:solidFill>
                  <a:srgbClr val="44546A"/>
                </a:solidFill>
                <a:latin typeface="Calibri" pitchFamily="34" charset="0"/>
                <a:ea typeface="Calibri" pitchFamily="34" charset="-122"/>
                <a:cs typeface="Calibri" pitchFamily="34" charset="-120"/>
              </a:rPr>
              <a:t>Validator feeds failed checks back to the Orchestrator for re-planning (feedback loop). Shared memory stores context across all agents.</a:t>
            </a:r>
            <a:endParaRPr lang="en-US" sz="1050" dirty="0"/>
          </a:p>
        </p:txBody>
      </p:sp>
      <p:sp>
        <p:nvSpPr>
          <p:cNvPr id="30" name="Shape 28"/>
          <p:cNvSpPr/>
          <p:nvPr/>
        </p:nvSpPr>
        <p:spPr>
          <a:xfrm>
            <a:off x="548640" y="2468880"/>
            <a:ext cx="2651760" cy="1874520"/>
          </a:xfrm>
          <a:prstGeom prst="roundRect">
            <a:avLst>
              <a:gd name="adj" fmla="val 3902"/>
            </a:avLst>
          </a:prstGeom>
          <a:solidFill>
            <a:srgbClr val="F2F6FA"/>
          </a:solidFill>
          <a:ln w="9525">
            <a:solidFill>
              <a:srgbClr val="D5DEE8"/>
            </a:solidFill>
            <a:prstDash val="solid"/>
          </a:ln>
        </p:spPr>
        <p:txBody>
          <a:bodyPr/>
          <a:lstStyle/>
          <a:p>
            <a:endParaRPr lang="en-IN"/>
          </a:p>
        </p:txBody>
      </p:sp>
      <p:sp>
        <p:nvSpPr>
          <p:cNvPr id="31" name="Shape 29"/>
          <p:cNvSpPr/>
          <p:nvPr/>
        </p:nvSpPr>
        <p:spPr>
          <a:xfrm>
            <a:off x="548640" y="2578608"/>
            <a:ext cx="64008" cy="365760"/>
          </a:xfrm>
          <a:prstGeom prst="rect">
            <a:avLst/>
          </a:prstGeom>
          <a:solidFill>
            <a:srgbClr val="F28C28"/>
          </a:solidFill>
          <a:ln/>
        </p:spPr>
        <p:txBody>
          <a:bodyPr/>
          <a:lstStyle/>
          <a:p>
            <a:endParaRPr lang="en-IN"/>
          </a:p>
        </p:txBody>
      </p:sp>
      <p:sp>
        <p:nvSpPr>
          <p:cNvPr id="32" name="Text 30"/>
          <p:cNvSpPr txBox="1"/>
          <p:nvPr/>
        </p:nvSpPr>
        <p:spPr>
          <a:xfrm>
            <a:off x="731520" y="2560320"/>
            <a:ext cx="237744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1. Orchestrator Agent</a:t>
            </a:r>
            <a:endParaRPr lang="en-US" sz="1400" dirty="0"/>
          </a:p>
        </p:txBody>
      </p:sp>
      <p:sp>
        <p:nvSpPr>
          <p:cNvPr id="33" name="Text 31"/>
          <p:cNvSpPr txBox="1"/>
          <p:nvPr/>
        </p:nvSpPr>
        <p:spPr>
          <a:xfrm>
            <a:off x="731520" y="3017520"/>
            <a:ext cx="2331720" cy="1280160"/>
          </a:xfrm>
          <a:prstGeom prst="rect">
            <a:avLst/>
          </a:prstGeom>
          <a:noFill/>
          <a:ln/>
        </p:spPr>
        <p:txBody>
          <a:bodyPr wrap="square" lIns="0" tIns="0" rIns="0" bIns="0" rtlCol="0" anchor="t"/>
          <a:lstStyle/>
          <a:p>
            <a:pPr marL="0" indent="0">
              <a:buNone/>
            </a:pPr>
            <a:r>
              <a:rPr lang="en-US" sz="1250" dirty="0">
                <a:solidFill>
                  <a:srgbClr val="2B2B2B"/>
                </a:solidFill>
                <a:latin typeface="Calibri" pitchFamily="34" charset="0"/>
                <a:ea typeface="Calibri" pitchFamily="34" charset="-122"/>
                <a:cs typeface="Calibri" pitchFamily="34" charset="-120"/>
              </a:rPr>
              <a:t>Interprets the user goal, breaks it into sub-tasks, assigns them to agents and decides the execution order. It re-plans when a step fails.</a:t>
            </a:r>
            <a:endParaRPr lang="en-US" sz="1250" dirty="0"/>
          </a:p>
        </p:txBody>
      </p:sp>
      <p:sp>
        <p:nvSpPr>
          <p:cNvPr id="34" name="Shape 32"/>
          <p:cNvSpPr/>
          <p:nvPr/>
        </p:nvSpPr>
        <p:spPr>
          <a:xfrm>
            <a:off x="3337560" y="2468880"/>
            <a:ext cx="2651760" cy="1874520"/>
          </a:xfrm>
          <a:prstGeom prst="roundRect">
            <a:avLst>
              <a:gd name="adj" fmla="val 3902"/>
            </a:avLst>
          </a:prstGeom>
          <a:solidFill>
            <a:srgbClr val="F2F6FA"/>
          </a:solidFill>
          <a:ln w="9525">
            <a:solidFill>
              <a:srgbClr val="D5DEE8"/>
            </a:solidFill>
            <a:prstDash val="solid"/>
          </a:ln>
        </p:spPr>
        <p:txBody>
          <a:bodyPr/>
          <a:lstStyle/>
          <a:p>
            <a:endParaRPr lang="en-IN"/>
          </a:p>
        </p:txBody>
      </p:sp>
      <p:sp>
        <p:nvSpPr>
          <p:cNvPr id="35" name="Shape 33"/>
          <p:cNvSpPr/>
          <p:nvPr/>
        </p:nvSpPr>
        <p:spPr>
          <a:xfrm>
            <a:off x="3337560" y="2578608"/>
            <a:ext cx="64008" cy="365760"/>
          </a:xfrm>
          <a:prstGeom prst="rect">
            <a:avLst/>
          </a:prstGeom>
          <a:solidFill>
            <a:srgbClr val="F28C28"/>
          </a:solidFill>
          <a:ln/>
        </p:spPr>
        <p:txBody>
          <a:bodyPr/>
          <a:lstStyle/>
          <a:p>
            <a:endParaRPr lang="en-IN"/>
          </a:p>
        </p:txBody>
      </p:sp>
      <p:sp>
        <p:nvSpPr>
          <p:cNvPr id="36" name="Text 34"/>
          <p:cNvSpPr txBox="1"/>
          <p:nvPr/>
        </p:nvSpPr>
        <p:spPr>
          <a:xfrm>
            <a:off x="3520440" y="2560320"/>
            <a:ext cx="237744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2. Data Ingestion Agent</a:t>
            </a:r>
            <a:endParaRPr lang="en-US" sz="1400" dirty="0"/>
          </a:p>
        </p:txBody>
      </p:sp>
      <p:sp>
        <p:nvSpPr>
          <p:cNvPr id="37" name="Text 35"/>
          <p:cNvSpPr txBox="1"/>
          <p:nvPr/>
        </p:nvSpPr>
        <p:spPr>
          <a:xfrm>
            <a:off x="3520440" y="3017520"/>
            <a:ext cx="2331720" cy="1280160"/>
          </a:xfrm>
          <a:prstGeom prst="rect">
            <a:avLst/>
          </a:prstGeom>
          <a:noFill/>
          <a:ln/>
        </p:spPr>
        <p:txBody>
          <a:bodyPr wrap="square" lIns="0" tIns="0" rIns="0" bIns="0" rtlCol="0" anchor="t"/>
          <a:lstStyle/>
          <a:p>
            <a:pPr marL="0" indent="0">
              <a:buNone/>
            </a:pPr>
            <a:r>
              <a:rPr lang="en-US" sz="1250" dirty="0">
                <a:solidFill>
                  <a:srgbClr val="2B2B2B"/>
                </a:solidFill>
                <a:latin typeface="Calibri" pitchFamily="34" charset="0"/>
                <a:ea typeface="Calibri" pitchFamily="34" charset="-122"/>
                <a:cs typeface="Calibri" pitchFamily="34" charset="-120"/>
              </a:rPr>
              <a:t>Connects to SQL databases, CSV/Excel files and REST APIs, reads the schema and loads data into a unified staging layer.</a:t>
            </a:r>
            <a:endParaRPr lang="en-US" sz="1250" dirty="0"/>
          </a:p>
        </p:txBody>
      </p:sp>
      <p:sp>
        <p:nvSpPr>
          <p:cNvPr id="38" name="Shape 36"/>
          <p:cNvSpPr/>
          <p:nvPr/>
        </p:nvSpPr>
        <p:spPr>
          <a:xfrm>
            <a:off x="6126480" y="2468880"/>
            <a:ext cx="2651760" cy="1874520"/>
          </a:xfrm>
          <a:prstGeom prst="roundRect">
            <a:avLst>
              <a:gd name="adj" fmla="val 3902"/>
            </a:avLst>
          </a:prstGeom>
          <a:solidFill>
            <a:srgbClr val="F2F6FA"/>
          </a:solidFill>
          <a:ln w="9525">
            <a:solidFill>
              <a:srgbClr val="D5DEE8"/>
            </a:solidFill>
            <a:prstDash val="solid"/>
          </a:ln>
        </p:spPr>
        <p:txBody>
          <a:bodyPr/>
          <a:lstStyle/>
          <a:p>
            <a:endParaRPr lang="en-IN"/>
          </a:p>
        </p:txBody>
      </p:sp>
      <p:sp>
        <p:nvSpPr>
          <p:cNvPr id="39" name="Shape 37"/>
          <p:cNvSpPr/>
          <p:nvPr/>
        </p:nvSpPr>
        <p:spPr>
          <a:xfrm>
            <a:off x="6126480" y="2578608"/>
            <a:ext cx="64008" cy="365760"/>
          </a:xfrm>
          <a:prstGeom prst="rect">
            <a:avLst/>
          </a:prstGeom>
          <a:solidFill>
            <a:srgbClr val="F28C28"/>
          </a:solidFill>
          <a:ln/>
        </p:spPr>
        <p:txBody>
          <a:bodyPr/>
          <a:lstStyle/>
          <a:p>
            <a:endParaRPr lang="en-IN"/>
          </a:p>
        </p:txBody>
      </p:sp>
      <p:sp>
        <p:nvSpPr>
          <p:cNvPr id="40" name="Text 38"/>
          <p:cNvSpPr txBox="1"/>
          <p:nvPr/>
        </p:nvSpPr>
        <p:spPr>
          <a:xfrm>
            <a:off x="6309360" y="2560320"/>
            <a:ext cx="237744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3. Cleaning &amp; Profiling Agent</a:t>
            </a:r>
            <a:endParaRPr lang="en-US" sz="1400" dirty="0"/>
          </a:p>
        </p:txBody>
      </p:sp>
      <p:sp>
        <p:nvSpPr>
          <p:cNvPr id="41" name="Text 39"/>
          <p:cNvSpPr txBox="1"/>
          <p:nvPr/>
        </p:nvSpPr>
        <p:spPr>
          <a:xfrm>
            <a:off x="6309360" y="3017520"/>
            <a:ext cx="2331720" cy="1280160"/>
          </a:xfrm>
          <a:prstGeom prst="rect">
            <a:avLst/>
          </a:prstGeom>
          <a:noFill/>
          <a:ln/>
        </p:spPr>
        <p:txBody>
          <a:bodyPr wrap="square" lIns="0" tIns="0" rIns="0" bIns="0" rtlCol="0" anchor="t"/>
          <a:lstStyle/>
          <a:p>
            <a:pPr marL="0" indent="0">
              <a:buNone/>
            </a:pPr>
            <a:r>
              <a:rPr lang="en-US" sz="1250" dirty="0">
                <a:solidFill>
                  <a:srgbClr val="2B2B2B"/>
                </a:solidFill>
                <a:latin typeface="Calibri" pitchFamily="34" charset="0"/>
                <a:ea typeface="Calibri" pitchFamily="34" charset="-122"/>
                <a:cs typeface="Calibri" pitchFamily="34" charset="-120"/>
              </a:rPr>
              <a:t>Detects missing values, duplicates and outliers, fixes data types and produces a data-quality profile before analysis begins.</a:t>
            </a:r>
            <a:endParaRPr lang="en-US" sz="1250" dirty="0"/>
          </a:p>
        </p:txBody>
      </p:sp>
      <p:sp>
        <p:nvSpPr>
          <p:cNvPr id="42" name="Shape 40"/>
          <p:cNvSpPr/>
          <p:nvPr/>
        </p:nvSpPr>
        <p:spPr>
          <a:xfrm>
            <a:off x="8915400" y="2468880"/>
            <a:ext cx="2651760" cy="1874520"/>
          </a:xfrm>
          <a:prstGeom prst="roundRect">
            <a:avLst>
              <a:gd name="adj" fmla="val 3902"/>
            </a:avLst>
          </a:prstGeom>
          <a:solidFill>
            <a:srgbClr val="F2F6FA"/>
          </a:solidFill>
          <a:ln w="9525">
            <a:solidFill>
              <a:srgbClr val="D5DEE8"/>
            </a:solidFill>
            <a:prstDash val="solid"/>
          </a:ln>
        </p:spPr>
        <p:txBody>
          <a:bodyPr/>
          <a:lstStyle/>
          <a:p>
            <a:endParaRPr lang="en-IN"/>
          </a:p>
        </p:txBody>
      </p:sp>
      <p:sp>
        <p:nvSpPr>
          <p:cNvPr id="43" name="Shape 41"/>
          <p:cNvSpPr/>
          <p:nvPr/>
        </p:nvSpPr>
        <p:spPr>
          <a:xfrm>
            <a:off x="8915400" y="2578608"/>
            <a:ext cx="64008" cy="365760"/>
          </a:xfrm>
          <a:prstGeom prst="rect">
            <a:avLst/>
          </a:prstGeom>
          <a:solidFill>
            <a:srgbClr val="F28C28"/>
          </a:solidFill>
          <a:ln/>
        </p:spPr>
        <p:txBody>
          <a:bodyPr/>
          <a:lstStyle/>
          <a:p>
            <a:endParaRPr lang="en-IN"/>
          </a:p>
        </p:txBody>
      </p:sp>
      <p:sp>
        <p:nvSpPr>
          <p:cNvPr id="44" name="Text 42"/>
          <p:cNvSpPr txBox="1"/>
          <p:nvPr/>
        </p:nvSpPr>
        <p:spPr>
          <a:xfrm>
            <a:off x="9098280" y="2560320"/>
            <a:ext cx="237744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4. Analyst Agent</a:t>
            </a:r>
            <a:endParaRPr lang="en-US" sz="1400" dirty="0"/>
          </a:p>
        </p:txBody>
      </p:sp>
      <p:sp>
        <p:nvSpPr>
          <p:cNvPr id="45" name="Text 43"/>
          <p:cNvSpPr txBox="1"/>
          <p:nvPr/>
        </p:nvSpPr>
        <p:spPr>
          <a:xfrm>
            <a:off x="9098280" y="3017520"/>
            <a:ext cx="2331720" cy="1280160"/>
          </a:xfrm>
          <a:prstGeom prst="rect">
            <a:avLst/>
          </a:prstGeom>
          <a:noFill/>
          <a:ln/>
        </p:spPr>
        <p:txBody>
          <a:bodyPr wrap="square" lIns="0" tIns="0" rIns="0" bIns="0" rtlCol="0" anchor="t"/>
          <a:lstStyle/>
          <a:p>
            <a:pPr marL="0" indent="0">
              <a:buNone/>
            </a:pPr>
            <a:r>
              <a:rPr lang="en-US" sz="1250" dirty="0">
                <a:solidFill>
                  <a:srgbClr val="2B2B2B"/>
                </a:solidFill>
                <a:latin typeface="Calibri" pitchFamily="34" charset="0"/>
                <a:ea typeface="Calibri" pitchFamily="34" charset="-122"/>
                <a:cs typeface="Calibri" pitchFamily="34" charset="-120"/>
              </a:rPr>
              <a:t>Converts questions to SQL or Pandas code, runs descriptive and diagnostic analysis and finds trends, segments and root causes.</a:t>
            </a:r>
            <a:endParaRPr lang="en-US" sz="1250" dirty="0"/>
          </a:p>
        </p:txBody>
      </p:sp>
      <p:sp>
        <p:nvSpPr>
          <p:cNvPr id="46" name="Shape 44"/>
          <p:cNvSpPr/>
          <p:nvPr/>
        </p:nvSpPr>
        <p:spPr>
          <a:xfrm>
            <a:off x="548640" y="4480560"/>
            <a:ext cx="2651760" cy="1874520"/>
          </a:xfrm>
          <a:prstGeom prst="roundRect">
            <a:avLst>
              <a:gd name="adj" fmla="val 3902"/>
            </a:avLst>
          </a:prstGeom>
          <a:solidFill>
            <a:srgbClr val="F2F6FA"/>
          </a:solidFill>
          <a:ln w="9525">
            <a:solidFill>
              <a:srgbClr val="D5DEE8"/>
            </a:solidFill>
            <a:prstDash val="solid"/>
          </a:ln>
        </p:spPr>
        <p:txBody>
          <a:bodyPr/>
          <a:lstStyle/>
          <a:p>
            <a:endParaRPr lang="en-IN"/>
          </a:p>
        </p:txBody>
      </p:sp>
      <p:sp>
        <p:nvSpPr>
          <p:cNvPr id="47" name="Shape 45"/>
          <p:cNvSpPr/>
          <p:nvPr/>
        </p:nvSpPr>
        <p:spPr>
          <a:xfrm>
            <a:off x="548640" y="4590288"/>
            <a:ext cx="64008" cy="365760"/>
          </a:xfrm>
          <a:prstGeom prst="rect">
            <a:avLst/>
          </a:prstGeom>
          <a:solidFill>
            <a:srgbClr val="F28C28"/>
          </a:solidFill>
          <a:ln/>
        </p:spPr>
        <p:txBody>
          <a:bodyPr/>
          <a:lstStyle/>
          <a:p>
            <a:endParaRPr lang="en-IN"/>
          </a:p>
        </p:txBody>
      </p:sp>
      <p:sp>
        <p:nvSpPr>
          <p:cNvPr id="48" name="Text 46"/>
          <p:cNvSpPr txBox="1"/>
          <p:nvPr/>
        </p:nvSpPr>
        <p:spPr>
          <a:xfrm>
            <a:off x="731520" y="4572000"/>
            <a:ext cx="237744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5. Forecasting Agent</a:t>
            </a:r>
            <a:endParaRPr lang="en-US" sz="1400" dirty="0"/>
          </a:p>
        </p:txBody>
      </p:sp>
      <p:sp>
        <p:nvSpPr>
          <p:cNvPr id="49" name="Text 47"/>
          <p:cNvSpPr txBox="1"/>
          <p:nvPr/>
        </p:nvSpPr>
        <p:spPr>
          <a:xfrm>
            <a:off x="731520" y="5029200"/>
            <a:ext cx="2331720" cy="1280160"/>
          </a:xfrm>
          <a:prstGeom prst="rect">
            <a:avLst/>
          </a:prstGeom>
          <a:noFill/>
          <a:ln/>
        </p:spPr>
        <p:txBody>
          <a:bodyPr wrap="square" lIns="0" tIns="0" rIns="0" bIns="0" rtlCol="0" anchor="t"/>
          <a:lstStyle/>
          <a:p>
            <a:pPr marL="0" indent="0">
              <a:buNone/>
            </a:pPr>
            <a:r>
              <a:rPr lang="en-US" sz="1250" dirty="0">
                <a:solidFill>
                  <a:srgbClr val="2B2B2B"/>
                </a:solidFill>
                <a:latin typeface="Calibri" pitchFamily="34" charset="0"/>
                <a:ea typeface="Calibri" pitchFamily="34" charset="-122"/>
                <a:cs typeface="Calibri" pitchFamily="34" charset="-120"/>
              </a:rPr>
              <a:t>Trains time-series and regression models to predict sales, demand or churn, and reports accuracy metrics and confidence ranges.</a:t>
            </a:r>
            <a:endParaRPr lang="en-US" sz="1250" dirty="0"/>
          </a:p>
        </p:txBody>
      </p:sp>
      <p:sp>
        <p:nvSpPr>
          <p:cNvPr id="50" name="Shape 48"/>
          <p:cNvSpPr/>
          <p:nvPr/>
        </p:nvSpPr>
        <p:spPr>
          <a:xfrm>
            <a:off x="3337560" y="4480560"/>
            <a:ext cx="2651760" cy="1874520"/>
          </a:xfrm>
          <a:prstGeom prst="roundRect">
            <a:avLst>
              <a:gd name="adj" fmla="val 3902"/>
            </a:avLst>
          </a:prstGeom>
          <a:solidFill>
            <a:srgbClr val="F2F6FA"/>
          </a:solidFill>
          <a:ln w="9525">
            <a:solidFill>
              <a:srgbClr val="D5DEE8"/>
            </a:solidFill>
            <a:prstDash val="solid"/>
          </a:ln>
        </p:spPr>
        <p:txBody>
          <a:bodyPr/>
          <a:lstStyle/>
          <a:p>
            <a:endParaRPr lang="en-IN"/>
          </a:p>
        </p:txBody>
      </p:sp>
      <p:sp>
        <p:nvSpPr>
          <p:cNvPr id="51" name="Shape 49"/>
          <p:cNvSpPr/>
          <p:nvPr/>
        </p:nvSpPr>
        <p:spPr>
          <a:xfrm>
            <a:off x="3337560" y="4590288"/>
            <a:ext cx="64008" cy="365760"/>
          </a:xfrm>
          <a:prstGeom prst="rect">
            <a:avLst/>
          </a:prstGeom>
          <a:solidFill>
            <a:srgbClr val="F28C28"/>
          </a:solidFill>
          <a:ln/>
        </p:spPr>
        <p:txBody>
          <a:bodyPr/>
          <a:lstStyle/>
          <a:p>
            <a:endParaRPr lang="en-IN"/>
          </a:p>
        </p:txBody>
      </p:sp>
      <p:sp>
        <p:nvSpPr>
          <p:cNvPr id="52" name="Text 50"/>
          <p:cNvSpPr txBox="1"/>
          <p:nvPr/>
        </p:nvSpPr>
        <p:spPr>
          <a:xfrm>
            <a:off x="3520440" y="4572000"/>
            <a:ext cx="237744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6. Validator Agent</a:t>
            </a:r>
            <a:endParaRPr lang="en-US" sz="1400" dirty="0"/>
          </a:p>
        </p:txBody>
      </p:sp>
      <p:sp>
        <p:nvSpPr>
          <p:cNvPr id="53" name="Text 51"/>
          <p:cNvSpPr txBox="1"/>
          <p:nvPr/>
        </p:nvSpPr>
        <p:spPr>
          <a:xfrm>
            <a:off x="3520440" y="5029200"/>
            <a:ext cx="2331720" cy="1280160"/>
          </a:xfrm>
          <a:prstGeom prst="rect">
            <a:avLst/>
          </a:prstGeom>
          <a:noFill/>
          <a:ln/>
        </p:spPr>
        <p:txBody>
          <a:bodyPr wrap="square" lIns="0" tIns="0" rIns="0" bIns="0" rtlCol="0" anchor="t"/>
          <a:lstStyle/>
          <a:p>
            <a:pPr marL="0" indent="0">
              <a:buNone/>
            </a:pPr>
            <a:r>
              <a:rPr lang="en-US" sz="1250" dirty="0">
                <a:solidFill>
                  <a:srgbClr val="2B2B2B"/>
                </a:solidFill>
                <a:latin typeface="Calibri" pitchFamily="34" charset="0"/>
                <a:ea typeface="Calibri" pitchFamily="34" charset="-122"/>
                <a:cs typeface="Calibri" pitchFamily="34" charset="-120"/>
              </a:rPr>
              <a:t>Cross-checks generated code and numbers against source data, applies guardrails and rejects unsupported or inconsistent results.</a:t>
            </a:r>
            <a:endParaRPr lang="en-US" sz="1250" dirty="0"/>
          </a:p>
        </p:txBody>
      </p:sp>
      <p:sp>
        <p:nvSpPr>
          <p:cNvPr id="54" name="Shape 52"/>
          <p:cNvSpPr/>
          <p:nvPr/>
        </p:nvSpPr>
        <p:spPr>
          <a:xfrm>
            <a:off x="6126480" y="4480560"/>
            <a:ext cx="2651760" cy="1874520"/>
          </a:xfrm>
          <a:prstGeom prst="roundRect">
            <a:avLst>
              <a:gd name="adj" fmla="val 3902"/>
            </a:avLst>
          </a:prstGeom>
          <a:solidFill>
            <a:srgbClr val="F2F6FA"/>
          </a:solidFill>
          <a:ln w="9525">
            <a:solidFill>
              <a:srgbClr val="D5DEE8"/>
            </a:solidFill>
            <a:prstDash val="solid"/>
          </a:ln>
        </p:spPr>
        <p:txBody>
          <a:bodyPr/>
          <a:lstStyle/>
          <a:p>
            <a:endParaRPr lang="en-IN"/>
          </a:p>
        </p:txBody>
      </p:sp>
      <p:sp>
        <p:nvSpPr>
          <p:cNvPr id="55" name="Shape 53"/>
          <p:cNvSpPr/>
          <p:nvPr/>
        </p:nvSpPr>
        <p:spPr>
          <a:xfrm>
            <a:off x="6126480" y="4590288"/>
            <a:ext cx="64008" cy="365760"/>
          </a:xfrm>
          <a:prstGeom prst="rect">
            <a:avLst/>
          </a:prstGeom>
          <a:solidFill>
            <a:srgbClr val="F28C28"/>
          </a:solidFill>
          <a:ln/>
        </p:spPr>
        <p:txBody>
          <a:bodyPr/>
          <a:lstStyle/>
          <a:p>
            <a:endParaRPr lang="en-IN"/>
          </a:p>
        </p:txBody>
      </p:sp>
      <p:sp>
        <p:nvSpPr>
          <p:cNvPr id="56" name="Text 54"/>
          <p:cNvSpPr txBox="1"/>
          <p:nvPr/>
        </p:nvSpPr>
        <p:spPr>
          <a:xfrm>
            <a:off x="6309360" y="4572000"/>
            <a:ext cx="237744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7. Visualisation Agent</a:t>
            </a:r>
            <a:endParaRPr lang="en-US" sz="1400" dirty="0"/>
          </a:p>
        </p:txBody>
      </p:sp>
      <p:sp>
        <p:nvSpPr>
          <p:cNvPr id="57" name="Text 55"/>
          <p:cNvSpPr txBox="1"/>
          <p:nvPr/>
        </p:nvSpPr>
        <p:spPr>
          <a:xfrm>
            <a:off x="6309360" y="5029200"/>
            <a:ext cx="2331720" cy="1280160"/>
          </a:xfrm>
          <a:prstGeom prst="rect">
            <a:avLst/>
          </a:prstGeom>
          <a:noFill/>
          <a:ln/>
        </p:spPr>
        <p:txBody>
          <a:bodyPr wrap="square" lIns="0" tIns="0" rIns="0" bIns="0" rtlCol="0" anchor="t"/>
          <a:lstStyle/>
          <a:p>
            <a:pPr marL="0" indent="0">
              <a:buNone/>
            </a:pPr>
            <a:r>
              <a:rPr lang="en-US" sz="1250" dirty="0">
                <a:solidFill>
                  <a:srgbClr val="2B2B2B"/>
                </a:solidFill>
                <a:latin typeface="Calibri" pitchFamily="34" charset="0"/>
                <a:ea typeface="Calibri" pitchFamily="34" charset="-122"/>
                <a:cs typeface="Calibri" pitchFamily="34" charset="-120"/>
              </a:rPr>
              <a:t>Selects suitable chart types and builds interactive charts and dashboards from the verified results.</a:t>
            </a:r>
            <a:endParaRPr lang="en-US" sz="1250" dirty="0"/>
          </a:p>
        </p:txBody>
      </p:sp>
      <p:sp>
        <p:nvSpPr>
          <p:cNvPr id="58" name="Shape 56"/>
          <p:cNvSpPr/>
          <p:nvPr/>
        </p:nvSpPr>
        <p:spPr>
          <a:xfrm>
            <a:off x="8915400" y="4480560"/>
            <a:ext cx="2651760" cy="1874520"/>
          </a:xfrm>
          <a:prstGeom prst="roundRect">
            <a:avLst>
              <a:gd name="adj" fmla="val 3902"/>
            </a:avLst>
          </a:prstGeom>
          <a:solidFill>
            <a:srgbClr val="F2F6FA"/>
          </a:solidFill>
          <a:ln w="9525">
            <a:solidFill>
              <a:srgbClr val="D5DEE8"/>
            </a:solidFill>
            <a:prstDash val="solid"/>
          </a:ln>
        </p:spPr>
        <p:txBody>
          <a:bodyPr/>
          <a:lstStyle/>
          <a:p>
            <a:endParaRPr lang="en-IN"/>
          </a:p>
        </p:txBody>
      </p:sp>
      <p:sp>
        <p:nvSpPr>
          <p:cNvPr id="59" name="Shape 57"/>
          <p:cNvSpPr/>
          <p:nvPr/>
        </p:nvSpPr>
        <p:spPr>
          <a:xfrm>
            <a:off x="8915400" y="4590288"/>
            <a:ext cx="64008" cy="365760"/>
          </a:xfrm>
          <a:prstGeom prst="rect">
            <a:avLst/>
          </a:prstGeom>
          <a:solidFill>
            <a:srgbClr val="F28C28"/>
          </a:solidFill>
          <a:ln/>
        </p:spPr>
        <p:txBody>
          <a:bodyPr/>
          <a:lstStyle/>
          <a:p>
            <a:endParaRPr lang="en-IN"/>
          </a:p>
        </p:txBody>
      </p:sp>
      <p:sp>
        <p:nvSpPr>
          <p:cNvPr id="60" name="Text 58"/>
          <p:cNvSpPr txBox="1"/>
          <p:nvPr/>
        </p:nvSpPr>
        <p:spPr>
          <a:xfrm>
            <a:off x="9098280" y="4572000"/>
            <a:ext cx="2377440" cy="4114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8. Report &amp; Memory Module</a:t>
            </a:r>
            <a:endParaRPr lang="en-US" sz="1400" dirty="0"/>
          </a:p>
        </p:txBody>
      </p:sp>
      <p:sp>
        <p:nvSpPr>
          <p:cNvPr id="61" name="Text 59"/>
          <p:cNvSpPr txBox="1"/>
          <p:nvPr/>
        </p:nvSpPr>
        <p:spPr>
          <a:xfrm>
            <a:off x="9098280" y="5029200"/>
            <a:ext cx="2331720" cy="1280160"/>
          </a:xfrm>
          <a:prstGeom prst="rect">
            <a:avLst/>
          </a:prstGeom>
          <a:noFill/>
          <a:ln/>
        </p:spPr>
        <p:txBody>
          <a:bodyPr wrap="square" lIns="0" tIns="0" rIns="0" bIns="0" rtlCol="0" anchor="t"/>
          <a:lstStyle/>
          <a:p>
            <a:pPr marL="0" indent="0">
              <a:buNone/>
            </a:pPr>
            <a:r>
              <a:rPr lang="en-US" sz="1250" dirty="0">
                <a:solidFill>
                  <a:srgbClr val="2B2B2B"/>
                </a:solidFill>
                <a:latin typeface="Calibri" pitchFamily="34" charset="0"/>
                <a:ea typeface="Calibri" pitchFamily="34" charset="-122"/>
                <a:cs typeface="Calibri" pitchFamily="34" charset="-120"/>
              </a:rPr>
              <a:t>Writes a plain-language summary with recommendations, and stores past queries and context in a vector store for reuse.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p:spPr>
        <p:txBody>
          <a:bodyPr/>
          <a:lstStyle/>
          <a:p>
            <a:endParaRPr lang="en-IN"/>
          </a:p>
        </p:txBody>
      </p:sp>
      <p:sp>
        <p:nvSpPr>
          <p:cNvPr id="3" name="Text 1"/>
          <p:cNvSpPr txBox="1"/>
          <p:nvPr/>
        </p:nvSpPr>
        <p:spPr>
          <a:xfrm>
            <a:off x="548640" y="137160"/>
            <a:ext cx="969264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Tools, Frameworks and Deployment</a:t>
            </a:r>
            <a:endParaRPr lang="en-US" sz="2800" dirty="0"/>
          </a:p>
        </p:txBody>
      </p:sp>
      <p:sp>
        <p:nvSpPr>
          <p:cNvPr id="6" name="Logo accent"/>
          <p:cNvSpPr/>
          <p:nvPr/>
        </p:nvSpPr>
        <p:spPr>
          <a:xfrm>
            <a:off x="10698480" y="658368"/>
            <a:ext cx="822960" cy="45720"/>
          </a:xfrm>
          <a:prstGeom prst="rect">
            <a:avLst/>
          </a:prstGeom>
          <a:solidFill>
            <a:srgbClr val="13A89E"/>
          </a:solidFill>
          <a:ln/>
        </p:spPr>
        <p:txBody>
          <a:bodyPr/>
          <a:lstStyle/>
          <a:p>
            <a:endParaRPr lang="en-IN"/>
          </a:p>
        </p:txBody>
      </p:sp>
      <p:sp>
        <p:nvSpPr>
          <p:cNvPr id="7" name="Text 5"/>
          <p:cNvSpPr txBox="1"/>
          <p:nvPr/>
        </p:nvSpPr>
        <p:spPr>
          <a:xfrm>
            <a:off x="548640" y="6473952"/>
            <a:ext cx="10058400" cy="274320"/>
          </a:xfrm>
          <a:prstGeom prst="rect">
            <a:avLst/>
          </a:prstGeom>
          <a:noFill/>
          <a:ln/>
        </p:spPr>
        <p:txBody>
          <a:bodyPr wrap="square" lIns="0" tIns="0" rIns="0" bIns="0" rtlCol="0" anchor="ctr"/>
          <a:lstStyle/>
          <a:p>
            <a:pPr marL="0" indent="0">
              <a:buNone/>
            </a:pPr>
            <a:r>
              <a:rPr lang="en-US" sz="1000" dirty="0">
                <a:solidFill>
                  <a:srgbClr val="44546A"/>
                </a:solidFill>
                <a:latin typeface="Calibri" pitchFamily="34" charset="0"/>
                <a:ea typeface="Calibri" pitchFamily="34" charset="-122"/>
                <a:cs typeface="Calibri" pitchFamily="34" charset="-120"/>
              </a:rPr>
              <a:t>Multi-Agent Autonomous Business Intelligence Platform  |  SHYAM.K  |  T9935  |  Review 3</a:t>
            </a:r>
            <a:endParaRPr lang="en-US" sz="1000" dirty="0"/>
          </a:p>
        </p:txBody>
      </p:sp>
      <p:sp>
        <p:nvSpPr>
          <p:cNvPr id="8" name="Text 6"/>
          <p:cNvSpPr txBox="1"/>
          <p:nvPr/>
        </p:nvSpPr>
        <p:spPr>
          <a:xfrm>
            <a:off x="11155680" y="6473952"/>
            <a:ext cx="548640" cy="274320"/>
          </a:xfrm>
          <a:prstGeom prst="rect">
            <a:avLst/>
          </a:prstGeom>
          <a:noFill/>
          <a:ln/>
        </p:spPr>
        <p:txBody>
          <a:bodyPr wrap="square" lIns="0" tIns="0" rIns="0" bIns="0" rtlCol="0" anchor="ctr"/>
          <a:lstStyle/>
          <a:p>
            <a:pPr marL="0" indent="0" algn="r">
              <a:buNone/>
            </a:pPr>
            <a:r>
              <a:rPr lang="en-US" sz="1000" dirty="0">
                <a:solidFill>
                  <a:srgbClr val="44546A"/>
                </a:solidFill>
                <a:latin typeface="Calibri" pitchFamily="34" charset="0"/>
                <a:ea typeface="Calibri" pitchFamily="34" charset="-122"/>
                <a:cs typeface="Calibri" pitchFamily="34" charset="-120"/>
              </a:rPr>
              <a:t>5</a:t>
            </a:r>
            <a:endParaRPr lang="en-US" sz="1000" dirty="0"/>
          </a:p>
        </p:txBody>
      </p:sp>
      <p:sp>
        <p:nvSpPr>
          <p:cNvPr id="9" name="Text 7"/>
          <p:cNvSpPr txBox="1"/>
          <p:nvPr/>
        </p:nvSpPr>
        <p:spPr>
          <a:xfrm>
            <a:off x="548640" y="1188720"/>
            <a:ext cx="5486400" cy="365760"/>
          </a:xfrm>
          <a:prstGeom prst="rect">
            <a:avLst/>
          </a:prstGeom>
          <a:noFill/>
          <a:ln/>
        </p:spPr>
        <p:txBody>
          <a:bodyPr wrap="square" lIns="0" tIns="0" rIns="0" bIns="0" rtlCol="0" anchor="ctr"/>
          <a:lstStyle/>
          <a:p>
            <a:pPr marL="0" indent="0">
              <a:buNone/>
            </a:pPr>
            <a:r>
              <a:rPr lang="en-US" sz="1700" b="1" dirty="0">
                <a:solidFill>
                  <a:srgbClr val="13A89E"/>
                </a:solidFill>
                <a:latin typeface="Calibri" pitchFamily="34" charset="0"/>
                <a:ea typeface="Calibri" pitchFamily="34" charset="-122"/>
                <a:cs typeface="Calibri" pitchFamily="34" charset="-120"/>
              </a:rPr>
              <a:t>Tools &amp; Frameworks</a:t>
            </a:r>
            <a:endParaRPr lang="en-US" sz="1700" dirty="0"/>
          </a:p>
        </p:txBody>
      </p:sp>
      <p:sp>
        <p:nvSpPr>
          <p:cNvPr id="10" name="Shape 8"/>
          <p:cNvSpPr/>
          <p:nvPr/>
        </p:nvSpPr>
        <p:spPr>
          <a:xfrm>
            <a:off x="548640" y="1645920"/>
            <a:ext cx="5577840" cy="841248"/>
          </a:xfrm>
          <a:prstGeom prst="roundRect">
            <a:avLst>
              <a:gd name="adj" fmla="val 8696"/>
            </a:avLst>
          </a:prstGeom>
          <a:solidFill>
            <a:srgbClr val="F2F6FA"/>
          </a:solidFill>
          <a:ln/>
        </p:spPr>
        <p:txBody>
          <a:bodyPr/>
          <a:lstStyle/>
          <a:p>
            <a:endParaRPr lang="en-IN"/>
          </a:p>
        </p:txBody>
      </p:sp>
      <p:sp>
        <p:nvSpPr>
          <p:cNvPr id="11" name="Shape 9"/>
          <p:cNvSpPr/>
          <p:nvPr/>
        </p:nvSpPr>
        <p:spPr>
          <a:xfrm>
            <a:off x="548640" y="1737360"/>
            <a:ext cx="64008" cy="658368"/>
          </a:xfrm>
          <a:prstGeom prst="rect">
            <a:avLst/>
          </a:prstGeom>
          <a:solidFill>
            <a:srgbClr val="13A89E"/>
          </a:solidFill>
          <a:ln/>
        </p:spPr>
        <p:txBody>
          <a:bodyPr/>
          <a:lstStyle/>
          <a:p>
            <a:endParaRPr lang="en-IN"/>
          </a:p>
        </p:txBody>
      </p:sp>
      <p:sp>
        <p:nvSpPr>
          <p:cNvPr id="12" name="Text 10"/>
          <p:cNvSpPr txBox="1"/>
          <p:nvPr/>
        </p:nvSpPr>
        <p:spPr>
          <a:xfrm>
            <a:off x="777240" y="1645920"/>
            <a:ext cx="5257800" cy="8412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Agent Framework &amp; LLM</a:t>
            </a:r>
            <a:endParaRPr lang="en-US" sz="1400" dirty="0"/>
          </a:p>
          <a:p>
            <a:pPr marL="0" indent="0">
              <a:buNone/>
            </a:pPr>
            <a:r>
              <a:rPr lang="en-US" sz="1250" dirty="0">
                <a:solidFill>
                  <a:srgbClr val="2B2B2B"/>
                </a:solidFill>
                <a:latin typeface="Calibri" pitchFamily="34" charset="0"/>
                <a:ea typeface="Calibri" pitchFamily="34" charset="-122"/>
                <a:cs typeface="Calibri" pitchFamily="34" charset="-120"/>
              </a:rPr>
              <a:t>LangGraph / CrewAI for agent orchestration; Claude or GPT-class LLM via API for reasoning and code generation.</a:t>
            </a:r>
            <a:endParaRPr lang="en-US" sz="1400" dirty="0"/>
          </a:p>
        </p:txBody>
      </p:sp>
      <p:sp>
        <p:nvSpPr>
          <p:cNvPr id="13" name="Shape 11"/>
          <p:cNvSpPr/>
          <p:nvPr/>
        </p:nvSpPr>
        <p:spPr>
          <a:xfrm>
            <a:off x="548640" y="2578608"/>
            <a:ext cx="5577840" cy="841248"/>
          </a:xfrm>
          <a:prstGeom prst="roundRect">
            <a:avLst>
              <a:gd name="adj" fmla="val 8696"/>
            </a:avLst>
          </a:prstGeom>
          <a:solidFill>
            <a:srgbClr val="F2F6FA"/>
          </a:solidFill>
          <a:ln/>
        </p:spPr>
        <p:txBody>
          <a:bodyPr/>
          <a:lstStyle/>
          <a:p>
            <a:endParaRPr lang="en-IN"/>
          </a:p>
        </p:txBody>
      </p:sp>
      <p:sp>
        <p:nvSpPr>
          <p:cNvPr id="14" name="Shape 12"/>
          <p:cNvSpPr/>
          <p:nvPr/>
        </p:nvSpPr>
        <p:spPr>
          <a:xfrm>
            <a:off x="548640" y="2670048"/>
            <a:ext cx="64008" cy="658368"/>
          </a:xfrm>
          <a:prstGeom prst="rect">
            <a:avLst/>
          </a:prstGeom>
          <a:solidFill>
            <a:srgbClr val="13A89E"/>
          </a:solidFill>
          <a:ln/>
        </p:spPr>
        <p:txBody>
          <a:bodyPr/>
          <a:lstStyle/>
          <a:p>
            <a:endParaRPr lang="en-IN"/>
          </a:p>
        </p:txBody>
      </p:sp>
      <p:sp>
        <p:nvSpPr>
          <p:cNvPr id="15" name="Text 13"/>
          <p:cNvSpPr txBox="1"/>
          <p:nvPr/>
        </p:nvSpPr>
        <p:spPr>
          <a:xfrm>
            <a:off x="777240" y="2578608"/>
            <a:ext cx="5257800" cy="8412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Data &amp; Analytics</a:t>
            </a:r>
            <a:endParaRPr lang="en-US" sz="1400" dirty="0"/>
          </a:p>
          <a:p>
            <a:pPr marL="0" indent="0">
              <a:buNone/>
            </a:pPr>
            <a:r>
              <a:rPr lang="en-US" sz="1250" dirty="0">
                <a:solidFill>
                  <a:srgbClr val="2B2B2B"/>
                </a:solidFill>
                <a:latin typeface="Calibri" pitchFamily="34" charset="0"/>
                <a:ea typeface="Calibri" pitchFamily="34" charset="-122"/>
                <a:cs typeface="Calibri" pitchFamily="34" charset="-120"/>
              </a:rPr>
              <a:t>Python, Pandas, NumPy, SQL with PostgreSQL, Scikit-learn and Prophet/Statsmodels for forecasting.</a:t>
            </a:r>
            <a:endParaRPr lang="en-US" sz="1400" dirty="0"/>
          </a:p>
        </p:txBody>
      </p:sp>
      <p:sp>
        <p:nvSpPr>
          <p:cNvPr id="16" name="Shape 14"/>
          <p:cNvSpPr/>
          <p:nvPr/>
        </p:nvSpPr>
        <p:spPr>
          <a:xfrm>
            <a:off x="548640" y="3511296"/>
            <a:ext cx="5577840" cy="841248"/>
          </a:xfrm>
          <a:prstGeom prst="roundRect">
            <a:avLst>
              <a:gd name="adj" fmla="val 8696"/>
            </a:avLst>
          </a:prstGeom>
          <a:solidFill>
            <a:srgbClr val="F2F6FA"/>
          </a:solidFill>
          <a:ln/>
        </p:spPr>
        <p:txBody>
          <a:bodyPr/>
          <a:lstStyle/>
          <a:p>
            <a:endParaRPr lang="en-IN"/>
          </a:p>
        </p:txBody>
      </p:sp>
      <p:sp>
        <p:nvSpPr>
          <p:cNvPr id="17" name="Shape 15"/>
          <p:cNvSpPr/>
          <p:nvPr/>
        </p:nvSpPr>
        <p:spPr>
          <a:xfrm>
            <a:off x="548640" y="3602736"/>
            <a:ext cx="64008" cy="658368"/>
          </a:xfrm>
          <a:prstGeom prst="rect">
            <a:avLst/>
          </a:prstGeom>
          <a:solidFill>
            <a:srgbClr val="13A89E"/>
          </a:solidFill>
          <a:ln/>
        </p:spPr>
        <p:txBody>
          <a:bodyPr/>
          <a:lstStyle/>
          <a:p>
            <a:endParaRPr lang="en-IN"/>
          </a:p>
        </p:txBody>
      </p:sp>
      <p:sp>
        <p:nvSpPr>
          <p:cNvPr id="18" name="Text 16"/>
          <p:cNvSpPr txBox="1"/>
          <p:nvPr/>
        </p:nvSpPr>
        <p:spPr>
          <a:xfrm>
            <a:off x="777240" y="3511296"/>
            <a:ext cx="5257800" cy="8412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Memory &amp; Retrieval</a:t>
            </a:r>
            <a:endParaRPr lang="en-US" sz="1400" dirty="0"/>
          </a:p>
          <a:p>
            <a:pPr marL="0" indent="0">
              <a:buNone/>
            </a:pPr>
            <a:r>
              <a:rPr lang="en-US" sz="1250" dirty="0">
                <a:solidFill>
                  <a:srgbClr val="2B2B2B"/>
                </a:solidFill>
                <a:latin typeface="Calibri" pitchFamily="34" charset="0"/>
                <a:ea typeface="Calibri" pitchFamily="34" charset="-122"/>
                <a:cs typeface="Calibri" pitchFamily="34" charset="-120"/>
              </a:rPr>
              <a:t>ChromaDB / FAISS vector store for schema, query history and context retrieval (RAG).</a:t>
            </a:r>
            <a:endParaRPr lang="en-US" sz="1400" dirty="0"/>
          </a:p>
        </p:txBody>
      </p:sp>
      <p:sp>
        <p:nvSpPr>
          <p:cNvPr id="19" name="Shape 17"/>
          <p:cNvSpPr/>
          <p:nvPr/>
        </p:nvSpPr>
        <p:spPr>
          <a:xfrm>
            <a:off x="548640" y="4443984"/>
            <a:ext cx="5577840" cy="841248"/>
          </a:xfrm>
          <a:prstGeom prst="roundRect">
            <a:avLst>
              <a:gd name="adj" fmla="val 8696"/>
            </a:avLst>
          </a:prstGeom>
          <a:solidFill>
            <a:srgbClr val="F2F6FA"/>
          </a:solidFill>
          <a:ln/>
        </p:spPr>
        <p:txBody>
          <a:bodyPr/>
          <a:lstStyle/>
          <a:p>
            <a:endParaRPr lang="en-IN"/>
          </a:p>
        </p:txBody>
      </p:sp>
      <p:sp>
        <p:nvSpPr>
          <p:cNvPr id="20" name="Shape 18"/>
          <p:cNvSpPr/>
          <p:nvPr/>
        </p:nvSpPr>
        <p:spPr>
          <a:xfrm>
            <a:off x="548640" y="4535424"/>
            <a:ext cx="64008" cy="658368"/>
          </a:xfrm>
          <a:prstGeom prst="rect">
            <a:avLst/>
          </a:prstGeom>
          <a:solidFill>
            <a:srgbClr val="13A89E"/>
          </a:solidFill>
          <a:ln/>
        </p:spPr>
        <p:txBody>
          <a:bodyPr/>
          <a:lstStyle/>
          <a:p>
            <a:endParaRPr lang="en-IN"/>
          </a:p>
        </p:txBody>
      </p:sp>
      <p:sp>
        <p:nvSpPr>
          <p:cNvPr id="21" name="Text 19"/>
          <p:cNvSpPr txBox="1"/>
          <p:nvPr/>
        </p:nvSpPr>
        <p:spPr>
          <a:xfrm>
            <a:off x="777240" y="4443984"/>
            <a:ext cx="5257800" cy="8412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Backend &amp; Frontend</a:t>
            </a:r>
            <a:endParaRPr lang="en-US" sz="1400" dirty="0"/>
          </a:p>
          <a:p>
            <a:pPr marL="0" indent="0">
              <a:buNone/>
            </a:pPr>
            <a:r>
              <a:rPr lang="en-US" sz="1250" dirty="0">
                <a:solidFill>
                  <a:srgbClr val="2B2B2B"/>
                </a:solidFill>
                <a:latin typeface="Calibri" pitchFamily="34" charset="0"/>
                <a:ea typeface="Calibri" pitchFamily="34" charset="-122"/>
                <a:cs typeface="Calibri" pitchFamily="34" charset="-120"/>
              </a:rPr>
              <a:t>FastAPI REST services; Streamlit or React dashboard with Plotly for interactive charts.</a:t>
            </a:r>
            <a:endParaRPr lang="en-US" sz="1400" dirty="0"/>
          </a:p>
        </p:txBody>
      </p:sp>
      <p:sp>
        <p:nvSpPr>
          <p:cNvPr id="22" name="Shape 20"/>
          <p:cNvSpPr/>
          <p:nvPr/>
        </p:nvSpPr>
        <p:spPr>
          <a:xfrm>
            <a:off x="548640" y="5376672"/>
            <a:ext cx="5577840" cy="841248"/>
          </a:xfrm>
          <a:prstGeom prst="roundRect">
            <a:avLst>
              <a:gd name="adj" fmla="val 8696"/>
            </a:avLst>
          </a:prstGeom>
          <a:solidFill>
            <a:srgbClr val="F2F6FA"/>
          </a:solidFill>
          <a:ln/>
        </p:spPr>
        <p:txBody>
          <a:bodyPr/>
          <a:lstStyle/>
          <a:p>
            <a:endParaRPr lang="en-IN"/>
          </a:p>
        </p:txBody>
      </p:sp>
      <p:sp>
        <p:nvSpPr>
          <p:cNvPr id="23" name="Shape 21"/>
          <p:cNvSpPr/>
          <p:nvPr/>
        </p:nvSpPr>
        <p:spPr>
          <a:xfrm>
            <a:off x="548640" y="5468112"/>
            <a:ext cx="64008" cy="658368"/>
          </a:xfrm>
          <a:prstGeom prst="rect">
            <a:avLst/>
          </a:prstGeom>
          <a:solidFill>
            <a:srgbClr val="13A89E"/>
          </a:solidFill>
          <a:ln/>
        </p:spPr>
        <p:txBody>
          <a:bodyPr/>
          <a:lstStyle/>
          <a:p>
            <a:endParaRPr lang="en-IN"/>
          </a:p>
        </p:txBody>
      </p:sp>
      <p:sp>
        <p:nvSpPr>
          <p:cNvPr id="24" name="Text 22"/>
          <p:cNvSpPr txBox="1"/>
          <p:nvPr/>
        </p:nvSpPr>
        <p:spPr>
          <a:xfrm>
            <a:off x="777240" y="5376672"/>
            <a:ext cx="5257800" cy="84124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DevOps &amp; Quality</a:t>
            </a:r>
            <a:endParaRPr lang="en-US" sz="1400" dirty="0"/>
          </a:p>
          <a:p>
            <a:pPr marL="0" indent="0">
              <a:buNone/>
            </a:pPr>
            <a:r>
              <a:rPr lang="en-US" sz="1250" dirty="0">
                <a:solidFill>
                  <a:srgbClr val="2B2B2B"/>
                </a:solidFill>
                <a:latin typeface="Calibri" pitchFamily="34" charset="0"/>
                <a:ea typeface="Calibri" pitchFamily="34" charset="-122"/>
                <a:cs typeface="Calibri" pitchFamily="34" charset="-120"/>
              </a:rPr>
              <a:t>Docker, GitHub Actions CI/CD, Pytest for testing, logging and monitoring of agent runs.</a:t>
            </a:r>
            <a:endParaRPr lang="en-US" sz="1400" dirty="0"/>
          </a:p>
        </p:txBody>
      </p:sp>
      <p:sp>
        <p:nvSpPr>
          <p:cNvPr id="25" name="Text 23"/>
          <p:cNvSpPr txBox="1"/>
          <p:nvPr/>
        </p:nvSpPr>
        <p:spPr>
          <a:xfrm>
            <a:off x="6492240" y="1188720"/>
            <a:ext cx="5120640" cy="365760"/>
          </a:xfrm>
          <a:prstGeom prst="rect">
            <a:avLst/>
          </a:prstGeom>
          <a:noFill/>
          <a:ln/>
        </p:spPr>
        <p:txBody>
          <a:bodyPr wrap="square" lIns="0" tIns="0" rIns="0" bIns="0" rtlCol="0" anchor="ctr"/>
          <a:lstStyle/>
          <a:p>
            <a:pPr marL="0" indent="0">
              <a:buNone/>
            </a:pPr>
            <a:r>
              <a:rPr lang="en-US" sz="1700" b="1" dirty="0">
                <a:solidFill>
                  <a:srgbClr val="F28C28"/>
                </a:solidFill>
                <a:latin typeface="Calibri" pitchFamily="34" charset="0"/>
                <a:ea typeface="Calibri" pitchFamily="34" charset="-122"/>
                <a:cs typeface="Calibri" pitchFamily="34" charset="-120"/>
              </a:rPr>
              <a:t>How Deployment Is Done</a:t>
            </a:r>
            <a:endParaRPr lang="en-US" sz="1700" dirty="0"/>
          </a:p>
        </p:txBody>
      </p:sp>
      <p:sp>
        <p:nvSpPr>
          <p:cNvPr id="26" name="Text 24"/>
          <p:cNvSpPr txBox="1"/>
          <p:nvPr/>
        </p:nvSpPr>
        <p:spPr>
          <a:xfrm>
            <a:off x="6492240" y="1645920"/>
            <a:ext cx="5166360" cy="4663440"/>
          </a:xfrm>
          <a:prstGeom prst="rect">
            <a:avLst/>
          </a:prstGeom>
          <a:noFill/>
          <a:ln/>
        </p:spPr>
        <p:txBody>
          <a:bodyPr wrap="square" lIns="0" tIns="0" rIns="0" bIns="0" rtlCol="0" anchor="t"/>
          <a:lstStyle/>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Containerise: </a:t>
            </a:r>
            <a:r>
              <a:rPr lang="en-US" sz="1550" dirty="0">
                <a:solidFill>
                  <a:srgbClr val="2B2B2B"/>
                </a:solidFill>
                <a:latin typeface="Calibri" pitchFamily="34" charset="0"/>
                <a:ea typeface="Calibri" pitchFamily="34" charset="-122"/>
                <a:cs typeface="Calibri" pitchFamily="34" charset="-120"/>
              </a:rPr>
              <a:t>Each service (agent API, vector DB, frontend) is packaged in its own Docker image with pinned dependencies.</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Orchestrate: </a:t>
            </a:r>
            <a:r>
              <a:rPr lang="en-US" sz="1550" dirty="0">
                <a:solidFill>
                  <a:srgbClr val="2B2B2B"/>
                </a:solidFill>
                <a:latin typeface="Calibri" pitchFamily="34" charset="0"/>
                <a:ea typeface="Calibri" pitchFamily="34" charset="-122"/>
                <a:cs typeface="Calibri" pitchFamily="34" charset="-120"/>
              </a:rPr>
              <a:t>Docker Compose runs the services together locally and in staging, with shared networks and volumes.</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CI/CD: </a:t>
            </a:r>
            <a:r>
              <a:rPr lang="en-US" sz="1550" dirty="0">
                <a:solidFill>
                  <a:srgbClr val="2B2B2B"/>
                </a:solidFill>
                <a:latin typeface="Calibri" pitchFamily="34" charset="0"/>
                <a:ea typeface="Calibri" pitchFamily="34" charset="-122"/>
                <a:cs typeface="Calibri" pitchFamily="34" charset="-120"/>
              </a:rPr>
              <a:t>On every push, GitHub Actions runs tests, builds images and pushes them to a container registry.</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Host on cloud: </a:t>
            </a:r>
            <a:r>
              <a:rPr lang="en-US" sz="1550" dirty="0">
                <a:solidFill>
                  <a:srgbClr val="2B2B2B"/>
                </a:solidFill>
                <a:latin typeface="Calibri" pitchFamily="34" charset="0"/>
                <a:ea typeface="Calibri" pitchFamily="34" charset="-122"/>
                <a:cs typeface="Calibri" pitchFamily="34" charset="-120"/>
              </a:rPr>
              <a:t>Containers are deployed to a cloud VM or managed container service (AWS/Azure) behind a reverse proxy with HTTPS.</a:t>
            </a:r>
            <a:endParaRPr lang="en-US" sz="1550" dirty="0"/>
          </a:p>
          <a:p>
            <a:pPr marL="203200" indent="-203200">
              <a:spcAft>
                <a:spcPts val="1600"/>
              </a:spcAft>
              <a:buSzPct val="100000"/>
              <a:buChar char="•"/>
            </a:pPr>
            <a:r>
              <a:rPr lang="en-US" sz="1550" b="1" dirty="0">
                <a:solidFill>
                  <a:srgbClr val="0B2545"/>
                </a:solidFill>
                <a:latin typeface="Calibri" pitchFamily="34" charset="0"/>
                <a:ea typeface="Calibri" pitchFamily="34" charset="-122"/>
                <a:cs typeface="Calibri" pitchFamily="34" charset="-120"/>
              </a:rPr>
              <a:t>Secure &amp; monitor: </a:t>
            </a:r>
            <a:r>
              <a:rPr lang="en-US" sz="1550" dirty="0">
                <a:solidFill>
                  <a:srgbClr val="2B2B2B"/>
                </a:solidFill>
                <a:latin typeface="Calibri" pitchFamily="34" charset="0"/>
                <a:ea typeface="Calibri" pitchFamily="34" charset="-122"/>
                <a:cs typeface="Calibri" pitchFamily="34" charset="-120"/>
              </a:rPr>
              <a:t>API keys are kept in environment secrets, read-only DB credentials are used, and logs track every agent step.</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1924</Words>
  <Application>Microsoft Office PowerPoint</Application>
  <PresentationFormat>Widescreen</PresentationFormat>
  <Paragraphs>224</Paragraphs>
  <Slides>10</Slides>
  <Notes>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Aptos</vt:lpstr>
      <vt:lpstr>Arial</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Deepfake Authentication — Review 3</dc:title>
  <dc:subject>Project presentation by SHYAM.K (T9935)</dc:subject>
  <dc:creator>SHYAM.K</dc:creator>
  <cp:keywords/>
  <dc:description>generated using python-pptx</dc:description>
  <cp:lastModifiedBy>Shyam Kannan</cp:lastModifiedBy>
  <cp:revision>3</cp:revision>
  <dcterms:created xsi:type="dcterms:W3CDTF">2013-01-27T09:14:16Z</dcterms:created>
  <dcterms:modified xsi:type="dcterms:W3CDTF">2026-10-12T19:19:08Z</dcterms:modified>
  <cp:category/>
</cp:coreProperties>
</file>