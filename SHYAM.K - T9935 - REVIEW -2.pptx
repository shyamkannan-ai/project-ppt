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88d0b7462f9423f" /><Relationship Type="http://schemas.openxmlformats.org/package/2006/relationships/metadata/core-properties" Target="/docProps/core.xml" Id="Rb8f4adcb7be6460a" /><Relationship Type="http://schemas.openxmlformats.org/officeDocument/2006/relationships/extended-properties" Target="/docProps/app.xml" Id="Rb2529f0ec800440b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aa58cb9448cb4689"/>
    <p:sldMasterId id="2147483651" r:id="R9c9928295e5749a6"/>
  </p:sldMasterIdLst>
  <p:notesMasterIdLst>
    <p:notesMasterId r:id="Rbe736dd65a1a4d94"/>
  </p:notesMasterIdLst>
  <p:sldIdLst>
    <p:sldId id="256" r:id="R9ec8ef8f1fa04ad1"/>
    <p:sldId id="257" r:id="Rfbb256aa165b4851"/>
    <p:sldId id="258" r:id="Rf5f3aa97eb9b46f6"/>
    <p:sldId id="259" r:id="Rac28bfffeedb42b8"/>
    <p:sldId id="260" r:id="Rf8ae5f6d9c774573"/>
    <p:sldId id="261" r:id="R09248f1b99214b32"/>
    <p:sldId id="262" r:id="R238cff27b3aa4240"/>
    <p:sldId id="263" r:id="Rc86e09823b8d4026"/>
    <p:sldId id="264" r:id="Rcb9df37bbd514614"/>
    <p:sldId id="265" r:id="R1975059fcd574d1d"/>
    <p:sldId id="266" r:id="R04c7274f9b5147a8"/>
    <p:sldId id="267" r:id="R3262390731664b94"/>
    <p:sldId id="268" r:id="R87667e5d768f4b02"/>
    <p:sldId id="269" r:id="R4a753cc3684d492f"/>
    <p:sldId id="270" r:id="R857460deff0c4e33"/>
    <p:sldId id="271" r:id="R74a6f6626f294c5a"/>
    <p:sldId id="272" r:id="Rfdf34e3a4c794abf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e736dd65a1a4d94" /><Relationship Type="http://schemas.openxmlformats.org/officeDocument/2006/relationships/presProps" Target="/ppt/presProps.xml" Id="Rf5a5edf129fb4a76" /><Relationship Type="http://schemas.openxmlformats.org/officeDocument/2006/relationships/viewProps" Target="/ppt/viewProps.xml" Id="R83bb6b3f2f964773" /><Relationship Type="http://schemas.openxmlformats.org/officeDocument/2006/relationships/slideMaster" Target="/ppt/slideMasters/slideMaster1.xml" Id="Raa58cb9448cb4689" /><Relationship Type="http://schemas.openxmlformats.org/officeDocument/2006/relationships/theme" Target="/ppt/slideMasters/theme/theme2.xml" Id="R63daa14edb3a47d0" /><Relationship Type="http://schemas.openxmlformats.org/officeDocument/2006/relationships/slide" Target="/ppt/slides/slide1.xml" Id="R9ec8ef8f1fa04ad1" /><Relationship Type="http://schemas.openxmlformats.org/officeDocument/2006/relationships/slide" Target="/ppt/slides/slide2.xml" Id="Rfbb256aa165b4851" /><Relationship Type="http://schemas.openxmlformats.org/officeDocument/2006/relationships/slide" Target="/ppt/slides/slide3.xml" Id="Rf5f3aa97eb9b46f6" /><Relationship Type="http://schemas.openxmlformats.org/officeDocument/2006/relationships/slide" Target="/ppt/slides/slide4.xml" Id="Rac28bfffeedb42b8" /><Relationship Type="http://schemas.openxmlformats.org/officeDocument/2006/relationships/slide" Target="/ppt/slides/slide5.xml" Id="Rf8ae5f6d9c774573" /><Relationship Type="http://schemas.openxmlformats.org/officeDocument/2006/relationships/slide" Target="/ppt/slides/slide6.xml" Id="R09248f1b99214b32" /><Relationship Type="http://schemas.openxmlformats.org/officeDocument/2006/relationships/slide" Target="/ppt/slides/slide7.xml" Id="R238cff27b3aa4240" /><Relationship Type="http://schemas.openxmlformats.org/officeDocument/2006/relationships/slide" Target="/ppt/slides/slide8.xml" Id="Rc86e09823b8d4026" /><Relationship Type="http://schemas.openxmlformats.org/officeDocument/2006/relationships/slideMaster" Target="/ppt/slideMasters/slideMaster2.xml" Id="R9c9928295e5749a6" /><Relationship Type="http://schemas.openxmlformats.org/officeDocument/2006/relationships/slide" Target="/ppt/slides/slide9.xml" Id="Rcb9df37bbd514614" /><Relationship Type="http://schemas.openxmlformats.org/officeDocument/2006/relationships/slide" Target="/ppt/slides/slide10.xml" Id="R1975059fcd574d1d" /><Relationship Type="http://schemas.openxmlformats.org/officeDocument/2006/relationships/slide" Target="/ppt/slides/slide11.xml" Id="R04c7274f9b5147a8" /><Relationship Type="http://schemas.openxmlformats.org/officeDocument/2006/relationships/slide" Target="/ppt/slides/slide12.xml" Id="R3262390731664b94" /><Relationship Type="http://schemas.openxmlformats.org/officeDocument/2006/relationships/slide" Target="/ppt/slides/slide13.xml" Id="R87667e5d768f4b02" /><Relationship Type="http://schemas.openxmlformats.org/officeDocument/2006/relationships/slide" Target="/ppt/slides/slide14.xml" Id="R4a753cc3684d492f" /><Relationship Type="http://schemas.openxmlformats.org/officeDocument/2006/relationships/slide" Target="/ppt/slides/slide15.xml" Id="R857460deff0c4e33" /><Relationship Type="http://schemas.openxmlformats.org/officeDocument/2006/relationships/slide" Target="/ppt/slides/slide16.xml" Id="R74a6f6626f294c5a" /><Relationship Type="http://schemas.openxmlformats.org/officeDocument/2006/relationships/slide" Target="/ppt/slides/slide17.xml" Id="Rfdf34e3a4c794a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da126f36b8f84bab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c430be81f0467c" /><Relationship Type="http://schemas.openxmlformats.org/officeDocument/2006/relationships/notesMaster" Target="/ppt/notesMasters/notesMaster1.xml" Id="R25efe486c12b43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6f12add78f4a38" /><Relationship Type="http://schemas.openxmlformats.org/officeDocument/2006/relationships/notesMaster" Target="/ppt/notesMasters/notesMaster1.xml" Id="Rc713545f22a74a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38a7e002494d65" /><Relationship Type="http://schemas.openxmlformats.org/officeDocument/2006/relationships/notesMaster" Target="/ppt/notesMasters/notesMaster1.xml" Id="Rcf62979a17b84c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2f3651f59d4d0f" /><Relationship Type="http://schemas.openxmlformats.org/officeDocument/2006/relationships/notesMaster" Target="/ppt/notesMasters/notesMaster1.xml" Id="R3ced80b69c2b40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bc965ba2274449" /><Relationship Type="http://schemas.openxmlformats.org/officeDocument/2006/relationships/notesMaster" Target="/ppt/notesMasters/notesMaster1.xml" Id="R7f25fe86070f43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b1afb3b914679" /><Relationship Type="http://schemas.openxmlformats.org/officeDocument/2006/relationships/notesMaster" Target="/ppt/notesMasters/notesMaster1.xml" Id="R57296ad2bae14e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e8c117dc6944b1" /><Relationship Type="http://schemas.openxmlformats.org/officeDocument/2006/relationships/notesMaster" Target="/ppt/notesMasters/notesMaster1.xml" Id="R66148b9f181948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51a32624c84740" /><Relationship Type="http://schemas.openxmlformats.org/officeDocument/2006/relationships/notesMaster" Target="/ppt/notesMasters/notesMaster1.xml" Id="R138a6ccc7aa647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7d0cde235b4486" /><Relationship Type="http://schemas.openxmlformats.org/officeDocument/2006/relationships/notesMaster" Target="/ppt/notesMasters/notesMaster1.xml" Id="R0b33f5d43cfd49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87bc0cca2f4eba" /><Relationship Type="http://schemas.openxmlformats.org/officeDocument/2006/relationships/notesMaster" Target="/ppt/notesMasters/notesMaster1.xml" Id="Rce7865b5430b4a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62231afe3b4b28" /><Relationship Type="http://schemas.openxmlformats.org/officeDocument/2006/relationships/notesMaster" Target="/ppt/notesMasters/notesMaster1.xml" Id="R9cc1e16126f042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53717a69da4f7d" /><Relationship Type="http://schemas.openxmlformats.org/officeDocument/2006/relationships/notesMaster" Target="/ppt/notesMasters/notesMaster1.xml" Id="R744672cd03554d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9c64ea07774744" /><Relationship Type="http://schemas.openxmlformats.org/officeDocument/2006/relationships/notesMaster" Target="/ppt/notesMasters/notesMaster1.xml" Id="Ra948687cee0b4e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25c7dbfebe4e45" /><Relationship Type="http://schemas.openxmlformats.org/officeDocument/2006/relationships/notesMaster" Target="/ppt/notesMasters/notesMaster1.xml" Id="R67a0c309d3e540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4dc5b44c3f4a86" /><Relationship Type="http://schemas.openxmlformats.org/officeDocument/2006/relationships/notesMaster" Target="/ppt/notesMasters/notesMaster1.xml" Id="Rb962a3cea59147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02e0227ab14101" /><Relationship Type="http://schemas.openxmlformats.org/officeDocument/2006/relationships/notesMaster" Target="/ppt/notesMasters/notesMaster1.xml" Id="R1deb8fa2332f4c1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07bfe692724eb6" /><Relationship Type="http://schemas.openxmlformats.org/officeDocument/2006/relationships/notesMaster" Target="/ppt/notesMasters/notesMaster1.xml" Id="R285348caf32e4bd9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https://doi.org/10.1007/s44336-024-00009-2
https://proceedings.mlr.press/v235/hu24s.html
https://www.tandfonline.com/doi/full/10.1080/00031305.2025.2561140
https://journal.hep.com.cn/fcs/EN/10.1007/s11704-024-40763-6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https://app.readytensor.ai/publications/ai-powered-analytics-assistant-a-multi-agent-system-for-self-service-business-intelligence-Gi9zMVDhxWFN
https://arxiv.org/abs/2509.23988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7683f2bb24bec" /><Relationship Type="http://schemas.openxmlformats.org/officeDocument/2006/relationships/image" Target="/ppt/media/image.png" Id="Ra1ad761468fb4e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0af2a95a534207" /><Relationship Type="http://schemas.openxmlformats.org/officeDocument/2006/relationships/image" Target="/ppt/media/image.png" Id="Rfc38eed5611f4237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83680"/>
            <a:ext cx="7772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M.Tech Project | Multimodal Deepfake Authentication</a:t>
            </a:r>
            <a:endParaRPr lang="en-US" sz="750" dirty="0"/>
          </a:p>
        </p:txBody>
      </p:sp>
      <p:pic>
        <p:nvPicPr>
          <p:cNvPr id="3" name="Image 0" descr="/mnt/data/work/ltm.png"/>
          <p:cNvPicPr>
            <a:picLocks noChangeAspect="1"/>
          </p:cNvPicPr>
          <p:nvPr/>
        </p:nvPicPr>
        <p:blipFill>
          <a:blip r:embed="Ra1ad761468fb4ee7"/>
          <a:stretch>
            <a:fillRect/>
          </a:stretch>
        </p:blipFill>
        <p:spPr>
          <a:xfrm>
            <a:off x="10835640" y="6574536"/>
            <a:ext cx="822960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M.Tech Project | Autonomous Business Intelligence</a:t>
            </a:r>
            <a:endParaRPr lang="en-US" sz="750" dirty="0"/>
          </a:p>
        </p:txBody>
      </p:sp>
      <p:pic>
        <p:nvPicPr>
          <p:cNvPr id="3" name="Image 0" descr="/mnt/data/image.png"/>
          <p:cNvPicPr>
            <a:picLocks noChangeAspect="1"/>
          </p:cNvPicPr>
          <p:nvPr/>
        </p:nvPicPr>
        <p:blipFill>
          <a:blip r:embed="Rfc38eed5611f4237"/>
          <a:stretch>
            <a:fillRect/>
          </a:stretch>
        </p:blipFill>
        <p:spPr>
          <a:xfrm>
            <a:off x="10789920" y="6574536"/>
            <a:ext cx="822960" cy="164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7d6641e8b748ad" /><Relationship Type="http://schemas.openxmlformats.org/officeDocument/2006/relationships/slideLayout" Target="/ppt/slideLayouts/slideLayout1.xml" Id="Ra13dd2817b45460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484a22eaa7a4f43" /><Relationship Type="http://schemas.openxmlformats.org/officeDocument/2006/relationships/slideLayout" Target="/ppt/slideLayouts/slideLayout3.xml" Id="R54f1171478e44cb7" /></Relationships>
</file>

<file path=ppt/slideMasters/slideMaster1.xml><?xml version="1.0" encoding="utf-8"?>
<p:sldMaster xmlns:ma14="http://schemas.microsoft.com/office/mac/drawingml/2011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a13dd2817b45460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ma14="http://schemas.microsoft.com/office/mac/drawingml/2011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54f1171478e44cb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png" Id="R33f7147068fc4805" /><Relationship Type="http://schemas.openxmlformats.org/officeDocument/2006/relationships/notesSlide" Target="/ppt/notesSlides/notesSlide1.xml" Id="R2ffd8136d02147db" /><Relationship Type="http://schemas.openxmlformats.org/officeDocument/2006/relationships/slideLayout" Target="/ppt/slideLayouts/slideLayout1.xml" Id="R30bb076e84ed42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png" Id="R9020fde96c674164" /><Relationship Type="http://schemas.openxmlformats.org/officeDocument/2006/relationships/notesSlide" Target="/ppt/notesSlides/notesSlide2.xml" Id="Rc375fd0c37cf45aa" /><Relationship Type="http://schemas.openxmlformats.org/officeDocument/2006/relationships/slideLayout" Target="/ppt/slideLayouts/slideLayout1.xml" Id="Rbd2b68e64b9f45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png" Id="R8059e986479f4f8d" /><Relationship Type="http://schemas.openxmlformats.org/officeDocument/2006/relationships/notesSlide" Target="/ppt/notesSlides/notesSlide3.xml" Id="R3f427c757d3746a8" /><Relationship Type="http://schemas.openxmlformats.org/officeDocument/2006/relationships/slideLayout" Target="/ppt/slideLayouts/slideLayout1.xml" Id="R1b9950dd0b0d42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.png" Id="Re32074a7c65e432a" /><Relationship Type="http://schemas.openxmlformats.org/officeDocument/2006/relationships/notesSlide" Target="/ppt/notesSlides/notesSlide4.xml" Id="R1ac78d13b13f40c2" /><Relationship Type="http://schemas.openxmlformats.org/officeDocument/2006/relationships/slideLayout" Target="/ppt/slideLayouts/slideLayout1.xml" Id="R6fe3e79a9c6144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.png" Id="R815e00a13da54e15" /><Relationship Type="http://schemas.openxmlformats.org/officeDocument/2006/relationships/notesSlide" Target="/ppt/notesSlides/notesSlide5.xml" Id="R631ea217d7bd435a" /><Relationship Type="http://schemas.openxmlformats.org/officeDocument/2006/relationships/slideLayout" Target="/ppt/slideLayouts/slideLayout1.xml" Id="Rff74f329080746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.png" Id="R0824193685fc4732" /><Relationship Type="http://schemas.openxmlformats.org/officeDocument/2006/relationships/notesSlide" Target="/ppt/notesSlides/notesSlide6.xml" Id="R607ba3fa8ffd4c41" /><Relationship Type="http://schemas.openxmlformats.org/officeDocument/2006/relationships/slideLayout" Target="/ppt/slideLayouts/slideLayout1.xml" Id="R056a563074964d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.png" Id="Rc9f5817095674821" /><Relationship Type="http://schemas.openxmlformats.org/officeDocument/2006/relationships/notesSlide" Target="/ppt/notesSlides/notesSlide7.xml" Id="R64031b086dba4282" /><Relationship Type="http://schemas.openxmlformats.org/officeDocument/2006/relationships/slideLayout" Target="/ppt/slideLayouts/slideLayout1.xml" Id="R3339dde76c1144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.png" Id="Reb590db535944253" /><Relationship Type="http://schemas.openxmlformats.org/officeDocument/2006/relationships/notesSlide" Target="/ppt/notesSlides/notesSlide8.xml" Id="R9a51f45cd510447b" /><Relationship Type="http://schemas.openxmlformats.org/officeDocument/2006/relationships/slideLayout" Target="/ppt/slideLayouts/slideLayout1.xml" Id="R70212251a8e34b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.png" Id="Rb241741f327245bb" /><Relationship Type="http://schemas.openxmlformats.org/officeDocument/2006/relationships/notesSlide" Target="/ppt/notesSlides/notesSlide9.xml" Id="R3672b9595ff64922" /><Relationship Type="http://schemas.openxmlformats.org/officeDocument/2006/relationships/slideLayout" Target="/ppt/slideLayouts/slideLayout3.xml" Id="Raf2edf93dcc54e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.png" Id="Rd27df6039cf14581" /><Relationship Type="http://schemas.openxmlformats.org/officeDocument/2006/relationships/notesSlide" Target="/ppt/notesSlides/notesSlide10.xml" Id="R45c17f1afccc402c" /><Relationship Type="http://schemas.openxmlformats.org/officeDocument/2006/relationships/slideLayout" Target="/ppt/slideLayouts/slideLayout3.xml" Id="R1089bfeaace848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.png" Id="Rd7de1afbd6584d7d" /><Relationship Type="http://schemas.openxmlformats.org/officeDocument/2006/relationships/notesSlide" Target="/ppt/notesSlides/notesSlide11.xml" Id="Rf6b298c7e06c41d5" /><Relationship Type="http://schemas.openxmlformats.org/officeDocument/2006/relationships/slideLayout" Target="/ppt/slideLayouts/slideLayout3.xml" Id="Rd144ab3898224a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.png" Id="Re63dd592ad4b4871" /><Relationship Type="http://schemas.openxmlformats.org/officeDocument/2006/relationships/notesSlide" Target="/ppt/notesSlides/notesSlide12.xml" Id="R0658cc64570c4f0c" /><Relationship Type="http://schemas.openxmlformats.org/officeDocument/2006/relationships/slideLayout" Target="/ppt/slideLayouts/slideLayout3.xml" Id="Rbd84b858a41741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.png" Id="Rf37af5a9b48c4669" /><Relationship Type="http://schemas.openxmlformats.org/officeDocument/2006/relationships/notesSlide" Target="/ppt/notesSlides/notesSlide13.xml" Id="R293aed7eae7147cc" /><Relationship Type="http://schemas.openxmlformats.org/officeDocument/2006/relationships/slideLayout" Target="/ppt/slideLayouts/slideLayout3.xml" Id="Rfe7e332b59ee45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.png" Id="R8882683fa4434b8b" /><Relationship Type="http://schemas.openxmlformats.org/officeDocument/2006/relationships/notesSlide" Target="/ppt/notesSlides/notesSlide14.xml" Id="R19e590f6504249ad" /><Relationship Type="http://schemas.openxmlformats.org/officeDocument/2006/relationships/slideLayout" Target="/ppt/slideLayouts/slideLayout3.xml" Id="R543c4bbb4deb41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.png" Id="R324ce2ed91f248b6" /><Relationship Type="http://schemas.openxmlformats.org/officeDocument/2006/relationships/notesSlide" Target="/ppt/notesSlides/notesSlide15.xml" Id="Rbceee7220adb4522" /><Relationship Type="http://schemas.openxmlformats.org/officeDocument/2006/relationships/slideLayout" Target="/ppt/slideLayouts/slideLayout3.xml" Id="Rff0c38c56cf848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.png" Id="Rb9f22a243f084339" /><Relationship Type="http://schemas.openxmlformats.org/officeDocument/2006/relationships/notesSlide" Target="/ppt/notesSlides/notesSlide16.xml" Id="Rc12baf64a4fd4d77" /><Relationship Type="http://schemas.openxmlformats.org/officeDocument/2006/relationships/slideLayout" Target="/ppt/slideLayouts/slideLayout3.xml" Id="Rdb6ff3e8c2284d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.png" Id="R901b5e4bc061436a" /><Relationship Type="http://schemas.openxmlformats.org/officeDocument/2006/relationships/notesSlide" Target="/ppt/notesSlides/notesSlide17.xml" Id="R3d1642290b6e4a75" /><Relationship Type="http://schemas.openxmlformats.org/officeDocument/2006/relationships/slideLayout" Target="/ppt/slideLayouts/slideLayout3.xml" Id="R81c2487a30f04cc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6"/>
          </a:solidFill>
          <a:ln w="12700">
            <a:solidFill>
              <a:srgbClr val="162A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200000">
            <a:off x="8366760" y="137160"/>
            <a:ext cx="3657600" cy="3154680"/>
          </a:xfrm>
          <a:prstGeom prst="arc">
            <a:avLst/>
          </a:prstGeom>
          <a:solidFill>
            <a:srgbClr val="F2655D">
              <a:alpha val="88000"/>
            </a:srgbClr>
          </a:solidFill>
          <a:ln w="12700">
            <a:solidFill>
              <a:srgbClr val="F265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961120" y="2743200"/>
            <a:ext cx="2560320" cy="2560320"/>
          </a:xfrm>
          <a:prstGeom prst="ellipse">
            <a:avLst/>
          </a:prstGeom>
          <a:solidFill>
            <a:srgbClr val="2D6CDF">
              <a:alpha val="82000"/>
            </a:srgbClr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7223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MULTIMODAL DEEPFAKE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AUTHENTICATION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7F5"/>
                </a:solidFill>
              </a:rPr>
              <a:t>Using Retrieval-Augmented Generation and Vision-Language Models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584448"/>
            <a:ext cx="1371600" cy="1"/>
          </a:xfrm>
          <a:prstGeom prst="line">
            <a:avLst/>
          </a:prstGeom>
          <a:noFill/>
          <a:ln w="508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SHYAM.K  |  VIT VELLORE  |  T-9935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3708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6D9"/>
                </a:solidFill>
              </a:rPr>
              <a:t>M.Tech Program • Advanced Industry Integrated Programs</a:t>
            </a:r>
            <a:endParaRPr lang="en-US" sz="1100" dirty="0"/>
          </a:p>
        </p:txBody>
      </p:sp>
      <p:pic>
        <p:nvPicPr>
          <p:cNvPr id="10" name="Image 0" descr="/mnt/data/work/ltm.png"/>
          <p:cNvPicPr>
            <a:picLocks noChangeAspect="1"/>
          </p:cNvPicPr>
          <p:nvPr/>
        </p:nvPicPr>
        <p:blipFill>
          <a:blip r:embed="R33f7147068fc4805"/>
          <a:stretch>
            <a:fillRect/>
          </a:stretch>
        </p:blipFill>
        <p:spPr>
          <a:xfrm>
            <a:off x="9508215" y="5230368"/>
            <a:ext cx="917489" cy="685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Introduction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Why deepfake authentication requires more than a Real/Fake label</a:t>
            </a:r>
            <a:endParaRPr lang="en-US" sz="1100" dirty="0"/>
          </a:p>
        </p:txBody>
      </p:sp>
      <p:pic>
        <p:nvPicPr>
          <p:cNvPr id="4" name="Image 0" descr="/mnt/data/work/ltm.png"/>
          <p:cNvPicPr>
            <a:picLocks noChangeAspect="1"/>
          </p:cNvPicPr>
          <p:nvPr/>
        </p:nvPicPr>
        <p:blipFill>
          <a:blip r:embed="R9020fde96c674164"/>
          <a:stretch>
            <a:fillRect/>
          </a:stretch>
        </p:blipFill>
        <p:spPr>
          <a:xfrm>
            <a:off x="10704967" y="310896"/>
            <a:ext cx="672825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73152" cy="452628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49808" y="144475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What are deepfakes?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1828800"/>
            <a:ext cx="3108960" cy="3831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20" dirty="0">
                <a:solidFill>
                  <a:srgbClr val="25364D"/>
                </a:solidFill>
              </a:rPr>
              <a:t>AI-generated or modified images and videos that can alter facial identity, expressions, movement, and appearance while remaining realistic.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4343400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343400" y="1280160"/>
            <a:ext cx="73152" cy="4526280"/>
          </a:xfrm>
          <a:prstGeom prst="rect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44568" y="144475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44568" y="1828800"/>
            <a:ext cx="3108960" cy="3831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20" dirty="0">
                <a:solidFill>
                  <a:srgbClr val="25364D"/>
                </a:solidFill>
              </a:rPr>
              <a:t>Accessible generation tools increase risks involving misinformation, impersonation, financial fraud, political manipulation, and digital-evidence tampering.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138160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138160" y="1280160"/>
            <a:ext cx="73152" cy="4526280"/>
          </a:xfrm>
          <a:prstGeom prst="rect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339328" y="144475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Detection limitation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39328" y="1828800"/>
            <a:ext cx="3108960" cy="3831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20" dirty="0">
                <a:solidFill>
                  <a:srgbClr val="25364D"/>
                </a:solidFill>
              </a:rPr>
              <a:t>Traditional detectors identify visual artifacts and output Real or Fake, but often provide limited evidence explaining the decision.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Current detectors are accurate in familiar settings but weak in explanation and generalization</a:t>
            </a:r>
            <a:endParaRPr lang="en-US" sz="1100" dirty="0"/>
          </a:p>
        </p:txBody>
      </p:sp>
      <p:pic>
        <p:nvPicPr>
          <p:cNvPr id="4" name="Image 0" descr="/mnt/data/work/ltm.png"/>
          <p:cNvPicPr>
            <a:picLocks noChangeAspect="1"/>
          </p:cNvPicPr>
          <p:nvPr/>
        </p:nvPicPr>
        <p:blipFill>
          <a:blip r:embed="R8059e986479f4f8d"/>
          <a:stretch>
            <a:fillRect/>
          </a:stretch>
        </p:blipFill>
        <p:spPr>
          <a:xfrm>
            <a:off x="10704967" y="310896"/>
            <a:ext cx="672825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325880"/>
            <a:ext cx="649224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5364D"/>
                </a:solidFill>
              </a:rPr>
              <a:t>Increasing realism reduces the effectiveness of visual inspection and simple artifact-based methods.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5364D"/>
                </a:solidFill>
              </a:rPr>
              <a:t>Binary classifiers provide a final label but little reasoning or supporting evidence.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5364D"/>
                </a:solidFill>
              </a:rPr>
              <a:t>Frame-only models can miss inconsistencies that emerge across time.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5364D"/>
                </a:solidFill>
              </a:rPr>
              <a:t>Models trained on one dataset may degrade on unseen manipulations or distributions.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5364D"/>
                </a:solidFill>
              </a:rPr>
              <a:t>Existing systems rarely connect predictions with similar known forensic examples.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543800" y="1463040"/>
            <a:ext cx="3840480" cy="397764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C8D8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6CDF"/>
                </a:solidFill>
              </a:rPr>
              <a:t>Research Need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0956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364D"/>
                </a:solidFill>
              </a:rPr>
              <a:t>An evidence-based system combining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01000" y="3063240"/>
            <a:ext cx="292608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A46"/>
                </a:solidFill>
              </a:rPr>
              <a:t>Visual Analysis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62A46"/>
                </a:solidFill>
              </a:rPr>
              <a:t>+ Temporal Modeling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62A46"/>
                </a:solidFill>
              </a:rPr>
              <a:t>+ Similarity Retrieval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62A46"/>
                </a:solidFill>
              </a:rPr>
              <a:t>+ VLM Reasoning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Focused, measurable, and suitable for cross-dataset evaluation</a:t>
            </a:r>
            <a:endParaRPr lang="en-US" sz="1100" dirty="0"/>
          </a:p>
        </p:txBody>
      </p:sp>
      <p:pic>
        <p:nvPicPr>
          <p:cNvPr id="4" name="Image 0" descr="/mnt/data/work/ltm.png"/>
          <p:cNvPicPr>
            <a:picLocks noChangeAspect="1"/>
          </p:cNvPicPr>
          <p:nvPr/>
        </p:nvPicPr>
        <p:blipFill>
          <a:blip r:embed="Re32074a7c65e432a"/>
          <a:stretch>
            <a:fillRect/>
          </a:stretch>
        </p:blipFill>
        <p:spPr>
          <a:xfrm>
            <a:off x="10704967" y="310896"/>
            <a:ext cx="672825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261872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40080" y="1261872"/>
            <a:ext cx="73152" cy="123444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41248" y="142646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Target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1810512"/>
            <a:ext cx="489204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20" dirty="0">
                <a:solidFill>
                  <a:srgbClr val="25364D"/>
                </a:solidFill>
              </a:rPr>
              <a:t>Videos containing human faces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6355080" y="1261872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355080" y="1261872"/>
            <a:ext cx="73152" cy="1234440"/>
          </a:xfrm>
          <a:prstGeom prst="rect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56248" y="1426464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Task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56248" y="1810512"/>
            <a:ext cx="489204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20" dirty="0">
                <a:solidFill>
                  <a:srgbClr val="25364D"/>
                </a:solidFill>
              </a:rPr>
              <a:t>Binary authentication: authentic or manipulated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40080" y="2834640"/>
            <a:ext cx="73152" cy="123444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41248" y="29992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Manipulations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41248" y="3383280"/>
            <a:ext cx="489204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20" dirty="0">
                <a:solidFill>
                  <a:srgbClr val="25364D"/>
                </a:solidFill>
              </a:rPr>
              <a:t>DeepFakes, FaceSwap, Face2Face, NeuralTextures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355080" y="28346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355080" y="2834640"/>
            <a:ext cx="73152" cy="1234440"/>
          </a:xfrm>
          <a:prstGeom prst="rect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556248" y="29992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Development data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56248" y="3383280"/>
            <a:ext cx="489204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20" dirty="0">
                <a:solidFill>
                  <a:srgbClr val="25364D"/>
                </a:solidFill>
              </a:rPr>
              <a:t>FaceForensics++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640080" y="4407408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40080" y="4407408"/>
            <a:ext cx="73152" cy="1234440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41248" y="457200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External evaluation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41248" y="4956048"/>
            <a:ext cx="489204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20" dirty="0">
                <a:solidFill>
                  <a:srgbClr val="25364D"/>
                </a:solidFill>
              </a:rPr>
              <a:t>Celeb-DF for unseen data distributions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6355080" y="4407408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EAF1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355080" y="4407408"/>
            <a:ext cx="73152" cy="1234440"/>
          </a:xfrm>
          <a:prstGeom prst="rect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556248" y="457200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Output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556248" y="4956048"/>
            <a:ext cx="489204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20" dirty="0">
                <a:solidFill>
                  <a:srgbClr val="25364D"/>
                </a:solidFill>
              </a:rPr>
              <a:t>Evidence-based authentication report</a:t>
            </a:r>
            <a:endParaRPr lang="en-US" sz="11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Build an end-to-end multimodal authentication framework</a:t>
            </a:r>
            <a:endParaRPr lang="en-US" sz="1100" dirty="0"/>
          </a:p>
        </p:txBody>
      </p:sp>
      <p:pic>
        <p:nvPicPr>
          <p:cNvPr id="4" name="Image 0" descr="/mnt/data/work/ltm.png"/>
          <p:cNvPicPr>
            <a:picLocks noChangeAspect="1"/>
          </p:cNvPicPr>
          <p:nvPr/>
        </p:nvPicPr>
        <p:blipFill>
          <a:blip r:embed="R815e00a13da54e15"/>
          <a:stretch>
            <a:fillRect/>
          </a:stretch>
        </p:blipFill>
        <p:spPr>
          <a:xfrm>
            <a:off x="10704967" y="310896"/>
            <a:ext cx="672825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98448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77240" y="1527048"/>
            <a:ext cx="548640" cy="54864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7240" y="16093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15270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A46"/>
                </a:solidFill>
              </a:rPr>
              <a:t>Sample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6304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5364D"/>
                </a:solidFill>
              </a:rPr>
              <a:t>Representative frames while preserving sequence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1298448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17720" y="1527048"/>
            <a:ext cx="548640" cy="54864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617720" y="16093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0" y="15270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A46"/>
                </a:solidFill>
              </a:rPr>
              <a:t>Detect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3035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5364D"/>
                </a:solidFill>
              </a:rPr>
              <a:t>Facial regions for manipulation analysis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75320" y="1298448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8458200" y="1527048"/>
            <a:ext cx="548640" cy="548640"/>
          </a:xfrm>
          <a:prstGeom prst="ellipse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458200" y="16093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0" y="15270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A46"/>
                </a:solidFill>
              </a:rPr>
              <a:t>Embed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14400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5364D"/>
                </a:solidFill>
              </a:rPr>
              <a:t>Visual features with ViT-L/14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94360" y="3447288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777240" y="3675888"/>
            <a:ext cx="548640" cy="548640"/>
          </a:xfrm>
          <a:prstGeom prst="ellipse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77240" y="37581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463040" y="3675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A46"/>
                </a:solidFill>
              </a:rPr>
              <a:t>Model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46304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5364D"/>
                </a:solidFill>
              </a:rPr>
              <a:t>Temporal relationships with a Transformer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34840" y="3447288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617720" y="3675888"/>
            <a:ext cx="548640" cy="548640"/>
          </a:xfrm>
          <a:prstGeom prst="ellipse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617720" y="37581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303520" y="3675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A46"/>
                </a:solidFill>
              </a:rPr>
              <a:t>Retrieve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530352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5364D"/>
                </a:solidFill>
              </a:rPr>
              <a:t>Similar real and fake examples using FAISS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275320" y="3447288"/>
            <a:ext cx="34290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8458200" y="3675888"/>
            <a:ext cx="548640" cy="548640"/>
          </a:xfrm>
          <a:prstGeom prst="ellipse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8458200" y="37581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144000" y="36758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A46"/>
                </a:solidFill>
              </a:rPr>
              <a:t>Explain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914400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5364D"/>
                </a:solidFill>
              </a:rPr>
              <a:t>Prediction + evidence through a VLM</a:t>
            </a:r>
            <a:endParaRPr lang="en-US" sz="11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Literature Review 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Literature survey • Part 1 of 2</a:t>
            </a:r>
            <a:endParaRPr lang="en-US" sz="1100" dirty="0"/>
          </a:p>
        </p:txBody>
      </p:sp>
      <p:pic>
        <p:nvPicPr>
          <p:cNvPr id="4" name="Image 0" descr="/mnt/data/work/ltm.png"/>
          <p:cNvPicPr>
            <a:picLocks noChangeAspect="1"/>
          </p:cNvPicPr>
          <p:nvPr/>
        </p:nvPicPr>
        <p:blipFill>
          <a:blip r:embed="R0824193685fc4732"/>
          <a:stretch>
            <a:fillRect/>
          </a:stretch>
        </p:blipFill>
        <p:spPr>
          <a:xfrm>
            <a:off x="10704967" y="310896"/>
            <a:ext cx="672825" cy="50292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11384280" cy="5102352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Research area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Brief summary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Research gap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CNN-based detection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CNNs identify texture, blending, lighting, and generation artifacts; Xception performs strongly on benchmarks.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Mostly frame-level; limited temporal modeling and usually no forensic explanation.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Frame-level detection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Independent frames are classified and aggregated for a video decision; simple and efficient.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Realistic individual frames can hide artifacts that appear only across time.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LSTM / RNN temporal models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LSTM and GRU learn relationships between consecutive frames.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 miss long-range dependencies and still focus mainly on classification.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3D CNN video detection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Jointly captures spatial and temporal motion patterns from frame sequences.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Computationally expensive, data-hungry, and not inherently interpretable.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Transformer temporal detection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Attention captures short- and long-range dependencies between frames.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Improved temporal modeling, but retrieval-grounded forensic evidence is rarely integrated.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ViT and CLIP representations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High-level visual embeddings support classification and similarity tasks.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Embeddings are typically used for classification, not forensic example retrieval.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Literature Review II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Literature survey • Part 2 of 2</a:t>
            </a:r>
            <a:endParaRPr lang="en-US" sz="1100" dirty="0"/>
          </a:p>
        </p:txBody>
      </p:sp>
      <p:pic>
        <p:nvPicPr>
          <p:cNvPr id="4" name="Image 0" descr="/mnt/data/work/ltm.png"/>
          <p:cNvPicPr>
            <a:picLocks noChangeAspect="1"/>
          </p:cNvPicPr>
          <p:nvPr/>
        </p:nvPicPr>
        <p:blipFill>
          <a:blip r:embed="Rc9f5817095674821"/>
          <a:stretch>
            <a:fillRect/>
          </a:stretch>
        </p:blipFill>
        <p:spPr>
          <a:xfrm>
            <a:off x="10704967" y="310896"/>
            <a:ext cx="672825" cy="5029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11384280" cy="5102352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Research area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Brief summary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Research gap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Cross-dataset generalization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 often drops on unseen datasets and manipulation methods.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Unfamiliar patterns need contextual evidence beyond classifier confidence.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Similarity retrieval / FAISS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Vector search efficiently retrieves visually or semantically similar multimedia examples.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Rarely used as an explanatory forensic layer in a complete pipeline.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Retrieval-Augmented Generation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RAG grounds model output in information retrieved from an external source.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Video authentication with retrieved multimedia forensic examples is less explored.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Vision-Language Models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VLMs combine visual understanding with language generation for reasoning and explanation.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Explanations may be ungrounded unless linked to predictions and retrieved evidence.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Explainable AI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Saliency, attention, confidence, and feature visualization improve interpretability.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Often shows attention only, without structured evidence or similar historical cases.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Proposed direction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Unify embeddings, temporal modeling, classification, FAISS retrieval, evidence construction, and VLM reasoning.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70" dirty="0">
                          <a:solidFill>
                            <a:srgbClr val="2536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 whether classification + temporal analysis + retrieval evidence + VLM explanation outperforms prediction-only detection in interpretability.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E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Proposed System Modules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48A"/>
                </a:solidFill>
              </a:rPr>
              <a:t>A unified pipeline from video input to evidence-based authentication</a:t>
            </a:r>
            <a:endParaRPr lang="en-US" sz="1100" dirty="0"/>
          </a:p>
        </p:txBody>
      </p:sp>
      <p:pic>
        <p:nvPicPr>
          <p:cNvPr id="4" name="Image 0" descr="/mnt/data/work/ltm.png"/>
          <p:cNvPicPr>
            <a:picLocks noChangeAspect="1"/>
          </p:cNvPicPr>
          <p:nvPr/>
        </p:nvPicPr>
        <p:blipFill>
          <a:blip r:embed="Reb590db535944253"/>
          <a:stretch>
            <a:fillRect/>
          </a:stretch>
        </p:blipFill>
        <p:spPr>
          <a:xfrm>
            <a:off x="10704967" y="310896"/>
            <a:ext cx="672825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417320"/>
            <a:ext cx="1965960" cy="123444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9CDF4"/>
            </a:solidFill>
            <a:prstDash val="solid"/>
          </a:ln>
          <a:effectLst>
            <a:outerShdw blurRad="1016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76072" y="15819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072" y="1920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Data acquisition &amp; sampling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41448" y="1892808"/>
            <a:ext cx="210312" cy="292608"/>
          </a:xfrm>
          <a:prstGeom prst="chevron">
            <a:avLst/>
          </a:prstGeom>
          <a:solidFill>
            <a:srgbClr val="62748A">
              <a:alpha val="75000"/>
            </a:srgbClr>
          </a:solidFill>
          <a:ln w="12700">
            <a:solidFill>
              <a:srgbClr val="6274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743200" y="1417320"/>
            <a:ext cx="1965960" cy="123444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9CDF4"/>
            </a:solidFill>
            <a:prstDash val="solid"/>
          </a:ln>
          <a:effectLst>
            <a:outerShdw blurRad="1016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907792" y="15819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07792" y="1920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Frame processing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73168" y="1892808"/>
            <a:ext cx="210312" cy="292608"/>
          </a:xfrm>
          <a:prstGeom prst="chevron">
            <a:avLst/>
          </a:prstGeom>
          <a:solidFill>
            <a:srgbClr val="62748A">
              <a:alpha val="75000"/>
            </a:srgbClr>
          </a:solidFill>
          <a:ln w="12700">
            <a:solidFill>
              <a:srgbClr val="6274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074920" y="1417320"/>
            <a:ext cx="1965960" cy="123444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9CDF4"/>
            </a:solidFill>
            <a:prstDash val="solid"/>
          </a:ln>
          <a:effectLst>
            <a:outerShdw blurRad="1016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239512" y="15819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39512" y="1920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Face detection &amp; preprocessing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104888" y="1892808"/>
            <a:ext cx="210312" cy="292608"/>
          </a:xfrm>
          <a:prstGeom prst="chevron">
            <a:avLst/>
          </a:prstGeom>
          <a:solidFill>
            <a:srgbClr val="62748A">
              <a:alpha val="75000"/>
            </a:srgbClr>
          </a:solidFill>
          <a:ln w="12700">
            <a:solidFill>
              <a:srgbClr val="6274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406640" y="1417320"/>
            <a:ext cx="1965960" cy="123444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9CDF4"/>
            </a:solidFill>
            <a:prstDash val="solid"/>
          </a:ln>
          <a:effectLst>
            <a:outerShdw blurRad="1016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571232" y="15819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71232" y="1920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ViT-L/14 embeddings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436608" y="1892808"/>
            <a:ext cx="210312" cy="292608"/>
          </a:xfrm>
          <a:prstGeom prst="chevron">
            <a:avLst/>
          </a:prstGeom>
          <a:solidFill>
            <a:srgbClr val="62748A">
              <a:alpha val="75000"/>
            </a:srgbClr>
          </a:solidFill>
          <a:ln w="12700">
            <a:solidFill>
              <a:srgbClr val="6274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9738360" y="1417320"/>
            <a:ext cx="1965960" cy="123444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9CDF4"/>
            </a:solidFill>
            <a:prstDash val="solid"/>
          </a:ln>
          <a:effectLst>
            <a:outerShdw blurRad="1016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9902952" y="158191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902952" y="1920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Temporal Transformer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11480" y="3429000"/>
            <a:ext cx="1965960" cy="123444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9CDF4"/>
            </a:solidFill>
            <a:prstDash val="solid"/>
          </a:ln>
          <a:effectLst>
            <a:outerShdw blurRad="1016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76072" y="35935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</a:rPr>
              <a:t>06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6072" y="39319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Real/Fake classification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441448" y="3904488"/>
            <a:ext cx="210312" cy="292608"/>
          </a:xfrm>
          <a:prstGeom prst="chevron">
            <a:avLst/>
          </a:prstGeom>
          <a:solidFill>
            <a:srgbClr val="62748A">
              <a:alpha val="75000"/>
            </a:srgbClr>
          </a:solidFill>
          <a:ln w="12700">
            <a:solidFill>
              <a:srgbClr val="6274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743200" y="3429000"/>
            <a:ext cx="1965960" cy="1234440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F6C5C1"/>
            </a:solidFill>
            <a:prstDash val="solid"/>
          </a:ln>
          <a:effectLst>
            <a:outerShdw blurRad="1016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907792" y="35935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55D"/>
                </a:solidFill>
              </a:rPr>
              <a:t>07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907792" y="39319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FAISS retrieval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73168" y="3904488"/>
            <a:ext cx="210312" cy="292608"/>
          </a:xfrm>
          <a:prstGeom prst="chevron">
            <a:avLst/>
          </a:prstGeom>
          <a:solidFill>
            <a:srgbClr val="62748A">
              <a:alpha val="75000"/>
            </a:srgbClr>
          </a:solidFill>
          <a:ln w="12700">
            <a:solidFill>
              <a:srgbClr val="6274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5074920" y="3429000"/>
            <a:ext cx="1965960" cy="1234440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F6C5C1"/>
            </a:solidFill>
            <a:prstDash val="solid"/>
          </a:ln>
          <a:effectLst>
            <a:outerShdw blurRad="1016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239512" y="35935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55D"/>
                </a:solidFill>
              </a:rPr>
              <a:t>08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239512" y="39319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RAG evidence construction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104888" y="3904488"/>
            <a:ext cx="210312" cy="292608"/>
          </a:xfrm>
          <a:prstGeom prst="chevron">
            <a:avLst/>
          </a:prstGeom>
          <a:solidFill>
            <a:srgbClr val="62748A">
              <a:alpha val="75000"/>
            </a:srgbClr>
          </a:solidFill>
          <a:ln w="12700">
            <a:solidFill>
              <a:srgbClr val="6274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7406640" y="3429000"/>
            <a:ext cx="1965960" cy="1234440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F6C5C1"/>
            </a:solidFill>
            <a:prstDash val="solid"/>
          </a:ln>
          <a:effectLst>
            <a:outerShdw blurRad="1016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7571232" y="35935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55D"/>
                </a:solidFill>
              </a:rPr>
              <a:t>09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571232" y="39319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VLM reasoning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436608" y="3904488"/>
            <a:ext cx="210312" cy="292608"/>
          </a:xfrm>
          <a:prstGeom prst="chevron">
            <a:avLst/>
          </a:prstGeom>
          <a:solidFill>
            <a:srgbClr val="62748A">
              <a:alpha val="75000"/>
            </a:srgbClr>
          </a:solidFill>
          <a:ln w="12700">
            <a:solidFill>
              <a:srgbClr val="6274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9738360" y="3429000"/>
            <a:ext cx="1965960" cy="1234440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F6C5C1"/>
            </a:solidFill>
            <a:prstDash val="solid"/>
          </a:ln>
          <a:effectLst>
            <a:outerShdw blurRad="1016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9902952" y="359359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55D"/>
                </a:solidFill>
              </a:rPr>
              <a:t>10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902952" y="39319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Authentication report / API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920240" y="55321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A46"/>
                </a:solidFill>
              </a:rPr>
              <a:t>Final output: prediction, confidence, retrieved evidence, and grounded explanation</a:t>
            </a:r>
            <a:endParaRPr lang="en-US" sz="16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6"/>
          </a:solidFill>
          <a:ln w="12700">
            <a:solidFill>
              <a:srgbClr val="162A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686800" y="548640"/>
            <a:ext cx="2926080" cy="2926080"/>
          </a:xfrm>
          <a:prstGeom prst="ellipse">
            <a:avLst/>
          </a:prstGeom>
          <a:solidFill>
            <a:srgbClr val="F2655D">
              <a:alpha val="90000"/>
            </a:srgbClr>
          </a:solidFill>
          <a:ln w="12700">
            <a:solidFill>
              <a:srgbClr val="F265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235440" y="3154680"/>
            <a:ext cx="2057400" cy="2057400"/>
          </a:xfrm>
          <a:prstGeom prst="ellipse">
            <a:avLst/>
          </a:prstGeom>
          <a:solidFill>
            <a:srgbClr val="316ED4">
              <a:alpha val="85000"/>
            </a:srgbClr>
          </a:solidFill>
          <a:ln w="12700">
            <a:solidFill>
              <a:srgbClr val="316E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7543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MULTI-AGENT AUTONOMOUS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ANALYSIS AND BUSINESS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INTELLIGENCE PLATFORM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31012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858768"/>
            <a:ext cx="1325880" cy="1"/>
          </a:xfrm>
          <a:prstGeom prst="line">
            <a:avLst/>
          </a:prstGeom>
          <a:noFill/>
          <a:ln w="508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SHYAM.K  |  VIT VELLORE  |  T-9935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A"/>
                </a:solidFill>
              </a:rPr>
              <a:t>M.Tech Program • Advanced Industry Integrated Programs</a:t>
            </a:r>
            <a:endParaRPr lang="en-US" sz="1100" dirty="0"/>
          </a:p>
        </p:txBody>
      </p:sp>
      <p:pic>
        <p:nvPicPr>
          <p:cNvPr id="10" name="Image 0" descr="/mnt/data/image.png"/>
          <p:cNvPicPr>
            <a:picLocks noChangeAspect="1"/>
          </p:cNvPicPr>
          <p:nvPr/>
        </p:nvPicPr>
        <p:blipFill>
          <a:blip r:embed="Rb241741f327245bb"/>
          <a:stretch>
            <a:fillRect/>
          </a:stretch>
        </p:blipFill>
        <p:spPr>
          <a:xfrm>
            <a:off x="9538798" y="5349240"/>
            <a:ext cx="856323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Introduction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758A"/>
                </a:solidFill>
              </a:rPr>
              <a:t>From fragmented analytics to coordinated, natural-language business intelligence</a:t>
            </a:r>
            <a:endParaRPr lang="en-US" sz="11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d27df6039cf14581"/>
          <a:stretch>
            <a:fillRect/>
          </a:stretch>
        </p:blipFill>
        <p:spPr>
          <a:xfrm>
            <a:off x="10686618" y="292608"/>
            <a:ext cx="709525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8016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73152" cy="4526280"/>
          </a:xfrm>
          <a:prstGeom prst="rect">
            <a:avLst/>
          </a:prstGeom>
          <a:solidFill>
            <a:srgbClr val="316ED4"/>
          </a:solidFill>
          <a:ln w="12700">
            <a:solidFill>
              <a:srgbClr val="316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58952" y="14356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Business challenge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1847088"/>
            <a:ext cx="3081528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Organizations produce large volumes of structured data. Extracting useful insights remains time-consuming and requires technical expertise.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4352544" y="128016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352544" y="1280160"/>
            <a:ext cx="73152" cy="4526280"/>
          </a:xfrm>
          <a:prstGeom prst="rect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62856" y="14356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Agent opportunity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62856" y="1847088"/>
            <a:ext cx="3081528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LLMs enable natural-language questions. Specialized agents divide preprocessing, querying, analysis, forecasting, anomaly detection, visualization, and insight generation.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156448" y="1280160"/>
            <a:ext cx="3474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156448" y="1280160"/>
            <a:ext cx="73152" cy="4526280"/>
          </a:xfrm>
          <a:prstGeom prst="rect">
            <a:avLst/>
          </a:prstGeom>
          <a:solidFill>
            <a:srgbClr val="23956F"/>
          </a:solidFill>
          <a:ln w="12700">
            <a:solidFill>
              <a:srgbClr val="239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366760" y="14356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Proposed platform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66760" y="1847088"/>
            <a:ext cx="3081528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A unified multi-agent workflow accepts structured datasets and returns verified, explainable, and actionable business insights.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758A"/>
                </a:solidFill>
              </a:rPr>
              <a:t>Create an end-to-end, computation-grounded analytics platform</a:t>
            </a:r>
            <a:endParaRPr lang="en-US" sz="11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d7de1afbd6584d7d"/>
          <a:stretch>
            <a:fillRect/>
          </a:stretch>
        </p:blipFill>
        <p:spPr>
          <a:xfrm>
            <a:off x="10686618" y="292608"/>
            <a:ext cx="709525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98448"/>
            <a:ext cx="342900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94360" y="1298448"/>
            <a:ext cx="73152" cy="1709928"/>
          </a:xfrm>
          <a:prstGeom prst="rect">
            <a:avLst/>
          </a:prstGeom>
          <a:solidFill>
            <a:srgbClr val="316ED4"/>
          </a:solidFill>
          <a:ln w="12700">
            <a:solidFill>
              <a:srgbClr val="316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04672" y="1453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Interact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1865376"/>
            <a:ext cx="303580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Upload data and ask questions naturally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4434840" y="1298448"/>
            <a:ext cx="342900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434840" y="1298448"/>
            <a:ext cx="73152" cy="1709928"/>
          </a:xfrm>
          <a:prstGeom prst="rect">
            <a:avLst/>
          </a:prstGeom>
          <a:solidFill>
            <a:srgbClr val="316ED4"/>
          </a:solidFill>
          <a:ln w="12700">
            <a:solidFill>
              <a:srgbClr val="316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645152" y="1453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Prepare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45152" y="1865376"/>
            <a:ext cx="303580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Detect schema; fix types, missing values, duplicates, and outliers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275320" y="1298448"/>
            <a:ext cx="342900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8275320" y="1298448"/>
            <a:ext cx="73152" cy="1709928"/>
          </a:xfrm>
          <a:prstGeom prst="rect">
            <a:avLst/>
          </a:prstGeom>
          <a:solidFill>
            <a:srgbClr val="316ED4"/>
          </a:solidFill>
          <a:ln w="12700">
            <a:solidFill>
              <a:srgbClr val="316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485632" y="14538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Orchestrate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485632" y="1865376"/>
            <a:ext cx="303580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Route tasks to specialized agents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594360" y="3474720"/>
            <a:ext cx="342900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94360" y="3474720"/>
            <a:ext cx="73152" cy="1709928"/>
          </a:xfrm>
          <a:prstGeom prst="rect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04672" y="3630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Execute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04672" y="4041648"/>
            <a:ext cx="303580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Run SQL, statistics, and ML operations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4434840" y="3474720"/>
            <a:ext cx="342900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434840" y="3474720"/>
            <a:ext cx="73152" cy="1709928"/>
          </a:xfrm>
          <a:prstGeom prst="rect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645152" y="3630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Analyze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645152" y="4041648"/>
            <a:ext cx="303580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KPIs, trends, anomalies, forecasts, correlations, and factors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8275320" y="3474720"/>
            <a:ext cx="3429000" cy="1709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8275320" y="3474720"/>
            <a:ext cx="73152" cy="1709928"/>
          </a:xfrm>
          <a:prstGeom prst="rect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8485632" y="3630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Deliver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485632" y="4041648"/>
            <a:ext cx="303580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Validated visuals, insights, and recommendations</a:t>
            </a:r>
            <a:endParaRPr lang="en-US" sz="11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758A"/>
                </a:solidFill>
              </a:rPr>
              <a:t>Adaptive analytics must remain reliable and grounded in actual computation</a:t>
            </a:r>
            <a:endParaRPr lang="en-US" sz="11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e63dd592ad4b4871"/>
          <a:stretch>
            <a:fillRect/>
          </a:stretch>
        </p:blipFill>
        <p:spPr>
          <a:xfrm>
            <a:off x="10686618" y="292608"/>
            <a:ext cx="709525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280160"/>
            <a:ext cx="6583680" cy="4572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A3B50"/>
                </a:solidFill>
              </a:rPr>
              <a:t>Business users may lack SQL, Python, statistics, machine-learning, and visualization skills.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A3B50"/>
                </a:solidFill>
              </a:rPr>
              <a:t>Analytics workflows are fragmented across cleaning tools, databases, models, dashboards, and reports.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A3B50"/>
                </a:solidFill>
              </a:rPr>
              <a:t>A single model is unreliable when it must interpret intent, process data, calculate, and explain.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A3B50"/>
                </a:solidFill>
              </a:rPr>
              <a:t>Incorrect or hallucinated results require validation separate from language generation.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A3B50"/>
                </a:solidFill>
              </a:rPr>
              <a:t>Predefined dashboards cannot dynamically adapt to new datasets and business questions.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589520" y="1508760"/>
            <a:ext cx="374904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7D8F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90956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16ED4"/>
                </a:solidFill>
              </a:rPr>
              <a:t>Required Solution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0100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A46"/>
                </a:solidFill>
              </a:rPr>
              <a:t>Question + Dataset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869680" y="3337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655D"/>
                </a:solidFill>
              </a:rPr>
              <a:t>↓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92440" y="3886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A46"/>
                </a:solidFill>
              </a:rPr>
              <a:t>Validated Analysis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2A46"/>
                </a:solidFill>
              </a:rPr>
              <a:t>Visuals • Insights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2A46"/>
                </a:solidFill>
              </a:rPr>
              <a:t>Recommendations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758A"/>
                </a:solidFill>
              </a:rPr>
              <a:t>Domain-independent decision support for structured datasets</a:t>
            </a:r>
            <a:endParaRPr lang="en-US" sz="11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f37af5a9b48c4669"/>
          <a:stretch>
            <a:fillRect/>
          </a:stretch>
        </p:blipFill>
        <p:spPr>
          <a:xfrm>
            <a:off x="10686618" y="292608"/>
            <a:ext cx="709525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234440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73152" cy="1225296"/>
          </a:xfrm>
          <a:prstGeom prst="rect">
            <a:avLst/>
          </a:prstGeom>
          <a:solidFill>
            <a:srgbClr val="316ED4"/>
          </a:solidFill>
          <a:ln w="12700">
            <a:solidFill>
              <a:srgbClr val="316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50392" y="1389888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Inputs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0392" y="1801368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CSV, Excel, and JSON tabular data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6291072" y="1234440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291072" y="1234440"/>
            <a:ext cx="73152" cy="1225296"/>
          </a:xfrm>
          <a:prstGeom prst="rect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01384" y="1389888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Domains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01384" y="1801368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Retail, finance, healthcare, manufacturing, education, logistics, HR, and more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640080" y="2816352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40080" y="2816352"/>
            <a:ext cx="73152" cy="1225296"/>
          </a:xfrm>
          <a:prstGeom prst="rect">
            <a:avLst/>
          </a:prstGeom>
          <a:solidFill>
            <a:srgbClr val="316ED4"/>
          </a:solidFill>
          <a:ln w="12700">
            <a:solidFill>
              <a:srgbClr val="316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50392" y="2971800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Interaction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0392" y="3383280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Natural-language questions about performance, trends, behavior, anomalies, risks, and forecasts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291072" y="2816352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291072" y="2816352"/>
            <a:ext cx="73152" cy="1225296"/>
          </a:xfrm>
          <a:prstGeom prst="rect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501384" y="2971800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Workflow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501384" y="3383280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Ingestion, cleaning, querying, analysis, visualization, insights, and recommendations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640080" y="4398264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40080" y="4398264"/>
            <a:ext cx="73152" cy="1225296"/>
          </a:xfrm>
          <a:prstGeom prst="rect">
            <a:avLst/>
          </a:prstGeom>
          <a:solidFill>
            <a:srgbClr val="316ED4"/>
          </a:solidFill>
          <a:ln w="12700">
            <a:solidFill>
              <a:srgbClr val="316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50392" y="455371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Analytics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50392" y="4965192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Descriptive and predictive analysis: what happened, why, unusual behavior, and future trends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6291072" y="4398264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291072" y="4398264"/>
            <a:ext cx="73152" cy="1225296"/>
          </a:xfrm>
          <a:prstGeom prst="rect">
            <a:avLst/>
          </a:prstGeom>
          <a:solidFill>
            <a:srgbClr val="F2655D"/>
          </a:solidFill>
          <a:ln w="12700">
            <a:solidFill>
              <a:srgbClr val="F265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501384" y="455371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Boundary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501384" y="4965192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Structured data first, supporting reliable analytical and computational outcomes</a:t>
            </a:r>
            <a:endParaRPr lang="en-US" sz="11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Literature Review 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758A"/>
                </a:solidFill>
              </a:rPr>
              <a:t>Foundations, table processing, and data-analysis agents</a:t>
            </a:r>
            <a:endParaRPr lang="en-US" sz="11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8882683fa4434b8b"/>
          <a:stretch>
            <a:fillRect/>
          </a:stretch>
        </p:blipFill>
        <p:spPr>
          <a:xfrm>
            <a:off x="10686618" y="292608"/>
            <a:ext cx="709525" cy="53035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143000"/>
          <a:ext cx="11430000" cy="5230368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Title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Summary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Research Gap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Survey on Large Language Model Based Autonomous Agents (2024)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Framework for planning, memory, tools, and action, using LLMs as autonomous reasoning engines.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Broad agent focus; no full structured-data BI architecture covering preprocessing, analytics, validation, and visualization.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InfiAgent-DABench: Evaluating Agents on Data Analysis Tasks (ICML 2024)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Benchmarks agents solving end-to-end analytical questions through execution environments and CSV datasets.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Focuses on evaluation rather than a complete BI platform with forecasting, recommendations, and validation.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Survey on LLM-based Agents for Statistics and Data Science (2024/2025)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Reviews planning, reasoning, reflection, collaboration, knowledge integration, and automated data-science workflows.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Highlights the need for robust, reliable, integrated systems supporting complex real-world workflows.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 Language Model for Table Processing: A Survey (2024)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Covers table understanding, spreadsheet manipulation, table QA, and structured-data analysis.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Centres on table processing rather than end-to-end decision support through specialized agents.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Literature Review II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758A"/>
                </a:solidFill>
              </a:rPr>
              <a:t>Multi-agent BI and remaining integration gaps</a:t>
            </a:r>
            <a:endParaRPr lang="en-US" sz="11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324ce2ed91f248b6"/>
          <a:stretch>
            <a:fillRect/>
          </a:stretch>
        </p:blipFill>
        <p:spPr>
          <a:xfrm>
            <a:off x="10686618" y="292608"/>
            <a:ext cx="709525" cy="53035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143000"/>
          <a:ext cx="11430000" cy="5230368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Title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Summary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Research Gap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Survey on LLM-based Multi-Agent Systems: Workflow, Infrastructure, and Challenges (2024)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Examines communication, coordination, infrastructure, collaboration patterns, and workflows.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General multi-agent principles; no complete autonomous BI pipeline for uploaded structured datasets.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AI-Powered Analytics Assistant: Multi-Agent Self-Service BI (2025)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Proposes agent workflows for analytics, retrieval, visualization, and orchestration.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Further integration is needed for preprocessing, forecasting, anomaly detection, factor analysis, recommendation ranking, and validation.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3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LLM/Agent-as-Data-Analyst: A Survey (2025)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Taxonomy for autonomous, tool-augmented analysis across structured and heterogeneous data.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2A3B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Complex analysis, collaboration, robust reasoning, and workflow reliability still motivate specialized orchestration and validation.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9436" marR="59436" marT="59436" marB="59436">
                    <a:lnL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E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Data Acquisition and 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758A"/>
                </a:solidFill>
              </a:rPr>
              <a:t>Transform uploaded files into dependable, analysis-ready data</a:t>
            </a:r>
            <a:endParaRPr lang="en-US" sz="11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b9f22a243f084339"/>
          <a:stretch>
            <a:fillRect/>
          </a:stretch>
        </p:blipFill>
        <p:spPr>
          <a:xfrm>
            <a:off x="10686618" y="292608"/>
            <a:ext cx="709525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1234440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21792" y="1234440"/>
            <a:ext cx="73152" cy="1225296"/>
          </a:xfrm>
          <a:prstGeom prst="rect">
            <a:avLst/>
          </a:prstGeom>
          <a:solidFill>
            <a:srgbClr val="316ED4"/>
          </a:solidFill>
          <a:ln w="12700">
            <a:solidFill>
              <a:srgbClr val="316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32104" y="1389888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Discover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2104" y="1801368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Identify structure, columns, types, and relationships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6263640" y="1234440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263640" y="1234440"/>
            <a:ext cx="73152" cy="1225296"/>
          </a:xfrm>
          <a:prstGeom prst="rect">
            <a:avLst/>
          </a:prstGeom>
          <a:solidFill>
            <a:srgbClr val="23956F"/>
          </a:solidFill>
          <a:ln w="12700">
            <a:solidFill>
              <a:srgbClr val="239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73952" y="1389888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Assess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73952" y="1801368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Find missing values, duplicates, invalid entries, and format issues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621792" y="2816352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21792" y="2816352"/>
            <a:ext cx="73152" cy="1225296"/>
          </a:xfrm>
          <a:prstGeom prst="rect">
            <a:avLst/>
          </a:prstGeom>
          <a:solidFill>
            <a:srgbClr val="316ED4"/>
          </a:solidFill>
          <a:ln w="12700">
            <a:solidFill>
              <a:srgbClr val="316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32104" y="2971800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Repair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2104" y="3383280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Use deletion, statistical imputation, mode, or domain-aware replacement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263640" y="2816352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263640" y="2816352"/>
            <a:ext cx="73152" cy="1225296"/>
          </a:xfrm>
          <a:prstGeom prst="rect">
            <a:avLst/>
          </a:prstGeom>
          <a:solidFill>
            <a:srgbClr val="23956F"/>
          </a:solidFill>
          <a:ln w="12700">
            <a:solidFill>
              <a:srgbClr val="239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473952" y="2971800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Inspect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73952" y="3383280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Distinguish business anomalies from corrupted data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621792" y="4398264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621792" y="4398264"/>
            <a:ext cx="73152" cy="1225296"/>
          </a:xfrm>
          <a:prstGeom prst="rect">
            <a:avLst/>
          </a:prstGeom>
          <a:solidFill>
            <a:srgbClr val="316ED4"/>
          </a:solidFill>
          <a:ln w="12700">
            <a:solidFill>
              <a:srgbClr val="316E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32104" y="455371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Transform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2104" y="4965192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Normalize and prepare features when models require it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6263640" y="4398264"/>
            <a:ext cx="51937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2700" dist="4445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263640" y="4398264"/>
            <a:ext cx="73152" cy="1225296"/>
          </a:xfrm>
          <a:prstGeom prst="rect">
            <a:avLst/>
          </a:prstGeom>
          <a:solidFill>
            <a:srgbClr val="23956F"/>
          </a:solidFill>
          <a:ln w="12700">
            <a:solidFill>
              <a:srgbClr val="239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473952" y="455371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A46"/>
                </a:solidFill>
              </a:rPr>
              <a:t>Publish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73952" y="4965192"/>
            <a:ext cx="4800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3B50"/>
                </a:solidFill>
              </a:rPr>
              <a:t>Provide clean data to SQL, Python analytics, anomaly models, and visualization</a:t>
            </a:r>
            <a:endParaRPr lang="en-US" sz="11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A46"/>
                </a:solidFill>
              </a:rPr>
              <a:t>Modules to Cover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5758A"/>
                </a:solidFill>
              </a:rPr>
              <a:t>Twelve specialized capabilities coordinated as one autonomous BI workflow</a:t>
            </a:r>
            <a:endParaRPr lang="en-US" sz="1100" dirty="0"/>
          </a:p>
        </p:txBody>
      </p:sp>
      <p:pic>
        <p:nvPicPr>
          <p:cNvPr id="4" name="Image 0" descr="/mnt/data/image.png"/>
          <p:cNvPicPr>
            <a:picLocks noChangeAspect="1"/>
          </p:cNvPicPr>
          <p:nvPr/>
        </p:nvPicPr>
        <p:blipFill>
          <a:blip r:embed="R901b5e4bc061436a"/>
          <a:stretch>
            <a:fillRect/>
          </a:stretch>
        </p:blipFill>
        <p:spPr>
          <a:xfrm>
            <a:off x="10686618" y="292608"/>
            <a:ext cx="709525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8912" y="1261872"/>
            <a:ext cx="2578608" cy="10789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ED1F3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76072" y="13898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16ED4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1520" y="17007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Data ingestion &amp; schema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261872"/>
            <a:ext cx="2578608" cy="10789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ED1F3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474720" y="13898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16ED4"/>
                </a:solidFill>
              </a:rPr>
              <a:t>02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30168" y="17007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Cleaning &amp; preprocessing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6208" y="1261872"/>
            <a:ext cx="2578608" cy="10789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ED1F3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373368" y="13898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16ED4"/>
                </a:solidFill>
              </a:rPr>
              <a:t>03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28816" y="17007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Intent &amp; entity extraction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34856" y="1261872"/>
            <a:ext cx="2578608" cy="10789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ED1F3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272016" y="13898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16ED4"/>
                </a:solidFill>
              </a:rPr>
              <a:t>04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427464" y="17007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Agent orchestration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8912" y="2743200"/>
            <a:ext cx="2578608" cy="10789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ED1F3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76072" y="28712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16ED4"/>
                </a:solidFill>
              </a:rPr>
              <a:t>05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1520" y="31821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SQL generation &amp; retrieval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37560" y="2743200"/>
            <a:ext cx="2578608" cy="107899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BED1F3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474720" y="28712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16ED4"/>
                </a:solidFill>
              </a:rPr>
              <a:t>06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30168" y="31821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Business analytics &amp; KPIs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36208" y="2743200"/>
            <a:ext cx="2578608" cy="1078992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F4C8C4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373368" y="28712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55D"/>
                </a:solidFill>
              </a:rPr>
              <a:t>07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28816" y="31821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Anomaly detection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134856" y="2743200"/>
            <a:ext cx="2578608" cy="1078992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F4C8C4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9272016" y="28712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55D"/>
                </a:solidFill>
              </a:rPr>
              <a:t>08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427464" y="318211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Forecasting &amp; prediction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38912" y="4224528"/>
            <a:ext cx="2578608" cy="1078992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F4C8C4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76072" y="43525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55D"/>
                </a:solidFill>
              </a:rPr>
              <a:t>09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31520" y="4663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Factor analysis &amp; insights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337560" y="4224528"/>
            <a:ext cx="2578608" cy="1078992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F4C8C4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3474720" y="43525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55D"/>
                </a:solidFill>
              </a:rPr>
              <a:t>10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630168" y="4663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Visualization &amp; dashboard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236208" y="4224528"/>
            <a:ext cx="2578608" cy="1078992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F4C8C4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373368" y="43525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55D"/>
                </a:solidFill>
              </a:rPr>
              <a:t>11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528816" y="4663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Recommendation generation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134856" y="4224528"/>
            <a:ext cx="2578608" cy="1078992"/>
          </a:xfrm>
          <a:prstGeom prst="roundRect">
            <a:avLst/>
          </a:prstGeom>
          <a:solidFill>
            <a:srgbClr val="FFF0EF"/>
          </a:solidFill>
          <a:ln w="12700">
            <a:solidFill>
              <a:srgbClr val="F4C8C4"/>
            </a:solidFill>
            <a:prstDash val="solid"/>
          </a:ln>
          <a:effectLst>
            <a:outerShdw blurRad="10160" dist="3175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9272016" y="43525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2655D"/>
                </a:solidFill>
              </a:rPr>
              <a:t>12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427464" y="46634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A46"/>
                </a:solidFill>
              </a:rPr>
              <a:t>Validation &amp; explainability</a:t>
            </a:r>
            <a:endParaRPr lang="en-US" sz="12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74536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Widescreen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Multimodal Deepfake Authentication Using RAG and Vision-Language Models</dc:title>
  <dc:subject>M.Tech Project Presentation</dc:subject>
  <dc:creator>Shyam Kannan</dc:creator>
  <lastModifiedBy>Shyam Kannan</lastModifiedBy>
  <revision>3</revision>
  <dcterms:created xsi:type="dcterms:W3CDTF">2026-09-08T06:26:46.0000000Z</dcterms:created>
  <dcterms:modified xsi:type="dcterms:W3CDTF">2026-10-06T04:25:13.9900000Z</dcterms:modified>
</coreProperties>
</file>